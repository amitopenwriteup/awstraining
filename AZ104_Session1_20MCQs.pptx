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Lst>
  <p:notesMasterIdLst>
    <p:notesMasterId r:id="rId4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notesMaster" Target="notesMasters/notesMaster1.xml"/><Relationship Id="rId44" Type="http://schemas.openxmlformats.org/officeDocument/2006/relationships/presProps" Target="presProps.xml"/><Relationship Id="rId45" Type="http://schemas.openxmlformats.org/officeDocument/2006/relationships/viewProps" Target="viewProps.xml"/><Relationship Id="rId46" Type="http://schemas.openxmlformats.org/officeDocument/2006/relationships/theme" Target="theme/theme1.xml"/><Relationship Id="rId4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50E6FF"/>
          </a:solidFill>
          <a:ln w="12700">
            <a:solidFill>
              <a:srgbClr val="50E6FF"/>
            </a:solidFill>
            <a:prstDash val="solid"/>
          </a:ln>
        </p:spPr>
      </p:sp>
      <p:sp>
        <p:nvSpPr>
          <p:cNvPr id="3" name="Shape 1"/>
          <p:cNvSpPr/>
          <p:nvPr/>
        </p:nvSpPr>
        <p:spPr>
          <a:xfrm>
            <a:off x="3931920" y="685800"/>
            <a:ext cx="1280160" cy="1280160"/>
          </a:xfrm>
          <a:prstGeom prst="ellipse">
            <a:avLst/>
          </a:prstGeom>
          <a:solidFill>
            <a:srgbClr val="0078D4"/>
          </a:solidFill>
          <a:ln w="38100">
            <a:solidFill>
              <a:srgbClr val="50E6FF"/>
            </a:solidFill>
            <a:prstDash val="solid"/>
          </a:ln>
        </p:spPr>
      </p:sp>
      <p:sp>
        <p:nvSpPr>
          <p:cNvPr id="4" name="Text 2"/>
          <p:cNvSpPr/>
          <p:nvPr/>
        </p:nvSpPr>
        <p:spPr>
          <a:xfrm>
            <a:off x="3931920" y="685800"/>
            <a:ext cx="1280160" cy="1280160"/>
          </a:xfrm>
          <a:prstGeom prst="rect">
            <a:avLst/>
          </a:prstGeom>
          <a:noFill/>
          <a:ln/>
        </p:spPr>
        <p:txBody>
          <a:bodyPr wrap="square" rtlCol="0" anchor="ctr"/>
          <a:lstStyle/>
          <a:p>
            <a:pPr algn="ctr" indent="0" marL="0">
              <a:buNone/>
            </a:pPr>
            <a:r>
              <a:rPr lang="en-US" sz="2800" b="1" dirty="0">
                <a:solidFill>
                  <a:srgbClr val="FFFFFF"/>
                </a:solidFill>
              </a:rPr>
              <a:t>AZ</a:t>
            </a:r>
            <a:endParaRPr lang="en-US" sz="2800" dirty="0"/>
          </a:p>
        </p:txBody>
      </p:sp>
      <p:sp>
        <p:nvSpPr>
          <p:cNvPr id="5" name="Text 3"/>
          <p:cNvSpPr/>
          <p:nvPr/>
        </p:nvSpPr>
        <p:spPr>
          <a:xfrm>
            <a:off x="914400" y="2194560"/>
            <a:ext cx="7315200" cy="457200"/>
          </a:xfrm>
          <a:prstGeom prst="rect">
            <a:avLst/>
          </a:prstGeom>
          <a:noFill/>
          <a:ln/>
        </p:spPr>
        <p:txBody>
          <a:bodyPr wrap="square" rtlCol="0" anchor="ctr"/>
          <a:lstStyle/>
          <a:p>
            <a:pPr algn="ctr" indent="0" marL="0">
              <a:buNone/>
            </a:pPr>
            <a:r>
              <a:rPr lang="en-US" sz="1300" spc="500" kern="0" dirty="0">
                <a:solidFill>
                  <a:srgbClr val="50E6FF"/>
                </a:solidFill>
              </a:rPr>
              <a:t>AZ-104 Certification</a:t>
            </a:r>
            <a:endParaRPr lang="en-US" sz="1300" dirty="0"/>
          </a:p>
        </p:txBody>
      </p:sp>
      <p:sp>
        <p:nvSpPr>
          <p:cNvPr id="6" name="Text 4"/>
          <p:cNvSpPr/>
          <p:nvPr/>
        </p:nvSpPr>
        <p:spPr>
          <a:xfrm>
            <a:off x="914400" y="2651760"/>
            <a:ext cx="7315200" cy="777240"/>
          </a:xfrm>
          <a:prstGeom prst="rect">
            <a:avLst/>
          </a:prstGeom>
          <a:noFill/>
          <a:ln/>
        </p:spPr>
        <p:txBody>
          <a:bodyPr wrap="square" rtlCol="0" anchor="ctr"/>
          <a:lstStyle/>
          <a:p>
            <a:pPr algn="ctr" indent="0" marL="0">
              <a:buNone/>
            </a:pPr>
            <a:r>
              <a:rPr lang="en-US" sz="3400" b="1" dirty="0">
                <a:solidFill>
                  <a:srgbClr val="FFFFFF"/>
                </a:solidFill>
              </a:rPr>
              <a:t>MCQ Practice — 20 Questions</a:t>
            </a:r>
            <a:endParaRPr lang="en-US" sz="3400" dirty="0"/>
          </a:p>
        </p:txBody>
      </p:sp>
      <p:sp>
        <p:nvSpPr>
          <p:cNvPr id="7" name="Text 5"/>
          <p:cNvSpPr/>
          <p:nvPr/>
        </p:nvSpPr>
        <p:spPr>
          <a:xfrm>
            <a:off x="914400" y="3456432"/>
            <a:ext cx="7315200" cy="384048"/>
          </a:xfrm>
          <a:prstGeom prst="rect">
            <a:avLst/>
          </a:prstGeom>
          <a:noFill/>
          <a:ln/>
        </p:spPr>
        <p:txBody>
          <a:bodyPr wrap="square" rtlCol="0" anchor="ctr"/>
          <a:lstStyle/>
          <a:p>
            <a:pPr algn="ctr" indent="0" marL="0">
              <a:buNone/>
            </a:pPr>
            <a:r>
              <a:rPr lang="en-US" sz="1400" dirty="0">
                <a:solidFill>
                  <a:srgbClr val="6C8EAD"/>
                </a:solidFill>
              </a:rPr>
              <a:t>Session 1 · Identities &amp; Governance</a:t>
            </a:r>
            <a:endParaRPr lang="en-US" sz="1400" dirty="0"/>
          </a:p>
        </p:txBody>
      </p:sp>
      <p:sp>
        <p:nvSpPr>
          <p:cNvPr id="8" name="Shape 6"/>
          <p:cNvSpPr/>
          <p:nvPr/>
        </p:nvSpPr>
        <p:spPr>
          <a:xfrm>
            <a:off x="0" y="4773168"/>
            <a:ext cx="9144000" cy="370332"/>
          </a:xfrm>
          <a:prstGeom prst="rect">
            <a:avLst/>
          </a:prstGeom>
          <a:solidFill>
            <a:srgbClr val="0078D4"/>
          </a:solidFill>
          <a:ln w="12700">
            <a:solidFill>
              <a:srgbClr val="0078D4"/>
            </a:solidFill>
            <a:prstDash val="solid"/>
          </a:ln>
        </p:spPr>
      </p:sp>
      <p:sp>
        <p:nvSpPr>
          <p:cNvPr id="9" name="Text 7"/>
          <p:cNvSpPr/>
          <p:nvPr/>
        </p:nvSpPr>
        <p:spPr>
          <a:xfrm>
            <a:off x="0" y="4773168"/>
            <a:ext cx="9144000" cy="370332"/>
          </a:xfrm>
          <a:prstGeom prst="rect">
            <a:avLst/>
          </a:prstGeom>
          <a:noFill/>
          <a:ln/>
        </p:spPr>
        <p:txBody>
          <a:bodyPr wrap="square" rtlCol="0" anchor="ctr"/>
          <a:lstStyle/>
          <a:p>
            <a:pPr algn="ctr" indent="0" marL="0">
              <a:buNone/>
            </a:pPr>
            <a:r>
              <a:rPr lang="en-US" sz="1100" dirty="0">
                <a:solidFill>
                  <a:srgbClr val="FFFFFF"/>
                </a:solidFill>
              </a:rPr>
              <a:t>Use-Case Questions  ·  Answers  ·  Explanations  ·  Why Others Are Wrong</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8FD"/>
        </a:solidFill>
      </p:bgPr>
    </p:bg>
    <p:spTree>
      <p:nvGrpSpPr>
        <p:cNvPr id="1" name=""/>
        <p:cNvGrpSpPr/>
        <p:nvPr/>
      </p:nvGrpSpPr>
      <p:grpSpPr>
        <a:xfrm>
          <a:off x="0" y="0"/>
          <a:ext cx="0" cy="0"/>
          <a:chOff x="0" y="0"/>
          <a:chExt cx="0" cy="0"/>
        </a:xfrm>
      </p:grpSpPr>
      <p:sp>
        <p:nvSpPr>
          <p:cNvPr id="2" name="Shape 0"/>
          <p:cNvSpPr/>
          <p:nvPr/>
        </p:nvSpPr>
        <p:spPr>
          <a:xfrm>
            <a:off x="0" y="0"/>
            <a:ext cx="146304" cy="5143500"/>
          </a:xfrm>
          <a:prstGeom prst="rect">
            <a:avLst/>
          </a:prstGeom>
          <a:solidFill>
            <a:srgbClr val="0078D4"/>
          </a:solidFill>
          <a:ln w="12700">
            <a:solidFill>
              <a:srgbClr val="0078D4"/>
            </a:solidFill>
            <a:prstDash val="solid"/>
          </a:ln>
        </p:spPr>
      </p:sp>
      <p:sp>
        <p:nvSpPr>
          <p:cNvPr id="3" name="Shape 1"/>
          <p:cNvSpPr/>
          <p:nvPr/>
        </p:nvSpPr>
        <p:spPr>
          <a:xfrm>
            <a:off x="146304" y="0"/>
            <a:ext cx="8997696" cy="594360"/>
          </a:xfrm>
          <a:prstGeom prst="rect">
            <a:avLst/>
          </a:prstGeom>
          <a:solidFill>
            <a:srgbClr val="0A1628"/>
          </a:solidFill>
          <a:ln w="12700">
            <a:solidFill>
              <a:srgbClr val="0A1628"/>
            </a:solidFill>
            <a:prstDash val="solid"/>
          </a:ln>
        </p:spPr>
      </p:sp>
      <p:sp>
        <p:nvSpPr>
          <p:cNvPr id="4" name="Text 2"/>
          <p:cNvSpPr/>
          <p:nvPr/>
        </p:nvSpPr>
        <p:spPr>
          <a:xfrm>
            <a:off x="292608" y="0"/>
            <a:ext cx="6583680" cy="594360"/>
          </a:xfrm>
          <a:prstGeom prst="rect">
            <a:avLst/>
          </a:prstGeom>
          <a:noFill/>
          <a:ln/>
        </p:spPr>
        <p:txBody>
          <a:bodyPr wrap="square" lIns="0" tIns="0" rIns="0" bIns="0" rtlCol="0" anchor="ctr"/>
          <a:lstStyle/>
          <a:p>
            <a:pPr indent="0" marL="0">
              <a:buNone/>
            </a:pPr>
            <a:r>
              <a:rPr lang="en-US" sz="1200" b="1" dirty="0">
                <a:solidFill>
                  <a:srgbClr val="50E6FF"/>
                </a:solidFill>
              </a:rPr>
              <a:t>❓  QUESTION 1  ·  Microsoft Entra ID</a:t>
            </a:r>
            <a:endParaRPr lang="en-US" sz="1200" dirty="0"/>
          </a:p>
        </p:txBody>
      </p:sp>
      <p:sp>
        <p:nvSpPr>
          <p:cNvPr id="5" name="Text 3"/>
          <p:cNvSpPr/>
          <p:nvPr/>
        </p:nvSpPr>
        <p:spPr>
          <a:xfrm>
            <a:off x="7498080" y="0"/>
            <a:ext cx="1499616" cy="594360"/>
          </a:xfrm>
          <a:prstGeom prst="rect">
            <a:avLst/>
          </a:prstGeom>
          <a:noFill/>
          <a:ln/>
        </p:spPr>
        <p:txBody>
          <a:bodyPr wrap="square" lIns="0" tIns="0" rIns="0" bIns="0" rtlCol="0" anchor="ctr"/>
          <a:lstStyle/>
          <a:p>
            <a:pPr algn="r" indent="0" marL="0">
              <a:buNone/>
            </a:pPr>
            <a:r>
              <a:rPr lang="en-US" sz="1200" b="1" dirty="0">
                <a:solidFill>
                  <a:srgbClr val="6C8EAD"/>
                </a:solidFill>
              </a:rPr>
              <a:t>1 / 20</a:t>
            </a:r>
            <a:endParaRPr lang="en-US" sz="1200" dirty="0"/>
          </a:p>
        </p:txBody>
      </p:sp>
      <p:sp>
        <p:nvSpPr>
          <p:cNvPr id="6" name="Shape 4"/>
          <p:cNvSpPr/>
          <p:nvPr/>
        </p:nvSpPr>
        <p:spPr>
          <a:xfrm>
            <a:off x="292608" y="685800"/>
            <a:ext cx="1097280" cy="256032"/>
          </a:xfrm>
          <a:prstGeom prst="rect">
            <a:avLst/>
          </a:prstGeom>
          <a:solidFill>
            <a:srgbClr val="0078D4"/>
          </a:solidFill>
          <a:ln w="12700">
            <a:solidFill>
              <a:srgbClr val="0078D4"/>
            </a:solidFill>
            <a:prstDash val="solid"/>
          </a:ln>
        </p:spPr>
      </p:sp>
      <p:sp>
        <p:nvSpPr>
          <p:cNvPr id="7" name="Text 5"/>
          <p:cNvSpPr/>
          <p:nvPr/>
        </p:nvSpPr>
        <p:spPr>
          <a:xfrm>
            <a:off x="292608" y="685800"/>
            <a:ext cx="1097280" cy="256032"/>
          </a:xfrm>
          <a:prstGeom prst="rect">
            <a:avLst/>
          </a:prstGeom>
          <a:noFill/>
          <a:ln/>
        </p:spPr>
        <p:txBody>
          <a:bodyPr wrap="square" rtlCol="0" anchor="ctr"/>
          <a:lstStyle/>
          <a:p>
            <a:pPr algn="ctr" indent="0" marL="0">
              <a:buNone/>
            </a:pPr>
            <a:r>
              <a:rPr lang="en-US" sz="800" b="1" dirty="0">
                <a:solidFill>
                  <a:srgbClr val="FFFFFF"/>
                </a:solidFill>
              </a:rPr>
              <a:t>SCENARIO</a:t>
            </a:r>
            <a:endParaRPr lang="en-US" sz="800" dirty="0"/>
          </a:p>
        </p:txBody>
      </p:sp>
      <p:sp>
        <p:nvSpPr>
          <p:cNvPr id="8" name="Shape 6"/>
          <p:cNvSpPr/>
          <p:nvPr/>
        </p:nvSpPr>
        <p:spPr>
          <a:xfrm>
            <a:off x="292608" y="978408"/>
            <a:ext cx="8558784" cy="960120"/>
          </a:xfrm>
          <a:prstGeom prst="rect">
            <a:avLst/>
          </a:prstGeom>
          <a:solidFill>
            <a:srgbClr val="EBF4FF"/>
          </a:solidFill>
          <a:ln w="12700">
            <a:solidFill>
              <a:srgbClr val="0078D4"/>
            </a:solidFill>
            <a:prstDash val="solid"/>
          </a:ln>
        </p:spPr>
      </p:sp>
      <p:sp>
        <p:nvSpPr>
          <p:cNvPr id="9" name="Text 7"/>
          <p:cNvSpPr/>
          <p:nvPr/>
        </p:nvSpPr>
        <p:spPr>
          <a:xfrm>
            <a:off x="420624" y="1024128"/>
            <a:ext cx="8321040" cy="868680"/>
          </a:xfrm>
          <a:prstGeom prst="rect">
            <a:avLst/>
          </a:prstGeom>
          <a:noFill/>
          <a:ln/>
        </p:spPr>
        <p:txBody>
          <a:bodyPr wrap="square" rtlCol="0" anchor="t"/>
          <a:lstStyle/>
          <a:p>
            <a:pPr indent="0" marL="0">
              <a:buNone/>
            </a:pPr>
            <a:r>
              <a:rPr lang="en-US" sz="1250" dirty="0">
                <a:solidFill>
                  <a:srgbClr val="1B2A3B"/>
                </a:solidFill>
              </a:rPr>
              <a:t>Fabrikam has a SaaS application that employees need to access using their corporate Microsoft 365 credentials. The IT team wants users to sign in once and not be prompted again when accessing other integrated apps.</a:t>
            </a:r>
            <a:endParaRPr lang="en-US" sz="1250" dirty="0"/>
          </a:p>
        </p:txBody>
      </p:sp>
      <p:sp>
        <p:nvSpPr>
          <p:cNvPr id="10" name="Text 8"/>
          <p:cNvSpPr/>
          <p:nvPr/>
        </p:nvSpPr>
        <p:spPr>
          <a:xfrm>
            <a:off x="292608" y="2048256"/>
            <a:ext cx="8558784" cy="420624"/>
          </a:xfrm>
          <a:prstGeom prst="rect">
            <a:avLst/>
          </a:prstGeom>
          <a:noFill/>
          <a:ln/>
        </p:spPr>
        <p:txBody>
          <a:bodyPr wrap="square" rtlCol="0" anchor="ctr"/>
          <a:lstStyle/>
          <a:p>
            <a:pPr indent="0" marL="0">
              <a:buNone/>
            </a:pPr>
            <a:r>
              <a:rPr lang="en-US" sz="1350" b="1" dirty="0">
                <a:solidFill>
                  <a:srgbClr val="0A1628"/>
                </a:solidFill>
              </a:rPr>
              <a:t>Which Microsoft Entra ID feature enables this behaviour?</a:t>
            </a:r>
            <a:endParaRPr lang="en-US" sz="1350" dirty="0"/>
          </a:p>
        </p:txBody>
      </p:sp>
      <p:sp>
        <p:nvSpPr>
          <p:cNvPr id="11" name="Shape 9"/>
          <p:cNvSpPr/>
          <p:nvPr/>
        </p:nvSpPr>
        <p:spPr>
          <a:xfrm>
            <a:off x="292608" y="2523744"/>
            <a:ext cx="8558784" cy="539496"/>
          </a:xfrm>
          <a:prstGeom prst="rect">
            <a:avLst/>
          </a:prstGeom>
          <a:solidFill>
            <a:srgbClr val="FFFFFF"/>
          </a:solidFill>
          <a:ln w="12700">
            <a:solidFill>
              <a:srgbClr val="C5D8EE"/>
            </a:solidFill>
            <a:prstDash val="solid"/>
          </a:ln>
        </p:spPr>
      </p:sp>
      <p:sp>
        <p:nvSpPr>
          <p:cNvPr id="12" name="Shape 10"/>
          <p:cNvSpPr/>
          <p:nvPr/>
        </p:nvSpPr>
        <p:spPr>
          <a:xfrm>
            <a:off x="384048" y="2633472"/>
            <a:ext cx="329184" cy="329184"/>
          </a:xfrm>
          <a:prstGeom prst="ellipse">
            <a:avLst/>
          </a:prstGeom>
          <a:solidFill>
            <a:srgbClr val="1B3A5C"/>
          </a:solidFill>
          <a:ln w="12700">
            <a:solidFill>
              <a:srgbClr val="1B3A5C"/>
            </a:solidFill>
            <a:prstDash val="solid"/>
          </a:ln>
        </p:spPr>
      </p:sp>
      <p:sp>
        <p:nvSpPr>
          <p:cNvPr id="13" name="Text 11"/>
          <p:cNvSpPr/>
          <p:nvPr/>
        </p:nvSpPr>
        <p:spPr>
          <a:xfrm>
            <a:off x="384048" y="2633472"/>
            <a:ext cx="329184" cy="329184"/>
          </a:xfrm>
          <a:prstGeom prst="rect">
            <a:avLst/>
          </a:prstGeom>
          <a:noFill/>
          <a:ln/>
        </p:spPr>
        <p:txBody>
          <a:bodyPr wrap="square" rtlCol="0" anchor="ctr"/>
          <a:lstStyle/>
          <a:p>
            <a:pPr algn="ctr" indent="0" marL="0">
              <a:buNone/>
            </a:pPr>
            <a:r>
              <a:rPr lang="en-US" sz="1100" b="1" dirty="0">
                <a:solidFill>
                  <a:srgbClr val="FFFFFF"/>
                </a:solidFill>
              </a:rPr>
              <a:t>A</a:t>
            </a:r>
            <a:endParaRPr lang="en-US" sz="1100" dirty="0"/>
          </a:p>
        </p:txBody>
      </p:sp>
      <p:sp>
        <p:nvSpPr>
          <p:cNvPr id="14" name="Text 12"/>
          <p:cNvSpPr/>
          <p:nvPr/>
        </p:nvSpPr>
        <p:spPr>
          <a:xfrm>
            <a:off x="786384" y="2615184"/>
            <a:ext cx="7991856" cy="365760"/>
          </a:xfrm>
          <a:prstGeom prst="rect">
            <a:avLst/>
          </a:prstGeom>
          <a:noFill/>
          <a:ln/>
        </p:spPr>
        <p:txBody>
          <a:bodyPr wrap="square" rtlCol="0" anchor="ctr"/>
          <a:lstStyle/>
          <a:p>
            <a:pPr indent="0" marL="0">
              <a:buNone/>
            </a:pPr>
            <a:r>
              <a:rPr lang="en-US" sz="1250" dirty="0">
                <a:solidFill>
                  <a:srgbClr val="1B2A3B"/>
                </a:solidFill>
              </a:rPr>
              <a:t>Multi-Factor Authentication (MFA)</a:t>
            </a:r>
            <a:endParaRPr lang="en-US" sz="1250" dirty="0"/>
          </a:p>
        </p:txBody>
      </p:sp>
      <p:sp>
        <p:nvSpPr>
          <p:cNvPr id="15" name="Shape 13"/>
          <p:cNvSpPr/>
          <p:nvPr/>
        </p:nvSpPr>
        <p:spPr>
          <a:xfrm>
            <a:off x="292608" y="3154680"/>
            <a:ext cx="8558784" cy="539496"/>
          </a:xfrm>
          <a:prstGeom prst="rect">
            <a:avLst/>
          </a:prstGeom>
          <a:solidFill>
            <a:srgbClr val="FFFFFF"/>
          </a:solidFill>
          <a:ln w="12700">
            <a:solidFill>
              <a:srgbClr val="C5D8EE"/>
            </a:solidFill>
            <a:prstDash val="solid"/>
          </a:ln>
        </p:spPr>
      </p:sp>
      <p:sp>
        <p:nvSpPr>
          <p:cNvPr id="16" name="Shape 14"/>
          <p:cNvSpPr/>
          <p:nvPr/>
        </p:nvSpPr>
        <p:spPr>
          <a:xfrm>
            <a:off x="384048" y="3264408"/>
            <a:ext cx="329184" cy="329184"/>
          </a:xfrm>
          <a:prstGeom prst="ellipse">
            <a:avLst/>
          </a:prstGeom>
          <a:solidFill>
            <a:srgbClr val="1B3A5C"/>
          </a:solidFill>
          <a:ln w="12700">
            <a:solidFill>
              <a:srgbClr val="1B3A5C"/>
            </a:solidFill>
            <a:prstDash val="solid"/>
          </a:ln>
        </p:spPr>
      </p:sp>
      <p:sp>
        <p:nvSpPr>
          <p:cNvPr id="17" name="Text 15"/>
          <p:cNvSpPr/>
          <p:nvPr/>
        </p:nvSpPr>
        <p:spPr>
          <a:xfrm>
            <a:off x="384048" y="3264408"/>
            <a:ext cx="329184" cy="329184"/>
          </a:xfrm>
          <a:prstGeom prst="rect">
            <a:avLst/>
          </a:prstGeom>
          <a:noFill/>
          <a:ln/>
        </p:spPr>
        <p:txBody>
          <a:bodyPr wrap="square" rtlCol="0" anchor="ctr"/>
          <a:lstStyle/>
          <a:p>
            <a:pPr algn="ctr" indent="0" marL="0">
              <a:buNone/>
            </a:pPr>
            <a:r>
              <a:rPr lang="en-US" sz="1100" b="1" dirty="0">
                <a:solidFill>
                  <a:srgbClr val="FFFFFF"/>
                </a:solidFill>
              </a:rPr>
              <a:t>B</a:t>
            </a:r>
            <a:endParaRPr lang="en-US" sz="1100" dirty="0"/>
          </a:p>
        </p:txBody>
      </p:sp>
      <p:sp>
        <p:nvSpPr>
          <p:cNvPr id="18" name="Text 16"/>
          <p:cNvSpPr/>
          <p:nvPr/>
        </p:nvSpPr>
        <p:spPr>
          <a:xfrm>
            <a:off x="786384" y="3246120"/>
            <a:ext cx="7991856" cy="365760"/>
          </a:xfrm>
          <a:prstGeom prst="rect">
            <a:avLst/>
          </a:prstGeom>
          <a:noFill/>
          <a:ln/>
        </p:spPr>
        <p:txBody>
          <a:bodyPr wrap="square" rtlCol="0" anchor="ctr"/>
          <a:lstStyle/>
          <a:p>
            <a:pPr indent="0" marL="0">
              <a:buNone/>
            </a:pPr>
            <a:r>
              <a:rPr lang="en-US" sz="1250" dirty="0">
                <a:solidFill>
                  <a:srgbClr val="1B2A3B"/>
                </a:solidFill>
              </a:rPr>
              <a:t>Single Sign-On (SSO)</a:t>
            </a:r>
            <a:endParaRPr lang="en-US" sz="1250" dirty="0"/>
          </a:p>
        </p:txBody>
      </p:sp>
      <p:sp>
        <p:nvSpPr>
          <p:cNvPr id="19" name="Shape 17"/>
          <p:cNvSpPr/>
          <p:nvPr/>
        </p:nvSpPr>
        <p:spPr>
          <a:xfrm>
            <a:off x="292608" y="3785616"/>
            <a:ext cx="8558784" cy="539496"/>
          </a:xfrm>
          <a:prstGeom prst="rect">
            <a:avLst/>
          </a:prstGeom>
          <a:solidFill>
            <a:srgbClr val="FFFFFF"/>
          </a:solidFill>
          <a:ln w="12700">
            <a:solidFill>
              <a:srgbClr val="C5D8EE"/>
            </a:solidFill>
            <a:prstDash val="solid"/>
          </a:ln>
        </p:spPr>
      </p:sp>
      <p:sp>
        <p:nvSpPr>
          <p:cNvPr id="20" name="Shape 18"/>
          <p:cNvSpPr/>
          <p:nvPr/>
        </p:nvSpPr>
        <p:spPr>
          <a:xfrm>
            <a:off x="384048" y="3895344"/>
            <a:ext cx="329184" cy="329184"/>
          </a:xfrm>
          <a:prstGeom prst="ellipse">
            <a:avLst/>
          </a:prstGeom>
          <a:solidFill>
            <a:srgbClr val="1B3A5C"/>
          </a:solidFill>
          <a:ln w="12700">
            <a:solidFill>
              <a:srgbClr val="1B3A5C"/>
            </a:solidFill>
            <a:prstDash val="solid"/>
          </a:ln>
        </p:spPr>
      </p:sp>
      <p:sp>
        <p:nvSpPr>
          <p:cNvPr id="21" name="Text 19"/>
          <p:cNvSpPr/>
          <p:nvPr/>
        </p:nvSpPr>
        <p:spPr>
          <a:xfrm>
            <a:off x="384048" y="3895344"/>
            <a:ext cx="329184" cy="329184"/>
          </a:xfrm>
          <a:prstGeom prst="rect">
            <a:avLst/>
          </a:prstGeom>
          <a:noFill/>
          <a:ln/>
        </p:spPr>
        <p:txBody>
          <a:bodyPr wrap="square" rtlCol="0" anchor="ctr"/>
          <a:lstStyle/>
          <a:p>
            <a:pPr algn="ctr" indent="0" marL="0">
              <a:buNone/>
            </a:pPr>
            <a:r>
              <a:rPr lang="en-US" sz="1100" b="1" dirty="0">
                <a:solidFill>
                  <a:srgbClr val="FFFFFF"/>
                </a:solidFill>
              </a:rPr>
              <a:t>C</a:t>
            </a:r>
            <a:endParaRPr lang="en-US" sz="1100" dirty="0"/>
          </a:p>
        </p:txBody>
      </p:sp>
      <p:sp>
        <p:nvSpPr>
          <p:cNvPr id="22" name="Text 20"/>
          <p:cNvSpPr/>
          <p:nvPr/>
        </p:nvSpPr>
        <p:spPr>
          <a:xfrm>
            <a:off x="786384" y="3877056"/>
            <a:ext cx="7991856" cy="365760"/>
          </a:xfrm>
          <a:prstGeom prst="rect">
            <a:avLst/>
          </a:prstGeom>
          <a:noFill/>
          <a:ln/>
        </p:spPr>
        <p:txBody>
          <a:bodyPr wrap="square" rtlCol="0" anchor="ctr"/>
          <a:lstStyle/>
          <a:p>
            <a:pPr indent="0" marL="0">
              <a:buNone/>
            </a:pPr>
            <a:r>
              <a:rPr lang="en-US" sz="1250" dirty="0">
                <a:solidFill>
                  <a:srgbClr val="1B2A3B"/>
                </a:solidFill>
              </a:rPr>
              <a:t>Conditional Access Policy</a:t>
            </a:r>
            <a:endParaRPr lang="en-US" sz="1250" dirty="0"/>
          </a:p>
        </p:txBody>
      </p:sp>
      <p:sp>
        <p:nvSpPr>
          <p:cNvPr id="23" name="Shape 21"/>
          <p:cNvSpPr/>
          <p:nvPr/>
        </p:nvSpPr>
        <p:spPr>
          <a:xfrm>
            <a:off x="292608" y="4416552"/>
            <a:ext cx="8558784" cy="539496"/>
          </a:xfrm>
          <a:prstGeom prst="rect">
            <a:avLst/>
          </a:prstGeom>
          <a:solidFill>
            <a:srgbClr val="FFFFFF"/>
          </a:solidFill>
          <a:ln w="12700">
            <a:solidFill>
              <a:srgbClr val="C5D8EE"/>
            </a:solidFill>
            <a:prstDash val="solid"/>
          </a:ln>
        </p:spPr>
      </p:sp>
      <p:sp>
        <p:nvSpPr>
          <p:cNvPr id="24" name="Shape 22"/>
          <p:cNvSpPr/>
          <p:nvPr/>
        </p:nvSpPr>
        <p:spPr>
          <a:xfrm>
            <a:off x="384048" y="4526280"/>
            <a:ext cx="329184" cy="329184"/>
          </a:xfrm>
          <a:prstGeom prst="ellipse">
            <a:avLst/>
          </a:prstGeom>
          <a:solidFill>
            <a:srgbClr val="1B3A5C"/>
          </a:solidFill>
          <a:ln w="12700">
            <a:solidFill>
              <a:srgbClr val="1B3A5C"/>
            </a:solidFill>
            <a:prstDash val="solid"/>
          </a:ln>
        </p:spPr>
      </p:sp>
      <p:sp>
        <p:nvSpPr>
          <p:cNvPr id="25" name="Text 23"/>
          <p:cNvSpPr/>
          <p:nvPr/>
        </p:nvSpPr>
        <p:spPr>
          <a:xfrm>
            <a:off x="384048" y="4526280"/>
            <a:ext cx="329184" cy="329184"/>
          </a:xfrm>
          <a:prstGeom prst="rect">
            <a:avLst/>
          </a:prstGeom>
          <a:noFill/>
          <a:ln/>
        </p:spPr>
        <p:txBody>
          <a:bodyPr wrap="square" rtlCol="0" anchor="ctr"/>
          <a:lstStyle/>
          <a:p>
            <a:pPr algn="ctr" indent="0" marL="0">
              <a:buNone/>
            </a:pPr>
            <a:r>
              <a:rPr lang="en-US" sz="1100" b="1" dirty="0">
                <a:solidFill>
                  <a:srgbClr val="FFFFFF"/>
                </a:solidFill>
              </a:rPr>
              <a:t>D</a:t>
            </a:r>
            <a:endParaRPr lang="en-US" sz="1100" dirty="0"/>
          </a:p>
        </p:txBody>
      </p:sp>
      <p:sp>
        <p:nvSpPr>
          <p:cNvPr id="26" name="Text 24"/>
          <p:cNvSpPr/>
          <p:nvPr/>
        </p:nvSpPr>
        <p:spPr>
          <a:xfrm>
            <a:off x="786384" y="4507992"/>
            <a:ext cx="7991856" cy="365760"/>
          </a:xfrm>
          <a:prstGeom prst="rect">
            <a:avLst/>
          </a:prstGeom>
          <a:noFill/>
          <a:ln/>
        </p:spPr>
        <p:txBody>
          <a:bodyPr wrap="square" rtlCol="0" anchor="ctr"/>
          <a:lstStyle/>
          <a:p>
            <a:pPr indent="0" marL="0">
              <a:buNone/>
            </a:pPr>
            <a:r>
              <a:rPr lang="en-US" sz="1250" dirty="0">
                <a:solidFill>
                  <a:srgbClr val="1B2A3B"/>
                </a:solidFill>
              </a:rPr>
              <a:t>Privileged Identity Management (PIM)</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8FD"/>
        </a:solidFill>
      </p:bgPr>
    </p:bg>
    <p:spTree>
      <p:nvGrpSpPr>
        <p:cNvPr id="1" name=""/>
        <p:cNvGrpSpPr/>
        <p:nvPr/>
      </p:nvGrpSpPr>
      <p:grpSpPr>
        <a:xfrm>
          <a:off x="0" y="0"/>
          <a:ext cx="0" cy="0"/>
          <a:chOff x="0" y="0"/>
          <a:chExt cx="0" cy="0"/>
        </a:xfrm>
      </p:grpSpPr>
      <p:sp>
        <p:nvSpPr>
          <p:cNvPr id="2" name="Shape 0"/>
          <p:cNvSpPr/>
          <p:nvPr/>
        </p:nvSpPr>
        <p:spPr>
          <a:xfrm>
            <a:off x="0" y="0"/>
            <a:ext cx="146304" cy="5143500"/>
          </a:xfrm>
          <a:prstGeom prst="rect">
            <a:avLst/>
          </a:prstGeom>
          <a:solidFill>
            <a:srgbClr val="107C10"/>
          </a:solidFill>
          <a:ln w="12700">
            <a:solidFill>
              <a:srgbClr val="107C10"/>
            </a:solidFill>
            <a:prstDash val="solid"/>
          </a:ln>
        </p:spPr>
      </p:sp>
      <p:sp>
        <p:nvSpPr>
          <p:cNvPr id="3" name="Shape 1"/>
          <p:cNvSpPr/>
          <p:nvPr/>
        </p:nvSpPr>
        <p:spPr>
          <a:xfrm>
            <a:off x="146304" y="0"/>
            <a:ext cx="8997696" cy="594360"/>
          </a:xfrm>
          <a:prstGeom prst="rect">
            <a:avLst/>
          </a:prstGeom>
          <a:solidFill>
            <a:srgbClr val="0A1628"/>
          </a:solidFill>
          <a:ln w="12700">
            <a:solidFill>
              <a:srgbClr val="0A1628"/>
            </a:solidFill>
            <a:prstDash val="solid"/>
          </a:ln>
        </p:spPr>
      </p:sp>
      <p:sp>
        <p:nvSpPr>
          <p:cNvPr id="4" name="Text 2"/>
          <p:cNvSpPr/>
          <p:nvPr/>
        </p:nvSpPr>
        <p:spPr>
          <a:xfrm>
            <a:off x="292608" y="0"/>
            <a:ext cx="6583680" cy="594360"/>
          </a:xfrm>
          <a:prstGeom prst="rect">
            <a:avLst/>
          </a:prstGeom>
          <a:noFill/>
          <a:ln/>
        </p:spPr>
        <p:txBody>
          <a:bodyPr wrap="square" lIns="0" tIns="0" rIns="0" bIns="0" rtlCol="0" anchor="ctr"/>
          <a:lstStyle/>
          <a:p>
            <a:pPr indent="0" marL="0">
              <a:buNone/>
            </a:pPr>
            <a:r>
              <a:rPr lang="en-US" sz="1200" b="1" dirty="0">
                <a:solidFill>
                  <a:srgbClr val="00FF90"/>
                </a:solidFill>
              </a:rPr>
              <a:t>✅  ANSWER 1  ·  Microsoft Entra ID</a:t>
            </a:r>
            <a:endParaRPr lang="en-US" sz="1200" dirty="0"/>
          </a:p>
        </p:txBody>
      </p:sp>
      <p:sp>
        <p:nvSpPr>
          <p:cNvPr id="5" name="Text 3"/>
          <p:cNvSpPr/>
          <p:nvPr/>
        </p:nvSpPr>
        <p:spPr>
          <a:xfrm>
            <a:off x="7498080" y="0"/>
            <a:ext cx="1499616" cy="594360"/>
          </a:xfrm>
          <a:prstGeom prst="rect">
            <a:avLst/>
          </a:prstGeom>
          <a:noFill/>
          <a:ln/>
        </p:spPr>
        <p:txBody>
          <a:bodyPr wrap="square" lIns="0" tIns="0" rIns="0" bIns="0" rtlCol="0" anchor="ctr"/>
          <a:lstStyle/>
          <a:p>
            <a:pPr algn="r" indent="0" marL="0">
              <a:buNone/>
            </a:pPr>
            <a:r>
              <a:rPr lang="en-US" sz="1200" b="1" dirty="0">
                <a:solidFill>
                  <a:srgbClr val="6C8EAD"/>
                </a:solidFill>
              </a:rPr>
              <a:t>1 / 20</a:t>
            </a:r>
            <a:endParaRPr lang="en-US" sz="1200" dirty="0"/>
          </a:p>
        </p:txBody>
      </p:sp>
      <p:sp>
        <p:nvSpPr>
          <p:cNvPr id="6" name="Shape 4"/>
          <p:cNvSpPr/>
          <p:nvPr/>
        </p:nvSpPr>
        <p:spPr>
          <a:xfrm>
            <a:off x="292608" y="658368"/>
            <a:ext cx="8558784" cy="475488"/>
          </a:xfrm>
          <a:prstGeom prst="rect">
            <a:avLst/>
          </a:prstGeom>
          <a:solidFill>
            <a:srgbClr val="E6F3E6"/>
          </a:solidFill>
          <a:ln w="25400">
            <a:solidFill>
              <a:srgbClr val="107C10"/>
            </a:solidFill>
            <a:prstDash val="solid"/>
          </a:ln>
        </p:spPr>
      </p:sp>
      <p:sp>
        <p:nvSpPr>
          <p:cNvPr id="7" name="Text 5"/>
          <p:cNvSpPr/>
          <p:nvPr/>
        </p:nvSpPr>
        <p:spPr>
          <a:xfrm>
            <a:off x="420624" y="658368"/>
            <a:ext cx="8321040" cy="475488"/>
          </a:xfrm>
          <a:prstGeom prst="rect">
            <a:avLst/>
          </a:prstGeom>
          <a:noFill/>
          <a:ln/>
        </p:spPr>
        <p:txBody>
          <a:bodyPr wrap="square" rtlCol="0" anchor="ctr"/>
          <a:lstStyle/>
          <a:p>
            <a:pPr indent="0" marL="0">
              <a:buNone/>
            </a:pPr>
            <a:r>
              <a:rPr lang="en-US" sz="1300" b="1" dirty="0">
                <a:solidFill>
                  <a:srgbClr val="107C10"/>
                </a:solidFill>
              </a:rPr>
              <a:t>✔  Correct: B — Single Sign-On (SSO)</a:t>
            </a:r>
            <a:endParaRPr lang="en-US" sz="1300" dirty="0"/>
          </a:p>
        </p:txBody>
      </p:sp>
      <p:sp>
        <p:nvSpPr>
          <p:cNvPr id="8" name="Text 6"/>
          <p:cNvSpPr/>
          <p:nvPr/>
        </p:nvSpPr>
        <p:spPr>
          <a:xfrm>
            <a:off x="292608" y="1216152"/>
            <a:ext cx="8558784" cy="292608"/>
          </a:xfrm>
          <a:prstGeom prst="rect">
            <a:avLst/>
          </a:prstGeom>
          <a:noFill/>
          <a:ln/>
        </p:spPr>
        <p:txBody>
          <a:bodyPr wrap="square" rtlCol="0" anchor="ctr"/>
          <a:lstStyle/>
          <a:p>
            <a:pPr indent="0" marL="0">
              <a:buNone/>
            </a:pPr>
            <a:r>
              <a:rPr lang="en-US" sz="1200" b="1" dirty="0">
                <a:solidFill>
                  <a:srgbClr val="0A1628"/>
                </a:solidFill>
              </a:rPr>
              <a:t>Why this is correct</a:t>
            </a:r>
            <a:endParaRPr lang="en-US" sz="1200" dirty="0"/>
          </a:p>
        </p:txBody>
      </p:sp>
      <p:sp>
        <p:nvSpPr>
          <p:cNvPr id="9" name="Shape 7"/>
          <p:cNvSpPr/>
          <p:nvPr/>
        </p:nvSpPr>
        <p:spPr>
          <a:xfrm>
            <a:off x="292608" y="1517904"/>
            <a:ext cx="8558784" cy="1097280"/>
          </a:xfrm>
          <a:prstGeom prst="rect">
            <a:avLst/>
          </a:prstGeom>
          <a:solidFill>
            <a:srgbClr val="FFFFFF"/>
          </a:solidFill>
          <a:ln w="12700">
            <a:solidFill>
              <a:srgbClr val="C5D8EE"/>
            </a:solidFill>
            <a:prstDash val="solid"/>
          </a:ln>
        </p:spPr>
      </p:sp>
      <p:sp>
        <p:nvSpPr>
          <p:cNvPr id="10" name="Text 8"/>
          <p:cNvSpPr/>
          <p:nvPr/>
        </p:nvSpPr>
        <p:spPr>
          <a:xfrm>
            <a:off x="420624" y="1563624"/>
            <a:ext cx="8321040" cy="1005840"/>
          </a:xfrm>
          <a:prstGeom prst="rect">
            <a:avLst/>
          </a:prstGeom>
          <a:noFill/>
          <a:ln/>
        </p:spPr>
        <p:txBody>
          <a:bodyPr wrap="square" rtlCol="0" anchor="t"/>
          <a:lstStyle/>
          <a:p>
            <a:pPr indent="0" marL="0">
              <a:buNone/>
            </a:pPr>
            <a:r>
              <a:rPr lang="en-US" sz="1150" dirty="0">
                <a:solidFill>
                  <a:srgbClr val="1B2A3B"/>
                </a:solidFill>
              </a:rPr>
              <a:t>Single Sign-On (SSO) in Microsoft Entra ID allows users to authenticate once and gain access to multiple applications without re-entering credentials. MFA adds an extra verification step but does not remove repeated prompts. Conditional Access controls conditions for access, not the single-authentication experience. PIM manages privileged role activation.</a:t>
            </a:r>
            <a:endParaRPr lang="en-US" sz="1150" dirty="0"/>
          </a:p>
        </p:txBody>
      </p:sp>
      <p:sp>
        <p:nvSpPr>
          <p:cNvPr id="11" name="Text 9"/>
          <p:cNvSpPr/>
          <p:nvPr/>
        </p:nvSpPr>
        <p:spPr>
          <a:xfrm>
            <a:off x="292608" y="2697480"/>
            <a:ext cx="8558784" cy="292608"/>
          </a:xfrm>
          <a:prstGeom prst="rect">
            <a:avLst/>
          </a:prstGeom>
          <a:noFill/>
          <a:ln/>
        </p:spPr>
        <p:txBody>
          <a:bodyPr wrap="square" rtlCol="0" anchor="ctr"/>
          <a:lstStyle/>
          <a:p>
            <a:pPr indent="0" marL="0">
              <a:buNone/>
            </a:pPr>
            <a:r>
              <a:rPr lang="en-US" sz="1200" b="1" dirty="0">
                <a:solidFill>
                  <a:srgbClr val="0A1628"/>
                </a:solidFill>
              </a:rPr>
              <a:t>Why the other options are incorrect</a:t>
            </a:r>
            <a:endParaRPr lang="en-US" sz="1200" dirty="0"/>
          </a:p>
        </p:txBody>
      </p:sp>
      <p:sp>
        <p:nvSpPr>
          <p:cNvPr id="12" name="Shape 10"/>
          <p:cNvSpPr/>
          <p:nvPr/>
        </p:nvSpPr>
        <p:spPr>
          <a:xfrm>
            <a:off x="292608" y="3035808"/>
            <a:ext cx="8558784" cy="603504"/>
          </a:xfrm>
          <a:prstGeom prst="rect">
            <a:avLst/>
          </a:prstGeom>
          <a:solidFill>
            <a:srgbClr val="FAEAEA"/>
          </a:solidFill>
          <a:ln w="12700">
            <a:solidFill>
              <a:srgbClr val="F4AAAA"/>
            </a:solidFill>
            <a:prstDash val="solid"/>
          </a:ln>
        </p:spPr>
      </p:sp>
      <p:sp>
        <p:nvSpPr>
          <p:cNvPr id="13" name="Shape 11"/>
          <p:cNvSpPr/>
          <p:nvPr/>
        </p:nvSpPr>
        <p:spPr>
          <a:xfrm>
            <a:off x="384048" y="3172968"/>
            <a:ext cx="301752" cy="301752"/>
          </a:xfrm>
          <a:prstGeom prst="ellipse">
            <a:avLst/>
          </a:prstGeom>
          <a:solidFill>
            <a:srgbClr val="A80000"/>
          </a:solidFill>
          <a:ln w="12700">
            <a:solidFill>
              <a:srgbClr val="A80000"/>
            </a:solidFill>
            <a:prstDash val="solid"/>
          </a:ln>
        </p:spPr>
      </p:sp>
      <p:sp>
        <p:nvSpPr>
          <p:cNvPr id="14" name="Text 12"/>
          <p:cNvSpPr/>
          <p:nvPr/>
        </p:nvSpPr>
        <p:spPr>
          <a:xfrm>
            <a:off x="384048" y="3172968"/>
            <a:ext cx="301752" cy="301752"/>
          </a:xfrm>
          <a:prstGeom prst="rect">
            <a:avLst/>
          </a:prstGeom>
          <a:noFill/>
          <a:ln/>
        </p:spPr>
        <p:txBody>
          <a:bodyPr wrap="square" rtlCol="0" anchor="ctr"/>
          <a:lstStyle/>
          <a:p>
            <a:pPr algn="ctr" indent="0" marL="0">
              <a:buNone/>
            </a:pPr>
            <a:r>
              <a:rPr lang="en-US" sz="1100" b="1" dirty="0">
                <a:solidFill>
                  <a:srgbClr val="FFFFFF"/>
                </a:solidFill>
              </a:rPr>
              <a:t>A</a:t>
            </a:r>
            <a:endParaRPr lang="en-US" sz="1100" dirty="0"/>
          </a:p>
        </p:txBody>
      </p:sp>
      <p:sp>
        <p:nvSpPr>
          <p:cNvPr id="15" name="Text 13"/>
          <p:cNvSpPr/>
          <p:nvPr/>
        </p:nvSpPr>
        <p:spPr>
          <a:xfrm>
            <a:off x="768096" y="3090672"/>
            <a:ext cx="8010144" cy="493776"/>
          </a:xfrm>
          <a:prstGeom prst="rect">
            <a:avLst/>
          </a:prstGeom>
          <a:noFill/>
          <a:ln/>
        </p:spPr>
        <p:txBody>
          <a:bodyPr wrap="square" rtlCol="0" anchor="ctr"/>
          <a:lstStyle/>
          <a:p>
            <a:pPr indent="0" marL="0">
              <a:buNone/>
            </a:pPr>
            <a:r>
              <a:rPr lang="en-US" sz="1150" dirty="0">
                <a:solidFill>
                  <a:srgbClr val="1B2A3B"/>
                </a:solidFill>
              </a:rPr>
              <a:t>MFA adds a verification layer but does not provide seamless access across apps — users may still be re-prompted.</a:t>
            </a:r>
            <a:endParaRPr lang="en-US" sz="1150" dirty="0"/>
          </a:p>
        </p:txBody>
      </p:sp>
      <p:sp>
        <p:nvSpPr>
          <p:cNvPr id="16" name="Shape 14"/>
          <p:cNvSpPr/>
          <p:nvPr/>
        </p:nvSpPr>
        <p:spPr>
          <a:xfrm>
            <a:off x="292608" y="3712464"/>
            <a:ext cx="8558784" cy="603504"/>
          </a:xfrm>
          <a:prstGeom prst="rect">
            <a:avLst/>
          </a:prstGeom>
          <a:solidFill>
            <a:srgbClr val="FAEAEA"/>
          </a:solidFill>
          <a:ln w="12700">
            <a:solidFill>
              <a:srgbClr val="F4AAAA"/>
            </a:solidFill>
            <a:prstDash val="solid"/>
          </a:ln>
        </p:spPr>
      </p:sp>
      <p:sp>
        <p:nvSpPr>
          <p:cNvPr id="17" name="Shape 15"/>
          <p:cNvSpPr/>
          <p:nvPr/>
        </p:nvSpPr>
        <p:spPr>
          <a:xfrm>
            <a:off x="384048" y="3849624"/>
            <a:ext cx="301752" cy="301752"/>
          </a:xfrm>
          <a:prstGeom prst="ellipse">
            <a:avLst/>
          </a:prstGeom>
          <a:solidFill>
            <a:srgbClr val="A80000"/>
          </a:solidFill>
          <a:ln w="12700">
            <a:solidFill>
              <a:srgbClr val="A80000"/>
            </a:solidFill>
            <a:prstDash val="solid"/>
          </a:ln>
        </p:spPr>
      </p:sp>
      <p:sp>
        <p:nvSpPr>
          <p:cNvPr id="18" name="Text 16"/>
          <p:cNvSpPr/>
          <p:nvPr/>
        </p:nvSpPr>
        <p:spPr>
          <a:xfrm>
            <a:off x="384048" y="3849624"/>
            <a:ext cx="301752" cy="301752"/>
          </a:xfrm>
          <a:prstGeom prst="rect">
            <a:avLst/>
          </a:prstGeom>
          <a:noFill/>
          <a:ln/>
        </p:spPr>
        <p:txBody>
          <a:bodyPr wrap="square" rtlCol="0" anchor="ctr"/>
          <a:lstStyle/>
          <a:p>
            <a:pPr algn="ctr" indent="0" marL="0">
              <a:buNone/>
            </a:pPr>
            <a:r>
              <a:rPr lang="en-US" sz="1100" b="1" dirty="0">
                <a:solidFill>
                  <a:srgbClr val="FFFFFF"/>
                </a:solidFill>
              </a:rPr>
              <a:t>C</a:t>
            </a:r>
            <a:endParaRPr lang="en-US" sz="1100" dirty="0"/>
          </a:p>
        </p:txBody>
      </p:sp>
      <p:sp>
        <p:nvSpPr>
          <p:cNvPr id="19" name="Text 17"/>
          <p:cNvSpPr/>
          <p:nvPr/>
        </p:nvSpPr>
        <p:spPr>
          <a:xfrm>
            <a:off x="768096" y="3767328"/>
            <a:ext cx="8010144" cy="493776"/>
          </a:xfrm>
          <a:prstGeom prst="rect">
            <a:avLst/>
          </a:prstGeom>
          <a:noFill/>
          <a:ln/>
        </p:spPr>
        <p:txBody>
          <a:bodyPr wrap="square" rtlCol="0" anchor="ctr"/>
          <a:lstStyle/>
          <a:p>
            <a:pPr indent="0" marL="0">
              <a:buNone/>
            </a:pPr>
            <a:r>
              <a:rPr lang="en-US" sz="1150" dirty="0">
                <a:solidFill>
                  <a:srgbClr val="1B2A3B"/>
                </a:solidFill>
              </a:rPr>
              <a:t>Conditional Access defines access rules (location, device, risk), but does not eliminate repeated sign-ins.</a:t>
            </a:r>
            <a:endParaRPr lang="en-US" sz="1150" dirty="0"/>
          </a:p>
        </p:txBody>
      </p:sp>
      <p:sp>
        <p:nvSpPr>
          <p:cNvPr id="20" name="Shape 18"/>
          <p:cNvSpPr/>
          <p:nvPr/>
        </p:nvSpPr>
        <p:spPr>
          <a:xfrm>
            <a:off x="292608" y="4389120"/>
            <a:ext cx="8558784" cy="603504"/>
          </a:xfrm>
          <a:prstGeom prst="rect">
            <a:avLst/>
          </a:prstGeom>
          <a:solidFill>
            <a:srgbClr val="FAEAEA"/>
          </a:solidFill>
          <a:ln w="12700">
            <a:solidFill>
              <a:srgbClr val="F4AAAA"/>
            </a:solidFill>
            <a:prstDash val="solid"/>
          </a:ln>
        </p:spPr>
      </p:sp>
      <p:sp>
        <p:nvSpPr>
          <p:cNvPr id="21" name="Shape 19"/>
          <p:cNvSpPr/>
          <p:nvPr/>
        </p:nvSpPr>
        <p:spPr>
          <a:xfrm>
            <a:off x="384048" y="4526280"/>
            <a:ext cx="301752" cy="301752"/>
          </a:xfrm>
          <a:prstGeom prst="ellipse">
            <a:avLst/>
          </a:prstGeom>
          <a:solidFill>
            <a:srgbClr val="A80000"/>
          </a:solidFill>
          <a:ln w="12700">
            <a:solidFill>
              <a:srgbClr val="A80000"/>
            </a:solidFill>
            <a:prstDash val="solid"/>
          </a:ln>
        </p:spPr>
      </p:sp>
      <p:sp>
        <p:nvSpPr>
          <p:cNvPr id="22" name="Text 20"/>
          <p:cNvSpPr/>
          <p:nvPr/>
        </p:nvSpPr>
        <p:spPr>
          <a:xfrm>
            <a:off x="384048" y="4526280"/>
            <a:ext cx="301752" cy="301752"/>
          </a:xfrm>
          <a:prstGeom prst="rect">
            <a:avLst/>
          </a:prstGeom>
          <a:noFill/>
          <a:ln/>
        </p:spPr>
        <p:txBody>
          <a:bodyPr wrap="square" rtlCol="0" anchor="ctr"/>
          <a:lstStyle/>
          <a:p>
            <a:pPr algn="ctr" indent="0" marL="0">
              <a:buNone/>
            </a:pPr>
            <a:r>
              <a:rPr lang="en-US" sz="1100" b="1" dirty="0">
                <a:solidFill>
                  <a:srgbClr val="FFFFFF"/>
                </a:solidFill>
              </a:rPr>
              <a:t>D</a:t>
            </a:r>
            <a:endParaRPr lang="en-US" sz="1100" dirty="0"/>
          </a:p>
        </p:txBody>
      </p:sp>
      <p:sp>
        <p:nvSpPr>
          <p:cNvPr id="23" name="Text 21"/>
          <p:cNvSpPr/>
          <p:nvPr/>
        </p:nvSpPr>
        <p:spPr>
          <a:xfrm>
            <a:off x="768096" y="4443984"/>
            <a:ext cx="8010144" cy="493776"/>
          </a:xfrm>
          <a:prstGeom prst="rect">
            <a:avLst/>
          </a:prstGeom>
          <a:noFill/>
          <a:ln/>
        </p:spPr>
        <p:txBody>
          <a:bodyPr wrap="square" rtlCol="0" anchor="ctr"/>
          <a:lstStyle/>
          <a:p>
            <a:pPr indent="0" marL="0">
              <a:buNone/>
            </a:pPr>
            <a:r>
              <a:rPr lang="en-US" sz="1150" dirty="0">
                <a:solidFill>
                  <a:srgbClr val="1B2A3B"/>
                </a:solidFill>
              </a:rPr>
              <a:t>PIM is for just-in-time elevation of privileged roles, not for reducing sign-in prompts.</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8FD"/>
        </a:solidFill>
      </p:bgPr>
    </p:bg>
    <p:spTree>
      <p:nvGrpSpPr>
        <p:cNvPr id="1" name=""/>
        <p:cNvGrpSpPr/>
        <p:nvPr/>
      </p:nvGrpSpPr>
      <p:grpSpPr>
        <a:xfrm>
          <a:off x="0" y="0"/>
          <a:ext cx="0" cy="0"/>
          <a:chOff x="0" y="0"/>
          <a:chExt cx="0" cy="0"/>
        </a:xfrm>
      </p:grpSpPr>
      <p:sp>
        <p:nvSpPr>
          <p:cNvPr id="2" name="Shape 0"/>
          <p:cNvSpPr/>
          <p:nvPr/>
        </p:nvSpPr>
        <p:spPr>
          <a:xfrm>
            <a:off x="0" y="0"/>
            <a:ext cx="146304" cy="5143500"/>
          </a:xfrm>
          <a:prstGeom prst="rect">
            <a:avLst/>
          </a:prstGeom>
          <a:solidFill>
            <a:srgbClr val="0078D4"/>
          </a:solidFill>
          <a:ln w="12700">
            <a:solidFill>
              <a:srgbClr val="0078D4"/>
            </a:solidFill>
            <a:prstDash val="solid"/>
          </a:ln>
        </p:spPr>
      </p:sp>
      <p:sp>
        <p:nvSpPr>
          <p:cNvPr id="3" name="Shape 1"/>
          <p:cNvSpPr/>
          <p:nvPr/>
        </p:nvSpPr>
        <p:spPr>
          <a:xfrm>
            <a:off x="146304" y="0"/>
            <a:ext cx="8997696" cy="594360"/>
          </a:xfrm>
          <a:prstGeom prst="rect">
            <a:avLst/>
          </a:prstGeom>
          <a:solidFill>
            <a:srgbClr val="0A1628"/>
          </a:solidFill>
          <a:ln w="12700">
            <a:solidFill>
              <a:srgbClr val="0A1628"/>
            </a:solidFill>
            <a:prstDash val="solid"/>
          </a:ln>
        </p:spPr>
      </p:sp>
      <p:sp>
        <p:nvSpPr>
          <p:cNvPr id="4" name="Text 2"/>
          <p:cNvSpPr/>
          <p:nvPr/>
        </p:nvSpPr>
        <p:spPr>
          <a:xfrm>
            <a:off x="292608" y="0"/>
            <a:ext cx="6583680" cy="594360"/>
          </a:xfrm>
          <a:prstGeom prst="rect">
            <a:avLst/>
          </a:prstGeom>
          <a:noFill/>
          <a:ln/>
        </p:spPr>
        <p:txBody>
          <a:bodyPr wrap="square" lIns="0" tIns="0" rIns="0" bIns="0" rtlCol="0" anchor="ctr"/>
          <a:lstStyle/>
          <a:p>
            <a:pPr indent="0" marL="0">
              <a:buNone/>
            </a:pPr>
            <a:r>
              <a:rPr lang="en-US" sz="1200" b="1" dirty="0">
                <a:solidFill>
                  <a:srgbClr val="50E6FF"/>
                </a:solidFill>
              </a:rPr>
              <a:t>❓  QUESTION 2  ·  Guest Users</a:t>
            </a:r>
            <a:endParaRPr lang="en-US" sz="1200" dirty="0"/>
          </a:p>
        </p:txBody>
      </p:sp>
      <p:sp>
        <p:nvSpPr>
          <p:cNvPr id="5" name="Text 3"/>
          <p:cNvSpPr/>
          <p:nvPr/>
        </p:nvSpPr>
        <p:spPr>
          <a:xfrm>
            <a:off x="7498080" y="0"/>
            <a:ext cx="1499616" cy="594360"/>
          </a:xfrm>
          <a:prstGeom prst="rect">
            <a:avLst/>
          </a:prstGeom>
          <a:noFill/>
          <a:ln/>
        </p:spPr>
        <p:txBody>
          <a:bodyPr wrap="square" lIns="0" tIns="0" rIns="0" bIns="0" rtlCol="0" anchor="ctr"/>
          <a:lstStyle/>
          <a:p>
            <a:pPr algn="r" indent="0" marL="0">
              <a:buNone/>
            </a:pPr>
            <a:r>
              <a:rPr lang="en-US" sz="1200" b="1" dirty="0">
                <a:solidFill>
                  <a:srgbClr val="6C8EAD"/>
                </a:solidFill>
              </a:rPr>
              <a:t>2 / 20</a:t>
            </a:r>
            <a:endParaRPr lang="en-US" sz="1200" dirty="0"/>
          </a:p>
        </p:txBody>
      </p:sp>
      <p:sp>
        <p:nvSpPr>
          <p:cNvPr id="6" name="Shape 4"/>
          <p:cNvSpPr/>
          <p:nvPr/>
        </p:nvSpPr>
        <p:spPr>
          <a:xfrm>
            <a:off x="292608" y="685800"/>
            <a:ext cx="1097280" cy="256032"/>
          </a:xfrm>
          <a:prstGeom prst="rect">
            <a:avLst/>
          </a:prstGeom>
          <a:solidFill>
            <a:srgbClr val="0078D4"/>
          </a:solidFill>
          <a:ln w="12700">
            <a:solidFill>
              <a:srgbClr val="0078D4"/>
            </a:solidFill>
            <a:prstDash val="solid"/>
          </a:ln>
        </p:spPr>
      </p:sp>
      <p:sp>
        <p:nvSpPr>
          <p:cNvPr id="7" name="Text 5"/>
          <p:cNvSpPr/>
          <p:nvPr/>
        </p:nvSpPr>
        <p:spPr>
          <a:xfrm>
            <a:off x="292608" y="685800"/>
            <a:ext cx="1097280" cy="256032"/>
          </a:xfrm>
          <a:prstGeom prst="rect">
            <a:avLst/>
          </a:prstGeom>
          <a:noFill/>
          <a:ln/>
        </p:spPr>
        <p:txBody>
          <a:bodyPr wrap="square" rtlCol="0" anchor="ctr"/>
          <a:lstStyle/>
          <a:p>
            <a:pPr algn="ctr" indent="0" marL="0">
              <a:buNone/>
            </a:pPr>
            <a:r>
              <a:rPr lang="en-US" sz="800" b="1" dirty="0">
                <a:solidFill>
                  <a:srgbClr val="FFFFFF"/>
                </a:solidFill>
              </a:rPr>
              <a:t>SCENARIO</a:t>
            </a:r>
            <a:endParaRPr lang="en-US" sz="800" dirty="0"/>
          </a:p>
        </p:txBody>
      </p:sp>
      <p:sp>
        <p:nvSpPr>
          <p:cNvPr id="8" name="Shape 6"/>
          <p:cNvSpPr/>
          <p:nvPr/>
        </p:nvSpPr>
        <p:spPr>
          <a:xfrm>
            <a:off x="292608" y="978408"/>
            <a:ext cx="8558784" cy="960120"/>
          </a:xfrm>
          <a:prstGeom prst="rect">
            <a:avLst/>
          </a:prstGeom>
          <a:solidFill>
            <a:srgbClr val="EBF4FF"/>
          </a:solidFill>
          <a:ln w="12700">
            <a:solidFill>
              <a:srgbClr val="0078D4"/>
            </a:solidFill>
            <a:prstDash val="solid"/>
          </a:ln>
        </p:spPr>
      </p:sp>
      <p:sp>
        <p:nvSpPr>
          <p:cNvPr id="9" name="Text 7"/>
          <p:cNvSpPr/>
          <p:nvPr/>
        </p:nvSpPr>
        <p:spPr>
          <a:xfrm>
            <a:off x="420624" y="1024128"/>
            <a:ext cx="8321040" cy="868680"/>
          </a:xfrm>
          <a:prstGeom prst="rect">
            <a:avLst/>
          </a:prstGeom>
          <a:noFill/>
          <a:ln/>
        </p:spPr>
        <p:txBody>
          <a:bodyPr wrap="square" rtlCol="0" anchor="t"/>
          <a:lstStyle/>
          <a:p>
            <a:pPr indent="0" marL="0">
              <a:buNone/>
            </a:pPr>
            <a:r>
              <a:rPr lang="en-US" sz="1250" dirty="0">
                <a:solidFill>
                  <a:srgbClr val="1B2A3B"/>
                </a:solidFill>
              </a:rPr>
              <a:t>Northwind Traders needs to collaborate with an external contractor who has a personal Gmail account. The contractor must access a shared SharePoint site and specific Azure resources.</a:t>
            </a:r>
            <a:endParaRPr lang="en-US" sz="1250" dirty="0"/>
          </a:p>
        </p:txBody>
      </p:sp>
      <p:sp>
        <p:nvSpPr>
          <p:cNvPr id="10" name="Text 8"/>
          <p:cNvSpPr/>
          <p:nvPr/>
        </p:nvSpPr>
        <p:spPr>
          <a:xfrm>
            <a:off x="292608" y="2048256"/>
            <a:ext cx="8558784" cy="420624"/>
          </a:xfrm>
          <a:prstGeom prst="rect">
            <a:avLst/>
          </a:prstGeom>
          <a:noFill/>
          <a:ln/>
        </p:spPr>
        <p:txBody>
          <a:bodyPr wrap="square" rtlCol="0" anchor="ctr"/>
          <a:lstStyle/>
          <a:p>
            <a:pPr indent="0" marL="0">
              <a:buNone/>
            </a:pPr>
            <a:r>
              <a:rPr lang="en-US" sz="1350" b="1" dirty="0">
                <a:solidFill>
                  <a:srgbClr val="0A1628"/>
                </a:solidFill>
              </a:rPr>
              <a:t>What is the correct Azure identity approach for the external contractor?</a:t>
            </a:r>
            <a:endParaRPr lang="en-US" sz="1350" dirty="0"/>
          </a:p>
        </p:txBody>
      </p:sp>
      <p:sp>
        <p:nvSpPr>
          <p:cNvPr id="11" name="Shape 9"/>
          <p:cNvSpPr/>
          <p:nvPr/>
        </p:nvSpPr>
        <p:spPr>
          <a:xfrm>
            <a:off x="292608" y="2523744"/>
            <a:ext cx="8558784" cy="539496"/>
          </a:xfrm>
          <a:prstGeom prst="rect">
            <a:avLst/>
          </a:prstGeom>
          <a:solidFill>
            <a:srgbClr val="FFFFFF"/>
          </a:solidFill>
          <a:ln w="12700">
            <a:solidFill>
              <a:srgbClr val="C5D8EE"/>
            </a:solidFill>
            <a:prstDash val="solid"/>
          </a:ln>
        </p:spPr>
      </p:sp>
      <p:sp>
        <p:nvSpPr>
          <p:cNvPr id="12" name="Shape 10"/>
          <p:cNvSpPr/>
          <p:nvPr/>
        </p:nvSpPr>
        <p:spPr>
          <a:xfrm>
            <a:off x="384048" y="2633472"/>
            <a:ext cx="329184" cy="329184"/>
          </a:xfrm>
          <a:prstGeom prst="ellipse">
            <a:avLst/>
          </a:prstGeom>
          <a:solidFill>
            <a:srgbClr val="1B3A5C"/>
          </a:solidFill>
          <a:ln w="12700">
            <a:solidFill>
              <a:srgbClr val="1B3A5C"/>
            </a:solidFill>
            <a:prstDash val="solid"/>
          </a:ln>
        </p:spPr>
      </p:sp>
      <p:sp>
        <p:nvSpPr>
          <p:cNvPr id="13" name="Text 11"/>
          <p:cNvSpPr/>
          <p:nvPr/>
        </p:nvSpPr>
        <p:spPr>
          <a:xfrm>
            <a:off x="384048" y="2633472"/>
            <a:ext cx="329184" cy="329184"/>
          </a:xfrm>
          <a:prstGeom prst="rect">
            <a:avLst/>
          </a:prstGeom>
          <a:noFill/>
          <a:ln/>
        </p:spPr>
        <p:txBody>
          <a:bodyPr wrap="square" rtlCol="0" anchor="ctr"/>
          <a:lstStyle/>
          <a:p>
            <a:pPr algn="ctr" indent="0" marL="0">
              <a:buNone/>
            </a:pPr>
            <a:r>
              <a:rPr lang="en-US" sz="1100" b="1" dirty="0">
                <a:solidFill>
                  <a:srgbClr val="FFFFFF"/>
                </a:solidFill>
              </a:rPr>
              <a:t>A</a:t>
            </a:r>
            <a:endParaRPr lang="en-US" sz="1100" dirty="0"/>
          </a:p>
        </p:txBody>
      </p:sp>
      <p:sp>
        <p:nvSpPr>
          <p:cNvPr id="14" name="Text 12"/>
          <p:cNvSpPr/>
          <p:nvPr/>
        </p:nvSpPr>
        <p:spPr>
          <a:xfrm>
            <a:off x="786384" y="2615184"/>
            <a:ext cx="7991856" cy="365760"/>
          </a:xfrm>
          <a:prstGeom prst="rect">
            <a:avLst/>
          </a:prstGeom>
          <a:noFill/>
          <a:ln/>
        </p:spPr>
        <p:txBody>
          <a:bodyPr wrap="square" rtlCol="0" anchor="ctr"/>
          <a:lstStyle/>
          <a:p>
            <a:pPr indent="0" marL="0">
              <a:buNone/>
            </a:pPr>
            <a:r>
              <a:rPr lang="en-US" sz="1250" dirty="0">
                <a:solidFill>
                  <a:srgbClr val="1B2A3B"/>
                </a:solidFill>
              </a:rPr>
              <a:t>Create a new Microsoft Entra ID member user with a company UPN</a:t>
            </a:r>
            <a:endParaRPr lang="en-US" sz="1250" dirty="0"/>
          </a:p>
        </p:txBody>
      </p:sp>
      <p:sp>
        <p:nvSpPr>
          <p:cNvPr id="15" name="Shape 13"/>
          <p:cNvSpPr/>
          <p:nvPr/>
        </p:nvSpPr>
        <p:spPr>
          <a:xfrm>
            <a:off x="292608" y="3154680"/>
            <a:ext cx="8558784" cy="539496"/>
          </a:xfrm>
          <a:prstGeom prst="rect">
            <a:avLst/>
          </a:prstGeom>
          <a:solidFill>
            <a:srgbClr val="FFFFFF"/>
          </a:solidFill>
          <a:ln w="12700">
            <a:solidFill>
              <a:srgbClr val="C5D8EE"/>
            </a:solidFill>
            <a:prstDash val="solid"/>
          </a:ln>
        </p:spPr>
      </p:sp>
      <p:sp>
        <p:nvSpPr>
          <p:cNvPr id="16" name="Shape 14"/>
          <p:cNvSpPr/>
          <p:nvPr/>
        </p:nvSpPr>
        <p:spPr>
          <a:xfrm>
            <a:off x="384048" y="3264408"/>
            <a:ext cx="329184" cy="329184"/>
          </a:xfrm>
          <a:prstGeom prst="ellipse">
            <a:avLst/>
          </a:prstGeom>
          <a:solidFill>
            <a:srgbClr val="1B3A5C"/>
          </a:solidFill>
          <a:ln w="12700">
            <a:solidFill>
              <a:srgbClr val="1B3A5C"/>
            </a:solidFill>
            <a:prstDash val="solid"/>
          </a:ln>
        </p:spPr>
      </p:sp>
      <p:sp>
        <p:nvSpPr>
          <p:cNvPr id="17" name="Text 15"/>
          <p:cNvSpPr/>
          <p:nvPr/>
        </p:nvSpPr>
        <p:spPr>
          <a:xfrm>
            <a:off x="384048" y="3264408"/>
            <a:ext cx="329184" cy="329184"/>
          </a:xfrm>
          <a:prstGeom prst="rect">
            <a:avLst/>
          </a:prstGeom>
          <a:noFill/>
          <a:ln/>
        </p:spPr>
        <p:txBody>
          <a:bodyPr wrap="square" rtlCol="0" anchor="ctr"/>
          <a:lstStyle/>
          <a:p>
            <a:pPr algn="ctr" indent="0" marL="0">
              <a:buNone/>
            </a:pPr>
            <a:r>
              <a:rPr lang="en-US" sz="1100" b="1" dirty="0">
                <a:solidFill>
                  <a:srgbClr val="FFFFFF"/>
                </a:solidFill>
              </a:rPr>
              <a:t>B</a:t>
            </a:r>
            <a:endParaRPr lang="en-US" sz="1100" dirty="0"/>
          </a:p>
        </p:txBody>
      </p:sp>
      <p:sp>
        <p:nvSpPr>
          <p:cNvPr id="18" name="Text 16"/>
          <p:cNvSpPr/>
          <p:nvPr/>
        </p:nvSpPr>
        <p:spPr>
          <a:xfrm>
            <a:off x="786384" y="3246120"/>
            <a:ext cx="7991856" cy="365760"/>
          </a:xfrm>
          <a:prstGeom prst="rect">
            <a:avLst/>
          </a:prstGeom>
          <a:noFill/>
          <a:ln/>
        </p:spPr>
        <p:txBody>
          <a:bodyPr wrap="square" rtlCol="0" anchor="ctr"/>
          <a:lstStyle/>
          <a:p>
            <a:pPr indent="0" marL="0">
              <a:buNone/>
            </a:pPr>
            <a:r>
              <a:rPr lang="en-US" sz="1250" dirty="0">
                <a:solidFill>
                  <a:srgbClr val="1B2A3B"/>
                </a:solidFill>
              </a:rPr>
              <a:t>Invite the contractor as a Guest User via Microsoft Entra ID B2B</a:t>
            </a:r>
            <a:endParaRPr lang="en-US" sz="1250" dirty="0"/>
          </a:p>
        </p:txBody>
      </p:sp>
      <p:sp>
        <p:nvSpPr>
          <p:cNvPr id="19" name="Shape 17"/>
          <p:cNvSpPr/>
          <p:nvPr/>
        </p:nvSpPr>
        <p:spPr>
          <a:xfrm>
            <a:off x="292608" y="3785616"/>
            <a:ext cx="8558784" cy="539496"/>
          </a:xfrm>
          <a:prstGeom prst="rect">
            <a:avLst/>
          </a:prstGeom>
          <a:solidFill>
            <a:srgbClr val="FFFFFF"/>
          </a:solidFill>
          <a:ln w="12700">
            <a:solidFill>
              <a:srgbClr val="C5D8EE"/>
            </a:solidFill>
            <a:prstDash val="solid"/>
          </a:ln>
        </p:spPr>
      </p:sp>
      <p:sp>
        <p:nvSpPr>
          <p:cNvPr id="20" name="Shape 18"/>
          <p:cNvSpPr/>
          <p:nvPr/>
        </p:nvSpPr>
        <p:spPr>
          <a:xfrm>
            <a:off x="384048" y="3895344"/>
            <a:ext cx="329184" cy="329184"/>
          </a:xfrm>
          <a:prstGeom prst="ellipse">
            <a:avLst/>
          </a:prstGeom>
          <a:solidFill>
            <a:srgbClr val="1B3A5C"/>
          </a:solidFill>
          <a:ln w="12700">
            <a:solidFill>
              <a:srgbClr val="1B3A5C"/>
            </a:solidFill>
            <a:prstDash val="solid"/>
          </a:ln>
        </p:spPr>
      </p:sp>
      <p:sp>
        <p:nvSpPr>
          <p:cNvPr id="21" name="Text 19"/>
          <p:cNvSpPr/>
          <p:nvPr/>
        </p:nvSpPr>
        <p:spPr>
          <a:xfrm>
            <a:off x="384048" y="3895344"/>
            <a:ext cx="329184" cy="329184"/>
          </a:xfrm>
          <a:prstGeom prst="rect">
            <a:avLst/>
          </a:prstGeom>
          <a:noFill/>
          <a:ln/>
        </p:spPr>
        <p:txBody>
          <a:bodyPr wrap="square" rtlCol="0" anchor="ctr"/>
          <a:lstStyle/>
          <a:p>
            <a:pPr algn="ctr" indent="0" marL="0">
              <a:buNone/>
            </a:pPr>
            <a:r>
              <a:rPr lang="en-US" sz="1100" b="1" dirty="0">
                <a:solidFill>
                  <a:srgbClr val="FFFFFF"/>
                </a:solidFill>
              </a:rPr>
              <a:t>C</a:t>
            </a:r>
            <a:endParaRPr lang="en-US" sz="1100" dirty="0"/>
          </a:p>
        </p:txBody>
      </p:sp>
      <p:sp>
        <p:nvSpPr>
          <p:cNvPr id="22" name="Text 20"/>
          <p:cNvSpPr/>
          <p:nvPr/>
        </p:nvSpPr>
        <p:spPr>
          <a:xfrm>
            <a:off x="786384" y="3877056"/>
            <a:ext cx="7991856" cy="365760"/>
          </a:xfrm>
          <a:prstGeom prst="rect">
            <a:avLst/>
          </a:prstGeom>
          <a:noFill/>
          <a:ln/>
        </p:spPr>
        <p:txBody>
          <a:bodyPr wrap="square" rtlCol="0" anchor="ctr"/>
          <a:lstStyle/>
          <a:p>
            <a:pPr indent="0" marL="0">
              <a:buNone/>
            </a:pPr>
            <a:r>
              <a:rPr lang="en-US" sz="1250" dirty="0">
                <a:solidFill>
                  <a:srgbClr val="1B2A3B"/>
                </a:solidFill>
              </a:rPr>
              <a:t>Create a Service Principal for the contractor</a:t>
            </a:r>
            <a:endParaRPr lang="en-US" sz="1250" dirty="0"/>
          </a:p>
        </p:txBody>
      </p:sp>
      <p:sp>
        <p:nvSpPr>
          <p:cNvPr id="23" name="Shape 21"/>
          <p:cNvSpPr/>
          <p:nvPr/>
        </p:nvSpPr>
        <p:spPr>
          <a:xfrm>
            <a:off x="292608" y="4416552"/>
            <a:ext cx="8558784" cy="539496"/>
          </a:xfrm>
          <a:prstGeom prst="rect">
            <a:avLst/>
          </a:prstGeom>
          <a:solidFill>
            <a:srgbClr val="FFFFFF"/>
          </a:solidFill>
          <a:ln w="12700">
            <a:solidFill>
              <a:srgbClr val="C5D8EE"/>
            </a:solidFill>
            <a:prstDash val="solid"/>
          </a:ln>
        </p:spPr>
      </p:sp>
      <p:sp>
        <p:nvSpPr>
          <p:cNvPr id="24" name="Shape 22"/>
          <p:cNvSpPr/>
          <p:nvPr/>
        </p:nvSpPr>
        <p:spPr>
          <a:xfrm>
            <a:off x="384048" y="4526280"/>
            <a:ext cx="329184" cy="329184"/>
          </a:xfrm>
          <a:prstGeom prst="ellipse">
            <a:avLst/>
          </a:prstGeom>
          <a:solidFill>
            <a:srgbClr val="1B3A5C"/>
          </a:solidFill>
          <a:ln w="12700">
            <a:solidFill>
              <a:srgbClr val="1B3A5C"/>
            </a:solidFill>
            <a:prstDash val="solid"/>
          </a:ln>
        </p:spPr>
      </p:sp>
      <p:sp>
        <p:nvSpPr>
          <p:cNvPr id="25" name="Text 23"/>
          <p:cNvSpPr/>
          <p:nvPr/>
        </p:nvSpPr>
        <p:spPr>
          <a:xfrm>
            <a:off x="384048" y="4526280"/>
            <a:ext cx="329184" cy="329184"/>
          </a:xfrm>
          <a:prstGeom prst="rect">
            <a:avLst/>
          </a:prstGeom>
          <a:noFill/>
          <a:ln/>
        </p:spPr>
        <p:txBody>
          <a:bodyPr wrap="square" rtlCol="0" anchor="ctr"/>
          <a:lstStyle/>
          <a:p>
            <a:pPr algn="ctr" indent="0" marL="0">
              <a:buNone/>
            </a:pPr>
            <a:r>
              <a:rPr lang="en-US" sz="1100" b="1" dirty="0">
                <a:solidFill>
                  <a:srgbClr val="FFFFFF"/>
                </a:solidFill>
              </a:rPr>
              <a:t>D</a:t>
            </a:r>
            <a:endParaRPr lang="en-US" sz="1100" dirty="0"/>
          </a:p>
        </p:txBody>
      </p:sp>
      <p:sp>
        <p:nvSpPr>
          <p:cNvPr id="26" name="Text 24"/>
          <p:cNvSpPr/>
          <p:nvPr/>
        </p:nvSpPr>
        <p:spPr>
          <a:xfrm>
            <a:off x="786384" y="4507992"/>
            <a:ext cx="7991856" cy="365760"/>
          </a:xfrm>
          <a:prstGeom prst="rect">
            <a:avLst/>
          </a:prstGeom>
          <a:noFill/>
          <a:ln/>
        </p:spPr>
        <p:txBody>
          <a:bodyPr wrap="square" rtlCol="0" anchor="ctr"/>
          <a:lstStyle/>
          <a:p>
            <a:pPr indent="0" marL="0">
              <a:buNone/>
            </a:pPr>
            <a:r>
              <a:rPr lang="en-US" sz="1250" dirty="0">
                <a:solidFill>
                  <a:srgbClr val="1B2A3B"/>
                </a:solidFill>
              </a:rPr>
              <a:t>Assign the contractor a managed identity</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8FD"/>
        </a:solidFill>
      </p:bgPr>
    </p:bg>
    <p:spTree>
      <p:nvGrpSpPr>
        <p:cNvPr id="1" name=""/>
        <p:cNvGrpSpPr/>
        <p:nvPr/>
      </p:nvGrpSpPr>
      <p:grpSpPr>
        <a:xfrm>
          <a:off x="0" y="0"/>
          <a:ext cx="0" cy="0"/>
          <a:chOff x="0" y="0"/>
          <a:chExt cx="0" cy="0"/>
        </a:xfrm>
      </p:grpSpPr>
      <p:sp>
        <p:nvSpPr>
          <p:cNvPr id="2" name="Shape 0"/>
          <p:cNvSpPr/>
          <p:nvPr/>
        </p:nvSpPr>
        <p:spPr>
          <a:xfrm>
            <a:off x="0" y="0"/>
            <a:ext cx="146304" cy="5143500"/>
          </a:xfrm>
          <a:prstGeom prst="rect">
            <a:avLst/>
          </a:prstGeom>
          <a:solidFill>
            <a:srgbClr val="107C10"/>
          </a:solidFill>
          <a:ln w="12700">
            <a:solidFill>
              <a:srgbClr val="107C10"/>
            </a:solidFill>
            <a:prstDash val="solid"/>
          </a:ln>
        </p:spPr>
      </p:sp>
      <p:sp>
        <p:nvSpPr>
          <p:cNvPr id="3" name="Shape 1"/>
          <p:cNvSpPr/>
          <p:nvPr/>
        </p:nvSpPr>
        <p:spPr>
          <a:xfrm>
            <a:off x="146304" y="0"/>
            <a:ext cx="8997696" cy="594360"/>
          </a:xfrm>
          <a:prstGeom prst="rect">
            <a:avLst/>
          </a:prstGeom>
          <a:solidFill>
            <a:srgbClr val="0A1628"/>
          </a:solidFill>
          <a:ln w="12700">
            <a:solidFill>
              <a:srgbClr val="0A1628"/>
            </a:solidFill>
            <a:prstDash val="solid"/>
          </a:ln>
        </p:spPr>
      </p:sp>
      <p:sp>
        <p:nvSpPr>
          <p:cNvPr id="4" name="Text 2"/>
          <p:cNvSpPr/>
          <p:nvPr/>
        </p:nvSpPr>
        <p:spPr>
          <a:xfrm>
            <a:off x="292608" y="0"/>
            <a:ext cx="6583680" cy="594360"/>
          </a:xfrm>
          <a:prstGeom prst="rect">
            <a:avLst/>
          </a:prstGeom>
          <a:noFill/>
          <a:ln/>
        </p:spPr>
        <p:txBody>
          <a:bodyPr wrap="square" lIns="0" tIns="0" rIns="0" bIns="0" rtlCol="0" anchor="ctr"/>
          <a:lstStyle/>
          <a:p>
            <a:pPr indent="0" marL="0">
              <a:buNone/>
            </a:pPr>
            <a:r>
              <a:rPr lang="en-US" sz="1200" b="1" dirty="0">
                <a:solidFill>
                  <a:srgbClr val="00FF90"/>
                </a:solidFill>
              </a:rPr>
              <a:t>✅  ANSWER 2  ·  Guest Users</a:t>
            </a:r>
            <a:endParaRPr lang="en-US" sz="1200" dirty="0"/>
          </a:p>
        </p:txBody>
      </p:sp>
      <p:sp>
        <p:nvSpPr>
          <p:cNvPr id="5" name="Text 3"/>
          <p:cNvSpPr/>
          <p:nvPr/>
        </p:nvSpPr>
        <p:spPr>
          <a:xfrm>
            <a:off x="7498080" y="0"/>
            <a:ext cx="1499616" cy="594360"/>
          </a:xfrm>
          <a:prstGeom prst="rect">
            <a:avLst/>
          </a:prstGeom>
          <a:noFill/>
          <a:ln/>
        </p:spPr>
        <p:txBody>
          <a:bodyPr wrap="square" lIns="0" tIns="0" rIns="0" bIns="0" rtlCol="0" anchor="ctr"/>
          <a:lstStyle/>
          <a:p>
            <a:pPr algn="r" indent="0" marL="0">
              <a:buNone/>
            </a:pPr>
            <a:r>
              <a:rPr lang="en-US" sz="1200" b="1" dirty="0">
                <a:solidFill>
                  <a:srgbClr val="6C8EAD"/>
                </a:solidFill>
              </a:rPr>
              <a:t>2 / 20</a:t>
            </a:r>
            <a:endParaRPr lang="en-US" sz="1200" dirty="0"/>
          </a:p>
        </p:txBody>
      </p:sp>
      <p:sp>
        <p:nvSpPr>
          <p:cNvPr id="6" name="Shape 4"/>
          <p:cNvSpPr/>
          <p:nvPr/>
        </p:nvSpPr>
        <p:spPr>
          <a:xfrm>
            <a:off x="292608" y="658368"/>
            <a:ext cx="8558784" cy="475488"/>
          </a:xfrm>
          <a:prstGeom prst="rect">
            <a:avLst/>
          </a:prstGeom>
          <a:solidFill>
            <a:srgbClr val="E6F3E6"/>
          </a:solidFill>
          <a:ln w="25400">
            <a:solidFill>
              <a:srgbClr val="107C10"/>
            </a:solidFill>
            <a:prstDash val="solid"/>
          </a:ln>
        </p:spPr>
      </p:sp>
      <p:sp>
        <p:nvSpPr>
          <p:cNvPr id="7" name="Text 5"/>
          <p:cNvSpPr/>
          <p:nvPr/>
        </p:nvSpPr>
        <p:spPr>
          <a:xfrm>
            <a:off x="420624" y="658368"/>
            <a:ext cx="8321040" cy="475488"/>
          </a:xfrm>
          <a:prstGeom prst="rect">
            <a:avLst/>
          </a:prstGeom>
          <a:noFill/>
          <a:ln/>
        </p:spPr>
        <p:txBody>
          <a:bodyPr wrap="square" rtlCol="0" anchor="ctr"/>
          <a:lstStyle/>
          <a:p>
            <a:pPr indent="0" marL="0">
              <a:buNone/>
            </a:pPr>
            <a:r>
              <a:rPr lang="en-US" sz="1300" b="1" dirty="0">
                <a:solidFill>
                  <a:srgbClr val="107C10"/>
                </a:solidFill>
              </a:rPr>
              <a:t>✔  Correct: B — Invite the contractor as a Guest User via Microsoft Entra ID B2B</a:t>
            </a:r>
            <a:endParaRPr lang="en-US" sz="1300" dirty="0"/>
          </a:p>
        </p:txBody>
      </p:sp>
      <p:sp>
        <p:nvSpPr>
          <p:cNvPr id="8" name="Text 6"/>
          <p:cNvSpPr/>
          <p:nvPr/>
        </p:nvSpPr>
        <p:spPr>
          <a:xfrm>
            <a:off x="292608" y="1216152"/>
            <a:ext cx="8558784" cy="292608"/>
          </a:xfrm>
          <a:prstGeom prst="rect">
            <a:avLst/>
          </a:prstGeom>
          <a:noFill/>
          <a:ln/>
        </p:spPr>
        <p:txBody>
          <a:bodyPr wrap="square" rtlCol="0" anchor="ctr"/>
          <a:lstStyle/>
          <a:p>
            <a:pPr indent="0" marL="0">
              <a:buNone/>
            </a:pPr>
            <a:r>
              <a:rPr lang="en-US" sz="1200" b="1" dirty="0">
                <a:solidFill>
                  <a:srgbClr val="0A1628"/>
                </a:solidFill>
              </a:rPr>
              <a:t>Why this is correct</a:t>
            </a:r>
            <a:endParaRPr lang="en-US" sz="1200" dirty="0"/>
          </a:p>
        </p:txBody>
      </p:sp>
      <p:sp>
        <p:nvSpPr>
          <p:cNvPr id="9" name="Shape 7"/>
          <p:cNvSpPr/>
          <p:nvPr/>
        </p:nvSpPr>
        <p:spPr>
          <a:xfrm>
            <a:off x="292608" y="1517904"/>
            <a:ext cx="8558784" cy="1097280"/>
          </a:xfrm>
          <a:prstGeom prst="rect">
            <a:avLst/>
          </a:prstGeom>
          <a:solidFill>
            <a:srgbClr val="FFFFFF"/>
          </a:solidFill>
          <a:ln w="12700">
            <a:solidFill>
              <a:srgbClr val="C5D8EE"/>
            </a:solidFill>
            <a:prstDash val="solid"/>
          </a:ln>
        </p:spPr>
      </p:sp>
      <p:sp>
        <p:nvSpPr>
          <p:cNvPr id="10" name="Text 8"/>
          <p:cNvSpPr/>
          <p:nvPr/>
        </p:nvSpPr>
        <p:spPr>
          <a:xfrm>
            <a:off x="420624" y="1563624"/>
            <a:ext cx="8321040" cy="1005840"/>
          </a:xfrm>
          <a:prstGeom prst="rect">
            <a:avLst/>
          </a:prstGeom>
          <a:noFill/>
          <a:ln/>
        </p:spPr>
        <p:txBody>
          <a:bodyPr wrap="square" rtlCol="0" anchor="t"/>
          <a:lstStyle/>
          <a:p>
            <a:pPr indent="0" marL="0">
              <a:buNone/>
            </a:pPr>
            <a:r>
              <a:rPr lang="en-US" sz="1150" dirty="0">
                <a:solidFill>
                  <a:srgbClr val="1B2A3B"/>
                </a:solidFill>
              </a:rPr>
              <a:t>Microsoft Entra ID B2B (Business-to-Business) allows external identities — including personal Gmail, Microsoft, or other accounts — to be invited as Guest Users. They retain their own identity and are granted specific access. Member users require a company domain. Service Principals are for apps/services, not humans. Managed Identities are for Azure resources, not external people.</a:t>
            </a:r>
            <a:endParaRPr lang="en-US" sz="1150" dirty="0"/>
          </a:p>
        </p:txBody>
      </p:sp>
      <p:sp>
        <p:nvSpPr>
          <p:cNvPr id="11" name="Text 9"/>
          <p:cNvSpPr/>
          <p:nvPr/>
        </p:nvSpPr>
        <p:spPr>
          <a:xfrm>
            <a:off x="292608" y="2697480"/>
            <a:ext cx="8558784" cy="292608"/>
          </a:xfrm>
          <a:prstGeom prst="rect">
            <a:avLst/>
          </a:prstGeom>
          <a:noFill/>
          <a:ln/>
        </p:spPr>
        <p:txBody>
          <a:bodyPr wrap="square" rtlCol="0" anchor="ctr"/>
          <a:lstStyle/>
          <a:p>
            <a:pPr indent="0" marL="0">
              <a:buNone/>
            </a:pPr>
            <a:r>
              <a:rPr lang="en-US" sz="1200" b="1" dirty="0">
                <a:solidFill>
                  <a:srgbClr val="0A1628"/>
                </a:solidFill>
              </a:rPr>
              <a:t>Why the other options are incorrect</a:t>
            </a:r>
            <a:endParaRPr lang="en-US" sz="1200" dirty="0"/>
          </a:p>
        </p:txBody>
      </p:sp>
      <p:sp>
        <p:nvSpPr>
          <p:cNvPr id="12" name="Shape 10"/>
          <p:cNvSpPr/>
          <p:nvPr/>
        </p:nvSpPr>
        <p:spPr>
          <a:xfrm>
            <a:off x="292608" y="3035808"/>
            <a:ext cx="8558784" cy="603504"/>
          </a:xfrm>
          <a:prstGeom prst="rect">
            <a:avLst/>
          </a:prstGeom>
          <a:solidFill>
            <a:srgbClr val="FAEAEA"/>
          </a:solidFill>
          <a:ln w="12700">
            <a:solidFill>
              <a:srgbClr val="F4AAAA"/>
            </a:solidFill>
            <a:prstDash val="solid"/>
          </a:ln>
        </p:spPr>
      </p:sp>
      <p:sp>
        <p:nvSpPr>
          <p:cNvPr id="13" name="Shape 11"/>
          <p:cNvSpPr/>
          <p:nvPr/>
        </p:nvSpPr>
        <p:spPr>
          <a:xfrm>
            <a:off x="384048" y="3172968"/>
            <a:ext cx="301752" cy="301752"/>
          </a:xfrm>
          <a:prstGeom prst="ellipse">
            <a:avLst/>
          </a:prstGeom>
          <a:solidFill>
            <a:srgbClr val="A80000"/>
          </a:solidFill>
          <a:ln w="12700">
            <a:solidFill>
              <a:srgbClr val="A80000"/>
            </a:solidFill>
            <a:prstDash val="solid"/>
          </a:ln>
        </p:spPr>
      </p:sp>
      <p:sp>
        <p:nvSpPr>
          <p:cNvPr id="14" name="Text 12"/>
          <p:cNvSpPr/>
          <p:nvPr/>
        </p:nvSpPr>
        <p:spPr>
          <a:xfrm>
            <a:off x="384048" y="3172968"/>
            <a:ext cx="301752" cy="301752"/>
          </a:xfrm>
          <a:prstGeom prst="rect">
            <a:avLst/>
          </a:prstGeom>
          <a:noFill/>
          <a:ln/>
        </p:spPr>
        <p:txBody>
          <a:bodyPr wrap="square" rtlCol="0" anchor="ctr"/>
          <a:lstStyle/>
          <a:p>
            <a:pPr algn="ctr" indent="0" marL="0">
              <a:buNone/>
            </a:pPr>
            <a:r>
              <a:rPr lang="en-US" sz="1100" b="1" dirty="0">
                <a:solidFill>
                  <a:srgbClr val="FFFFFF"/>
                </a:solidFill>
              </a:rPr>
              <a:t>A</a:t>
            </a:r>
            <a:endParaRPr lang="en-US" sz="1100" dirty="0"/>
          </a:p>
        </p:txBody>
      </p:sp>
      <p:sp>
        <p:nvSpPr>
          <p:cNvPr id="15" name="Text 13"/>
          <p:cNvSpPr/>
          <p:nvPr/>
        </p:nvSpPr>
        <p:spPr>
          <a:xfrm>
            <a:off x="768096" y="3090672"/>
            <a:ext cx="8010144" cy="493776"/>
          </a:xfrm>
          <a:prstGeom prst="rect">
            <a:avLst/>
          </a:prstGeom>
          <a:noFill/>
          <a:ln/>
        </p:spPr>
        <p:txBody>
          <a:bodyPr wrap="square" rtlCol="0" anchor="ctr"/>
          <a:lstStyle/>
          <a:p>
            <a:pPr indent="0" marL="0">
              <a:buNone/>
            </a:pPr>
            <a:r>
              <a:rPr lang="en-US" sz="1150" dirty="0">
                <a:solidFill>
                  <a:srgbClr val="1B2A3B"/>
                </a:solidFill>
              </a:rPr>
              <a:t>Member users need a corporate domain UPN. External contractors typically do not have company credentials.</a:t>
            </a:r>
            <a:endParaRPr lang="en-US" sz="1150" dirty="0"/>
          </a:p>
        </p:txBody>
      </p:sp>
      <p:sp>
        <p:nvSpPr>
          <p:cNvPr id="16" name="Shape 14"/>
          <p:cNvSpPr/>
          <p:nvPr/>
        </p:nvSpPr>
        <p:spPr>
          <a:xfrm>
            <a:off x="292608" y="3712464"/>
            <a:ext cx="8558784" cy="603504"/>
          </a:xfrm>
          <a:prstGeom prst="rect">
            <a:avLst/>
          </a:prstGeom>
          <a:solidFill>
            <a:srgbClr val="FAEAEA"/>
          </a:solidFill>
          <a:ln w="12700">
            <a:solidFill>
              <a:srgbClr val="F4AAAA"/>
            </a:solidFill>
            <a:prstDash val="solid"/>
          </a:ln>
        </p:spPr>
      </p:sp>
      <p:sp>
        <p:nvSpPr>
          <p:cNvPr id="17" name="Shape 15"/>
          <p:cNvSpPr/>
          <p:nvPr/>
        </p:nvSpPr>
        <p:spPr>
          <a:xfrm>
            <a:off x="384048" y="3849624"/>
            <a:ext cx="301752" cy="301752"/>
          </a:xfrm>
          <a:prstGeom prst="ellipse">
            <a:avLst/>
          </a:prstGeom>
          <a:solidFill>
            <a:srgbClr val="A80000"/>
          </a:solidFill>
          <a:ln w="12700">
            <a:solidFill>
              <a:srgbClr val="A80000"/>
            </a:solidFill>
            <a:prstDash val="solid"/>
          </a:ln>
        </p:spPr>
      </p:sp>
      <p:sp>
        <p:nvSpPr>
          <p:cNvPr id="18" name="Text 16"/>
          <p:cNvSpPr/>
          <p:nvPr/>
        </p:nvSpPr>
        <p:spPr>
          <a:xfrm>
            <a:off x="384048" y="3849624"/>
            <a:ext cx="301752" cy="301752"/>
          </a:xfrm>
          <a:prstGeom prst="rect">
            <a:avLst/>
          </a:prstGeom>
          <a:noFill/>
          <a:ln/>
        </p:spPr>
        <p:txBody>
          <a:bodyPr wrap="square" rtlCol="0" anchor="ctr"/>
          <a:lstStyle/>
          <a:p>
            <a:pPr algn="ctr" indent="0" marL="0">
              <a:buNone/>
            </a:pPr>
            <a:r>
              <a:rPr lang="en-US" sz="1100" b="1" dirty="0">
                <a:solidFill>
                  <a:srgbClr val="FFFFFF"/>
                </a:solidFill>
              </a:rPr>
              <a:t>C</a:t>
            </a:r>
            <a:endParaRPr lang="en-US" sz="1100" dirty="0"/>
          </a:p>
        </p:txBody>
      </p:sp>
      <p:sp>
        <p:nvSpPr>
          <p:cNvPr id="19" name="Text 17"/>
          <p:cNvSpPr/>
          <p:nvPr/>
        </p:nvSpPr>
        <p:spPr>
          <a:xfrm>
            <a:off x="768096" y="3767328"/>
            <a:ext cx="8010144" cy="493776"/>
          </a:xfrm>
          <a:prstGeom prst="rect">
            <a:avLst/>
          </a:prstGeom>
          <a:noFill/>
          <a:ln/>
        </p:spPr>
        <p:txBody>
          <a:bodyPr wrap="square" rtlCol="0" anchor="ctr"/>
          <a:lstStyle/>
          <a:p>
            <a:pPr indent="0" marL="0">
              <a:buNone/>
            </a:pPr>
            <a:r>
              <a:rPr lang="en-US" sz="1150" dirty="0">
                <a:solidFill>
                  <a:srgbClr val="1B2A3B"/>
                </a:solidFill>
              </a:rPr>
              <a:t>Service Principals represent applications or automated processes, not human users.</a:t>
            </a:r>
            <a:endParaRPr lang="en-US" sz="1150" dirty="0"/>
          </a:p>
        </p:txBody>
      </p:sp>
      <p:sp>
        <p:nvSpPr>
          <p:cNvPr id="20" name="Shape 18"/>
          <p:cNvSpPr/>
          <p:nvPr/>
        </p:nvSpPr>
        <p:spPr>
          <a:xfrm>
            <a:off x="292608" y="4389120"/>
            <a:ext cx="8558784" cy="603504"/>
          </a:xfrm>
          <a:prstGeom prst="rect">
            <a:avLst/>
          </a:prstGeom>
          <a:solidFill>
            <a:srgbClr val="FAEAEA"/>
          </a:solidFill>
          <a:ln w="12700">
            <a:solidFill>
              <a:srgbClr val="F4AAAA"/>
            </a:solidFill>
            <a:prstDash val="solid"/>
          </a:ln>
        </p:spPr>
      </p:sp>
      <p:sp>
        <p:nvSpPr>
          <p:cNvPr id="21" name="Shape 19"/>
          <p:cNvSpPr/>
          <p:nvPr/>
        </p:nvSpPr>
        <p:spPr>
          <a:xfrm>
            <a:off x="384048" y="4526280"/>
            <a:ext cx="301752" cy="301752"/>
          </a:xfrm>
          <a:prstGeom prst="ellipse">
            <a:avLst/>
          </a:prstGeom>
          <a:solidFill>
            <a:srgbClr val="A80000"/>
          </a:solidFill>
          <a:ln w="12700">
            <a:solidFill>
              <a:srgbClr val="A80000"/>
            </a:solidFill>
            <a:prstDash val="solid"/>
          </a:ln>
        </p:spPr>
      </p:sp>
      <p:sp>
        <p:nvSpPr>
          <p:cNvPr id="22" name="Text 20"/>
          <p:cNvSpPr/>
          <p:nvPr/>
        </p:nvSpPr>
        <p:spPr>
          <a:xfrm>
            <a:off x="384048" y="4526280"/>
            <a:ext cx="301752" cy="301752"/>
          </a:xfrm>
          <a:prstGeom prst="rect">
            <a:avLst/>
          </a:prstGeom>
          <a:noFill/>
          <a:ln/>
        </p:spPr>
        <p:txBody>
          <a:bodyPr wrap="square" rtlCol="0" anchor="ctr"/>
          <a:lstStyle/>
          <a:p>
            <a:pPr algn="ctr" indent="0" marL="0">
              <a:buNone/>
            </a:pPr>
            <a:r>
              <a:rPr lang="en-US" sz="1100" b="1" dirty="0">
                <a:solidFill>
                  <a:srgbClr val="FFFFFF"/>
                </a:solidFill>
              </a:rPr>
              <a:t>D</a:t>
            </a:r>
            <a:endParaRPr lang="en-US" sz="1100" dirty="0"/>
          </a:p>
        </p:txBody>
      </p:sp>
      <p:sp>
        <p:nvSpPr>
          <p:cNvPr id="23" name="Text 21"/>
          <p:cNvSpPr/>
          <p:nvPr/>
        </p:nvSpPr>
        <p:spPr>
          <a:xfrm>
            <a:off x="768096" y="4443984"/>
            <a:ext cx="8010144" cy="493776"/>
          </a:xfrm>
          <a:prstGeom prst="rect">
            <a:avLst/>
          </a:prstGeom>
          <a:noFill/>
          <a:ln/>
        </p:spPr>
        <p:txBody>
          <a:bodyPr wrap="square" rtlCol="0" anchor="ctr"/>
          <a:lstStyle/>
          <a:p>
            <a:pPr indent="0" marL="0">
              <a:buNone/>
            </a:pPr>
            <a:r>
              <a:rPr lang="en-US" sz="1150" dirty="0">
                <a:solidFill>
                  <a:srgbClr val="1B2A3B"/>
                </a:solidFill>
              </a:rPr>
              <a:t>Managed Identities are system-assigned or user-assigned identities for Azure resources, not for external humans.</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8FD"/>
        </a:solidFill>
      </p:bgPr>
    </p:bg>
    <p:spTree>
      <p:nvGrpSpPr>
        <p:cNvPr id="1" name=""/>
        <p:cNvGrpSpPr/>
        <p:nvPr/>
      </p:nvGrpSpPr>
      <p:grpSpPr>
        <a:xfrm>
          <a:off x="0" y="0"/>
          <a:ext cx="0" cy="0"/>
          <a:chOff x="0" y="0"/>
          <a:chExt cx="0" cy="0"/>
        </a:xfrm>
      </p:grpSpPr>
      <p:sp>
        <p:nvSpPr>
          <p:cNvPr id="2" name="Shape 0"/>
          <p:cNvSpPr/>
          <p:nvPr/>
        </p:nvSpPr>
        <p:spPr>
          <a:xfrm>
            <a:off x="0" y="0"/>
            <a:ext cx="146304" cy="5143500"/>
          </a:xfrm>
          <a:prstGeom prst="rect">
            <a:avLst/>
          </a:prstGeom>
          <a:solidFill>
            <a:srgbClr val="0078D4"/>
          </a:solidFill>
          <a:ln w="12700">
            <a:solidFill>
              <a:srgbClr val="0078D4"/>
            </a:solidFill>
            <a:prstDash val="solid"/>
          </a:ln>
        </p:spPr>
      </p:sp>
      <p:sp>
        <p:nvSpPr>
          <p:cNvPr id="3" name="Shape 1"/>
          <p:cNvSpPr/>
          <p:nvPr/>
        </p:nvSpPr>
        <p:spPr>
          <a:xfrm>
            <a:off x="146304" y="0"/>
            <a:ext cx="8997696" cy="594360"/>
          </a:xfrm>
          <a:prstGeom prst="rect">
            <a:avLst/>
          </a:prstGeom>
          <a:solidFill>
            <a:srgbClr val="0A1628"/>
          </a:solidFill>
          <a:ln w="12700">
            <a:solidFill>
              <a:srgbClr val="0A1628"/>
            </a:solidFill>
            <a:prstDash val="solid"/>
          </a:ln>
        </p:spPr>
      </p:sp>
      <p:sp>
        <p:nvSpPr>
          <p:cNvPr id="4" name="Text 2"/>
          <p:cNvSpPr/>
          <p:nvPr/>
        </p:nvSpPr>
        <p:spPr>
          <a:xfrm>
            <a:off x="292608" y="0"/>
            <a:ext cx="6583680" cy="594360"/>
          </a:xfrm>
          <a:prstGeom prst="rect">
            <a:avLst/>
          </a:prstGeom>
          <a:noFill/>
          <a:ln/>
        </p:spPr>
        <p:txBody>
          <a:bodyPr wrap="square" lIns="0" tIns="0" rIns="0" bIns="0" rtlCol="0" anchor="ctr"/>
          <a:lstStyle/>
          <a:p>
            <a:pPr indent="0" marL="0">
              <a:buNone/>
            </a:pPr>
            <a:r>
              <a:rPr lang="en-US" sz="1200" b="1" dirty="0">
                <a:solidFill>
                  <a:srgbClr val="50E6FF"/>
                </a:solidFill>
              </a:rPr>
              <a:t>❓  QUESTION 3  ·  RBAC</a:t>
            </a:r>
            <a:endParaRPr lang="en-US" sz="1200" dirty="0"/>
          </a:p>
        </p:txBody>
      </p:sp>
      <p:sp>
        <p:nvSpPr>
          <p:cNvPr id="5" name="Text 3"/>
          <p:cNvSpPr/>
          <p:nvPr/>
        </p:nvSpPr>
        <p:spPr>
          <a:xfrm>
            <a:off x="7498080" y="0"/>
            <a:ext cx="1499616" cy="594360"/>
          </a:xfrm>
          <a:prstGeom prst="rect">
            <a:avLst/>
          </a:prstGeom>
          <a:noFill/>
          <a:ln/>
        </p:spPr>
        <p:txBody>
          <a:bodyPr wrap="square" lIns="0" tIns="0" rIns="0" bIns="0" rtlCol="0" anchor="ctr"/>
          <a:lstStyle/>
          <a:p>
            <a:pPr algn="r" indent="0" marL="0">
              <a:buNone/>
            </a:pPr>
            <a:r>
              <a:rPr lang="en-US" sz="1200" b="1" dirty="0">
                <a:solidFill>
                  <a:srgbClr val="6C8EAD"/>
                </a:solidFill>
              </a:rPr>
              <a:t>3 / 20</a:t>
            </a:r>
            <a:endParaRPr lang="en-US" sz="1200" dirty="0"/>
          </a:p>
        </p:txBody>
      </p:sp>
      <p:sp>
        <p:nvSpPr>
          <p:cNvPr id="6" name="Shape 4"/>
          <p:cNvSpPr/>
          <p:nvPr/>
        </p:nvSpPr>
        <p:spPr>
          <a:xfrm>
            <a:off x="292608" y="685800"/>
            <a:ext cx="1097280" cy="256032"/>
          </a:xfrm>
          <a:prstGeom prst="rect">
            <a:avLst/>
          </a:prstGeom>
          <a:solidFill>
            <a:srgbClr val="0078D4"/>
          </a:solidFill>
          <a:ln w="12700">
            <a:solidFill>
              <a:srgbClr val="0078D4"/>
            </a:solidFill>
            <a:prstDash val="solid"/>
          </a:ln>
        </p:spPr>
      </p:sp>
      <p:sp>
        <p:nvSpPr>
          <p:cNvPr id="7" name="Text 5"/>
          <p:cNvSpPr/>
          <p:nvPr/>
        </p:nvSpPr>
        <p:spPr>
          <a:xfrm>
            <a:off x="292608" y="685800"/>
            <a:ext cx="1097280" cy="256032"/>
          </a:xfrm>
          <a:prstGeom prst="rect">
            <a:avLst/>
          </a:prstGeom>
          <a:noFill/>
          <a:ln/>
        </p:spPr>
        <p:txBody>
          <a:bodyPr wrap="square" rtlCol="0" anchor="ctr"/>
          <a:lstStyle/>
          <a:p>
            <a:pPr algn="ctr" indent="0" marL="0">
              <a:buNone/>
            </a:pPr>
            <a:r>
              <a:rPr lang="en-US" sz="800" b="1" dirty="0">
                <a:solidFill>
                  <a:srgbClr val="FFFFFF"/>
                </a:solidFill>
              </a:rPr>
              <a:t>SCENARIO</a:t>
            </a:r>
            <a:endParaRPr lang="en-US" sz="800" dirty="0"/>
          </a:p>
        </p:txBody>
      </p:sp>
      <p:sp>
        <p:nvSpPr>
          <p:cNvPr id="8" name="Shape 6"/>
          <p:cNvSpPr/>
          <p:nvPr/>
        </p:nvSpPr>
        <p:spPr>
          <a:xfrm>
            <a:off x="292608" y="978408"/>
            <a:ext cx="8558784" cy="960120"/>
          </a:xfrm>
          <a:prstGeom prst="rect">
            <a:avLst/>
          </a:prstGeom>
          <a:solidFill>
            <a:srgbClr val="EBF4FF"/>
          </a:solidFill>
          <a:ln w="12700">
            <a:solidFill>
              <a:srgbClr val="0078D4"/>
            </a:solidFill>
            <a:prstDash val="solid"/>
          </a:ln>
        </p:spPr>
      </p:sp>
      <p:sp>
        <p:nvSpPr>
          <p:cNvPr id="9" name="Text 7"/>
          <p:cNvSpPr/>
          <p:nvPr/>
        </p:nvSpPr>
        <p:spPr>
          <a:xfrm>
            <a:off x="420624" y="1024128"/>
            <a:ext cx="8321040" cy="868680"/>
          </a:xfrm>
          <a:prstGeom prst="rect">
            <a:avLst/>
          </a:prstGeom>
          <a:noFill/>
          <a:ln/>
        </p:spPr>
        <p:txBody>
          <a:bodyPr wrap="square" rtlCol="0" anchor="t"/>
          <a:lstStyle/>
          <a:p>
            <a:pPr indent="0" marL="0">
              <a:buNone/>
            </a:pPr>
            <a:r>
              <a:rPr lang="en-US" sz="1250" dirty="0">
                <a:solidFill>
                  <a:srgbClr val="1B2A3B"/>
                </a:solidFill>
              </a:rPr>
              <a:t>A developer at Contoso needs to deploy and manage virtual machines in a specific Resource Group but must not be able to modify networking or billing settings at the subscription level.</a:t>
            </a:r>
            <a:endParaRPr lang="en-US" sz="1250" dirty="0"/>
          </a:p>
        </p:txBody>
      </p:sp>
      <p:sp>
        <p:nvSpPr>
          <p:cNvPr id="10" name="Text 8"/>
          <p:cNvSpPr/>
          <p:nvPr/>
        </p:nvSpPr>
        <p:spPr>
          <a:xfrm>
            <a:off x="292608" y="2048256"/>
            <a:ext cx="8558784" cy="420624"/>
          </a:xfrm>
          <a:prstGeom prst="rect">
            <a:avLst/>
          </a:prstGeom>
          <a:noFill/>
          <a:ln/>
        </p:spPr>
        <p:txBody>
          <a:bodyPr wrap="square" rtlCol="0" anchor="ctr"/>
          <a:lstStyle/>
          <a:p>
            <a:pPr indent="0" marL="0">
              <a:buNone/>
            </a:pPr>
            <a:r>
              <a:rPr lang="en-US" sz="1350" b="1" dirty="0">
                <a:solidFill>
                  <a:srgbClr val="0A1628"/>
                </a:solidFill>
              </a:rPr>
              <a:t>What is the most appropriate RBAC configuration?</a:t>
            </a:r>
            <a:endParaRPr lang="en-US" sz="1350" dirty="0"/>
          </a:p>
        </p:txBody>
      </p:sp>
      <p:sp>
        <p:nvSpPr>
          <p:cNvPr id="11" name="Shape 9"/>
          <p:cNvSpPr/>
          <p:nvPr/>
        </p:nvSpPr>
        <p:spPr>
          <a:xfrm>
            <a:off x="292608" y="2523744"/>
            <a:ext cx="8558784" cy="539496"/>
          </a:xfrm>
          <a:prstGeom prst="rect">
            <a:avLst/>
          </a:prstGeom>
          <a:solidFill>
            <a:srgbClr val="FFFFFF"/>
          </a:solidFill>
          <a:ln w="12700">
            <a:solidFill>
              <a:srgbClr val="C5D8EE"/>
            </a:solidFill>
            <a:prstDash val="solid"/>
          </a:ln>
        </p:spPr>
      </p:sp>
      <p:sp>
        <p:nvSpPr>
          <p:cNvPr id="12" name="Shape 10"/>
          <p:cNvSpPr/>
          <p:nvPr/>
        </p:nvSpPr>
        <p:spPr>
          <a:xfrm>
            <a:off x="384048" y="2633472"/>
            <a:ext cx="329184" cy="329184"/>
          </a:xfrm>
          <a:prstGeom prst="ellipse">
            <a:avLst/>
          </a:prstGeom>
          <a:solidFill>
            <a:srgbClr val="1B3A5C"/>
          </a:solidFill>
          <a:ln w="12700">
            <a:solidFill>
              <a:srgbClr val="1B3A5C"/>
            </a:solidFill>
            <a:prstDash val="solid"/>
          </a:ln>
        </p:spPr>
      </p:sp>
      <p:sp>
        <p:nvSpPr>
          <p:cNvPr id="13" name="Text 11"/>
          <p:cNvSpPr/>
          <p:nvPr/>
        </p:nvSpPr>
        <p:spPr>
          <a:xfrm>
            <a:off x="384048" y="2633472"/>
            <a:ext cx="329184" cy="329184"/>
          </a:xfrm>
          <a:prstGeom prst="rect">
            <a:avLst/>
          </a:prstGeom>
          <a:noFill/>
          <a:ln/>
        </p:spPr>
        <p:txBody>
          <a:bodyPr wrap="square" rtlCol="0" anchor="ctr"/>
          <a:lstStyle/>
          <a:p>
            <a:pPr algn="ctr" indent="0" marL="0">
              <a:buNone/>
            </a:pPr>
            <a:r>
              <a:rPr lang="en-US" sz="1100" b="1" dirty="0">
                <a:solidFill>
                  <a:srgbClr val="FFFFFF"/>
                </a:solidFill>
              </a:rPr>
              <a:t>A</a:t>
            </a:r>
            <a:endParaRPr lang="en-US" sz="1100" dirty="0"/>
          </a:p>
        </p:txBody>
      </p:sp>
      <p:sp>
        <p:nvSpPr>
          <p:cNvPr id="14" name="Text 12"/>
          <p:cNvSpPr/>
          <p:nvPr/>
        </p:nvSpPr>
        <p:spPr>
          <a:xfrm>
            <a:off x="786384" y="2615184"/>
            <a:ext cx="7991856" cy="365760"/>
          </a:xfrm>
          <a:prstGeom prst="rect">
            <a:avLst/>
          </a:prstGeom>
          <a:noFill/>
          <a:ln/>
        </p:spPr>
        <p:txBody>
          <a:bodyPr wrap="square" rtlCol="0" anchor="ctr"/>
          <a:lstStyle/>
          <a:p>
            <a:pPr indent="0" marL="0">
              <a:buNone/>
            </a:pPr>
            <a:r>
              <a:rPr lang="en-US" sz="1250" dirty="0">
                <a:solidFill>
                  <a:srgbClr val="1B2A3B"/>
                </a:solidFill>
              </a:rPr>
              <a:t>Assign the Owner role at the Subscription level</a:t>
            </a:r>
            <a:endParaRPr lang="en-US" sz="1250" dirty="0"/>
          </a:p>
        </p:txBody>
      </p:sp>
      <p:sp>
        <p:nvSpPr>
          <p:cNvPr id="15" name="Shape 13"/>
          <p:cNvSpPr/>
          <p:nvPr/>
        </p:nvSpPr>
        <p:spPr>
          <a:xfrm>
            <a:off x="292608" y="3154680"/>
            <a:ext cx="8558784" cy="539496"/>
          </a:xfrm>
          <a:prstGeom prst="rect">
            <a:avLst/>
          </a:prstGeom>
          <a:solidFill>
            <a:srgbClr val="FFFFFF"/>
          </a:solidFill>
          <a:ln w="12700">
            <a:solidFill>
              <a:srgbClr val="C5D8EE"/>
            </a:solidFill>
            <a:prstDash val="solid"/>
          </a:ln>
        </p:spPr>
      </p:sp>
      <p:sp>
        <p:nvSpPr>
          <p:cNvPr id="16" name="Shape 14"/>
          <p:cNvSpPr/>
          <p:nvPr/>
        </p:nvSpPr>
        <p:spPr>
          <a:xfrm>
            <a:off x="384048" y="3264408"/>
            <a:ext cx="329184" cy="329184"/>
          </a:xfrm>
          <a:prstGeom prst="ellipse">
            <a:avLst/>
          </a:prstGeom>
          <a:solidFill>
            <a:srgbClr val="1B3A5C"/>
          </a:solidFill>
          <a:ln w="12700">
            <a:solidFill>
              <a:srgbClr val="1B3A5C"/>
            </a:solidFill>
            <a:prstDash val="solid"/>
          </a:ln>
        </p:spPr>
      </p:sp>
      <p:sp>
        <p:nvSpPr>
          <p:cNvPr id="17" name="Text 15"/>
          <p:cNvSpPr/>
          <p:nvPr/>
        </p:nvSpPr>
        <p:spPr>
          <a:xfrm>
            <a:off x="384048" y="3264408"/>
            <a:ext cx="329184" cy="329184"/>
          </a:xfrm>
          <a:prstGeom prst="rect">
            <a:avLst/>
          </a:prstGeom>
          <a:noFill/>
          <a:ln/>
        </p:spPr>
        <p:txBody>
          <a:bodyPr wrap="square" rtlCol="0" anchor="ctr"/>
          <a:lstStyle/>
          <a:p>
            <a:pPr algn="ctr" indent="0" marL="0">
              <a:buNone/>
            </a:pPr>
            <a:r>
              <a:rPr lang="en-US" sz="1100" b="1" dirty="0">
                <a:solidFill>
                  <a:srgbClr val="FFFFFF"/>
                </a:solidFill>
              </a:rPr>
              <a:t>B</a:t>
            </a:r>
            <a:endParaRPr lang="en-US" sz="1100" dirty="0"/>
          </a:p>
        </p:txBody>
      </p:sp>
      <p:sp>
        <p:nvSpPr>
          <p:cNvPr id="18" name="Text 16"/>
          <p:cNvSpPr/>
          <p:nvPr/>
        </p:nvSpPr>
        <p:spPr>
          <a:xfrm>
            <a:off x="786384" y="3246120"/>
            <a:ext cx="7991856" cy="365760"/>
          </a:xfrm>
          <a:prstGeom prst="rect">
            <a:avLst/>
          </a:prstGeom>
          <a:noFill/>
          <a:ln/>
        </p:spPr>
        <p:txBody>
          <a:bodyPr wrap="square" rtlCol="0" anchor="ctr"/>
          <a:lstStyle/>
          <a:p>
            <a:pPr indent="0" marL="0">
              <a:buNone/>
            </a:pPr>
            <a:r>
              <a:rPr lang="en-US" sz="1250" dirty="0">
                <a:solidFill>
                  <a:srgbClr val="1B2A3B"/>
                </a:solidFill>
              </a:rPr>
              <a:t>Assign the Contributor role scoped to the specific Resource Group</a:t>
            </a:r>
            <a:endParaRPr lang="en-US" sz="1250" dirty="0"/>
          </a:p>
        </p:txBody>
      </p:sp>
      <p:sp>
        <p:nvSpPr>
          <p:cNvPr id="19" name="Shape 17"/>
          <p:cNvSpPr/>
          <p:nvPr/>
        </p:nvSpPr>
        <p:spPr>
          <a:xfrm>
            <a:off x="292608" y="3785616"/>
            <a:ext cx="8558784" cy="539496"/>
          </a:xfrm>
          <a:prstGeom prst="rect">
            <a:avLst/>
          </a:prstGeom>
          <a:solidFill>
            <a:srgbClr val="FFFFFF"/>
          </a:solidFill>
          <a:ln w="12700">
            <a:solidFill>
              <a:srgbClr val="C5D8EE"/>
            </a:solidFill>
            <a:prstDash val="solid"/>
          </a:ln>
        </p:spPr>
      </p:sp>
      <p:sp>
        <p:nvSpPr>
          <p:cNvPr id="20" name="Shape 18"/>
          <p:cNvSpPr/>
          <p:nvPr/>
        </p:nvSpPr>
        <p:spPr>
          <a:xfrm>
            <a:off x="384048" y="3895344"/>
            <a:ext cx="329184" cy="329184"/>
          </a:xfrm>
          <a:prstGeom prst="ellipse">
            <a:avLst/>
          </a:prstGeom>
          <a:solidFill>
            <a:srgbClr val="1B3A5C"/>
          </a:solidFill>
          <a:ln w="12700">
            <a:solidFill>
              <a:srgbClr val="1B3A5C"/>
            </a:solidFill>
            <a:prstDash val="solid"/>
          </a:ln>
        </p:spPr>
      </p:sp>
      <p:sp>
        <p:nvSpPr>
          <p:cNvPr id="21" name="Text 19"/>
          <p:cNvSpPr/>
          <p:nvPr/>
        </p:nvSpPr>
        <p:spPr>
          <a:xfrm>
            <a:off x="384048" y="3895344"/>
            <a:ext cx="329184" cy="329184"/>
          </a:xfrm>
          <a:prstGeom prst="rect">
            <a:avLst/>
          </a:prstGeom>
          <a:noFill/>
          <a:ln/>
        </p:spPr>
        <p:txBody>
          <a:bodyPr wrap="square" rtlCol="0" anchor="ctr"/>
          <a:lstStyle/>
          <a:p>
            <a:pPr algn="ctr" indent="0" marL="0">
              <a:buNone/>
            </a:pPr>
            <a:r>
              <a:rPr lang="en-US" sz="1100" b="1" dirty="0">
                <a:solidFill>
                  <a:srgbClr val="FFFFFF"/>
                </a:solidFill>
              </a:rPr>
              <a:t>C</a:t>
            </a:r>
            <a:endParaRPr lang="en-US" sz="1100" dirty="0"/>
          </a:p>
        </p:txBody>
      </p:sp>
      <p:sp>
        <p:nvSpPr>
          <p:cNvPr id="22" name="Text 20"/>
          <p:cNvSpPr/>
          <p:nvPr/>
        </p:nvSpPr>
        <p:spPr>
          <a:xfrm>
            <a:off x="786384" y="3877056"/>
            <a:ext cx="7991856" cy="365760"/>
          </a:xfrm>
          <a:prstGeom prst="rect">
            <a:avLst/>
          </a:prstGeom>
          <a:noFill/>
          <a:ln/>
        </p:spPr>
        <p:txBody>
          <a:bodyPr wrap="square" rtlCol="0" anchor="ctr"/>
          <a:lstStyle/>
          <a:p>
            <a:pPr indent="0" marL="0">
              <a:buNone/>
            </a:pPr>
            <a:r>
              <a:rPr lang="en-US" sz="1250" dirty="0">
                <a:solidFill>
                  <a:srgbClr val="1B2A3B"/>
                </a:solidFill>
              </a:rPr>
              <a:t>Assign the Reader role at the Resource Group level</a:t>
            </a:r>
            <a:endParaRPr lang="en-US" sz="1250" dirty="0"/>
          </a:p>
        </p:txBody>
      </p:sp>
      <p:sp>
        <p:nvSpPr>
          <p:cNvPr id="23" name="Shape 21"/>
          <p:cNvSpPr/>
          <p:nvPr/>
        </p:nvSpPr>
        <p:spPr>
          <a:xfrm>
            <a:off x="292608" y="4416552"/>
            <a:ext cx="8558784" cy="539496"/>
          </a:xfrm>
          <a:prstGeom prst="rect">
            <a:avLst/>
          </a:prstGeom>
          <a:solidFill>
            <a:srgbClr val="FFFFFF"/>
          </a:solidFill>
          <a:ln w="12700">
            <a:solidFill>
              <a:srgbClr val="C5D8EE"/>
            </a:solidFill>
            <a:prstDash val="solid"/>
          </a:ln>
        </p:spPr>
      </p:sp>
      <p:sp>
        <p:nvSpPr>
          <p:cNvPr id="24" name="Shape 22"/>
          <p:cNvSpPr/>
          <p:nvPr/>
        </p:nvSpPr>
        <p:spPr>
          <a:xfrm>
            <a:off x="384048" y="4526280"/>
            <a:ext cx="329184" cy="329184"/>
          </a:xfrm>
          <a:prstGeom prst="ellipse">
            <a:avLst/>
          </a:prstGeom>
          <a:solidFill>
            <a:srgbClr val="1B3A5C"/>
          </a:solidFill>
          <a:ln w="12700">
            <a:solidFill>
              <a:srgbClr val="1B3A5C"/>
            </a:solidFill>
            <a:prstDash val="solid"/>
          </a:ln>
        </p:spPr>
      </p:sp>
      <p:sp>
        <p:nvSpPr>
          <p:cNvPr id="25" name="Text 23"/>
          <p:cNvSpPr/>
          <p:nvPr/>
        </p:nvSpPr>
        <p:spPr>
          <a:xfrm>
            <a:off x="384048" y="4526280"/>
            <a:ext cx="329184" cy="329184"/>
          </a:xfrm>
          <a:prstGeom prst="rect">
            <a:avLst/>
          </a:prstGeom>
          <a:noFill/>
          <a:ln/>
        </p:spPr>
        <p:txBody>
          <a:bodyPr wrap="square" rtlCol="0" anchor="ctr"/>
          <a:lstStyle/>
          <a:p>
            <a:pPr algn="ctr" indent="0" marL="0">
              <a:buNone/>
            </a:pPr>
            <a:r>
              <a:rPr lang="en-US" sz="1100" b="1" dirty="0">
                <a:solidFill>
                  <a:srgbClr val="FFFFFF"/>
                </a:solidFill>
              </a:rPr>
              <a:t>D</a:t>
            </a:r>
            <a:endParaRPr lang="en-US" sz="1100" dirty="0"/>
          </a:p>
        </p:txBody>
      </p:sp>
      <p:sp>
        <p:nvSpPr>
          <p:cNvPr id="26" name="Text 24"/>
          <p:cNvSpPr/>
          <p:nvPr/>
        </p:nvSpPr>
        <p:spPr>
          <a:xfrm>
            <a:off x="786384" y="4507992"/>
            <a:ext cx="7991856" cy="365760"/>
          </a:xfrm>
          <a:prstGeom prst="rect">
            <a:avLst/>
          </a:prstGeom>
          <a:noFill/>
          <a:ln/>
        </p:spPr>
        <p:txBody>
          <a:bodyPr wrap="square" rtlCol="0" anchor="ctr"/>
          <a:lstStyle/>
          <a:p>
            <a:pPr indent="0" marL="0">
              <a:buNone/>
            </a:pPr>
            <a:r>
              <a:rPr lang="en-US" sz="1250" dirty="0">
                <a:solidFill>
                  <a:srgbClr val="1B2A3B"/>
                </a:solidFill>
              </a:rPr>
              <a:t>Assign the Virtual Machine Contributor role at the Subscription level</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8FD"/>
        </a:solidFill>
      </p:bgPr>
    </p:bg>
    <p:spTree>
      <p:nvGrpSpPr>
        <p:cNvPr id="1" name=""/>
        <p:cNvGrpSpPr/>
        <p:nvPr/>
      </p:nvGrpSpPr>
      <p:grpSpPr>
        <a:xfrm>
          <a:off x="0" y="0"/>
          <a:ext cx="0" cy="0"/>
          <a:chOff x="0" y="0"/>
          <a:chExt cx="0" cy="0"/>
        </a:xfrm>
      </p:grpSpPr>
      <p:sp>
        <p:nvSpPr>
          <p:cNvPr id="2" name="Shape 0"/>
          <p:cNvSpPr/>
          <p:nvPr/>
        </p:nvSpPr>
        <p:spPr>
          <a:xfrm>
            <a:off x="0" y="0"/>
            <a:ext cx="146304" cy="5143500"/>
          </a:xfrm>
          <a:prstGeom prst="rect">
            <a:avLst/>
          </a:prstGeom>
          <a:solidFill>
            <a:srgbClr val="107C10"/>
          </a:solidFill>
          <a:ln w="12700">
            <a:solidFill>
              <a:srgbClr val="107C10"/>
            </a:solidFill>
            <a:prstDash val="solid"/>
          </a:ln>
        </p:spPr>
      </p:sp>
      <p:sp>
        <p:nvSpPr>
          <p:cNvPr id="3" name="Shape 1"/>
          <p:cNvSpPr/>
          <p:nvPr/>
        </p:nvSpPr>
        <p:spPr>
          <a:xfrm>
            <a:off x="146304" y="0"/>
            <a:ext cx="8997696" cy="594360"/>
          </a:xfrm>
          <a:prstGeom prst="rect">
            <a:avLst/>
          </a:prstGeom>
          <a:solidFill>
            <a:srgbClr val="0A1628"/>
          </a:solidFill>
          <a:ln w="12700">
            <a:solidFill>
              <a:srgbClr val="0A1628"/>
            </a:solidFill>
            <a:prstDash val="solid"/>
          </a:ln>
        </p:spPr>
      </p:sp>
      <p:sp>
        <p:nvSpPr>
          <p:cNvPr id="4" name="Text 2"/>
          <p:cNvSpPr/>
          <p:nvPr/>
        </p:nvSpPr>
        <p:spPr>
          <a:xfrm>
            <a:off x="292608" y="0"/>
            <a:ext cx="6583680" cy="594360"/>
          </a:xfrm>
          <a:prstGeom prst="rect">
            <a:avLst/>
          </a:prstGeom>
          <a:noFill/>
          <a:ln/>
        </p:spPr>
        <p:txBody>
          <a:bodyPr wrap="square" lIns="0" tIns="0" rIns="0" bIns="0" rtlCol="0" anchor="ctr"/>
          <a:lstStyle/>
          <a:p>
            <a:pPr indent="0" marL="0">
              <a:buNone/>
            </a:pPr>
            <a:r>
              <a:rPr lang="en-US" sz="1200" b="1" dirty="0">
                <a:solidFill>
                  <a:srgbClr val="00FF90"/>
                </a:solidFill>
              </a:rPr>
              <a:t>✅  ANSWER 3  ·  RBAC</a:t>
            </a:r>
            <a:endParaRPr lang="en-US" sz="1200" dirty="0"/>
          </a:p>
        </p:txBody>
      </p:sp>
      <p:sp>
        <p:nvSpPr>
          <p:cNvPr id="5" name="Text 3"/>
          <p:cNvSpPr/>
          <p:nvPr/>
        </p:nvSpPr>
        <p:spPr>
          <a:xfrm>
            <a:off x="7498080" y="0"/>
            <a:ext cx="1499616" cy="594360"/>
          </a:xfrm>
          <a:prstGeom prst="rect">
            <a:avLst/>
          </a:prstGeom>
          <a:noFill/>
          <a:ln/>
        </p:spPr>
        <p:txBody>
          <a:bodyPr wrap="square" lIns="0" tIns="0" rIns="0" bIns="0" rtlCol="0" anchor="ctr"/>
          <a:lstStyle/>
          <a:p>
            <a:pPr algn="r" indent="0" marL="0">
              <a:buNone/>
            </a:pPr>
            <a:r>
              <a:rPr lang="en-US" sz="1200" b="1" dirty="0">
                <a:solidFill>
                  <a:srgbClr val="6C8EAD"/>
                </a:solidFill>
              </a:rPr>
              <a:t>3 / 20</a:t>
            </a:r>
            <a:endParaRPr lang="en-US" sz="1200" dirty="0"/>
          </a:p>
        </p:txBody>
      </p:sp>
      <p:sp>
        <p:nvSpPr>
          <p:cNvPr id="6" name="Shape 4"/>
          <p:cNvSpPr/>
          <p:nvPr/>
        </p:nvSpPr>
        <p:spPr>
          <a:xfrm>
            <a:off x="292608" y="658368"/>
            <a:ext cx="8558784" cy="475488"/>
          </a:xfrm>
          <a:prstGeom prst="rect">
            <a:avLst/>
          </a:prstGeom>
          <a:solidFill>
            <a:srgbClr val="E6F3E6"/>
          </a:solidFill>
          <a:ln w="25400">
            <a:solidFill>
              <a:srgbClr val="107C10"/>
            </a:solidFill>
            <a:prstDash val="solid"/>
          </a:ln>
        </p:spPr>
      </p:sp>
      <p:sp>
        <p:nvSpPr>
          <p:cNvPr id="7" name="Text 5"/>
          <p:cNvSpPr/>
          <p:nvPr/>
        </p:nvSpPr>
        <p:spPr>
          <a:xfrm>
            <a:off x="420624" y="658368"/>
            <a:ext cx="8321040" cy="475488"/>
          </a:xfrm>
          <a:prstGeom prst="rect">
            <a:avLst/>
          </a:prstGeom>
          <a:noFill/>
          <a:ln/>
        </p:spPr>
        <p:txBody>
          <a:bodyPr wrap="square" rtlCol="0" anchor="ctr"/>
          <a:lstStyle/>
          <a:p>
            <a:pPr indent="0" marL="0">
              <a:buNone/>
            </a:pPr>
            <a:r>
              <a:rPr lang="en-US" sz="1300" b="1" dirty="0">
                <a:solidFill>
                  <a:srgbClr val="107C10"/>
                </a:solidFill>
              </a:rPr>
              <a:t>✔  Correct: B — Assign the Contributor role scoped to the specific Resource Group</a:t>
            </a:r>
            <a:endParaRPr lang="en-US" sz="1300" dirty="0"/>
          </a:p>
        </p:txBody>
      </p:sp>
      <p:sp>
        <p:nvSpPr>
          <p:cNvPr id="8" name="Text 6"/>
          <p:cNvSpPr/>
          <p:nvPr/>
        </p:nvSpPr>
        <p:spPr>
          <a:xfrm>
            <a:off x="292608" y="1216152"/>
            <a:ext cx="8558784" cy="292608"/>
          </a:xfrm>
          <a:prstGeom prst="rect">
            <a:avLst/>
          </a:prstGeom>
          <a:noFill/>
          <a:ln/>
        </p:spPr>
        <p:txBody>
          <a:bodyPr wrap="square" rtlCol="0" anchor="ctr"/>
          <a:lstStyle/>
          <a:p>
            <a:pPr indent="0" marL="0">
              <a:buNone/>
            </a:pPr>
            <a:r>
              <a:rPr lang="en-US" sz="1200" b="1" dirty="0">
                <a:solidFill>
                  <a:srgbClr val="0A1628"/>
                </a:solidFill>
              </a:rPr>
              <a:t>Why this is correct</a:t>
            </a:r>
            <a:endParaRPr lang="en-US" sz="1200" dirty="0"/>
          </a:p>
        </p:txBody>
      </p:sp>
      <p:sp>
        <p:nvSpPr>
          <p:cNvPr id="9" name="Shape 7"/>
          <p:cNvSpPr/>
          <p:nvPr/>
        </p:nvSpPr>
        <p:spPr>
          <a:xfrm>
            <a:off x="292608" y="1517904"/>
            <a:ext cx="8558784" cy="1097280"/>
          </a:xfrm>
          <a:prstGeom prst="rect">
            <a:avLst/>
          </a:prstGeom>
          <a:solidFill>
            <a:srgbClr val="FFFFFF"/>
          </a:solidFill>
          <a:ln w="12700">
            <a:solidFill>
              <a:srgbClr val="C5D8EE"/>
            </a:solidFill>
            <a:prstDash val="solid"/>
          </a:ln>
        </p:spPr>
      </p:sp>
      <p:sp>
        <p:nvSpPr>
          <p:cNvPr id="10" name="Text 8"/>
          <p:cNvSpPr/>
          <p:nvPr/>
        </p:nvSpPr>
        <p:spPr>
          <a:xfrm>
            <a:off x="420624" y="1563624"/>
            <a:ext cx="8321040" cy="1005840"/>
          </a:xfrm>
          <a:prstGeom prst="rect">
            <a:avLst/>
          </a:prstGeom>
          <a:noFill/>
          <a:ln/>
        </p:spPr>
        <p:txBody>
          <a:bodyPr wrap="square" rtlCol="0" anchor="t"/>
          <a:lstStyle/>
          <a:p>
            <a:pPr indent="0" marL="0">
              <a:buNone/>
            </a:pPr>
            <a:r>
              <a:rPr lang="en-US" sz="1150" dirty="0">
                <a:solidFill>
                  <a:srgbClr val="1B2A3B"/>
                </a:solidFill>
              </a:rPr>
              <a:t>The Contributor role at the Resource Group scope grants full create/manage permissions on all resources within that group, without affecting networking or billing at the subscription level. Owner at subscription is too broad. Reader provides read-only access. VM Contributor at subscription is broader than required and could affect VMs in other RGs.</a:t>
            </a:r>
            <a:endParaRPr lang="en-US" sz="1150" dirty="0"/>
          </a:p>
        </p:txBody>
      </p:sp>
      <p:sp>
        <p:nvSpPr>
          <p:cNvPr id="11" name="Text 9"/>
          <p:cNvSpPr/>
          <p:nvPr/>
        </p:nvSpPr>
        <p:spPr>
          <a:xfrm>
            <a:off x="292608" y="2697480"/>
            <a:ext cx="8558784" cy="292608"/>
          </a:xfrm>
          <a:prstGeom prst="rect">
            <a:avLst/>
          </a:prstGeom>
          <a:noFill/>
          <a:ln/>
        </p:spPr>
        <p:txBody>
          <a:bodyPr wrap="square" rtlCol="0" anchor="ctr"/>
          <a:lstStyle/>
          <a:p>
            <a:pPr indent="0" marL="0">
              <a:buNone/>
            </a:pPr>
            <a:r>
              <a:rPr lang="en-US" sz="1200" b="1" dirty="0">
                <a:solidFill>
                  <a:srgbClr val="0A1628"/>
                </a:solidFill>
              </a:rPr>
              <a:t>Why the other options are incorrect</a:t>
            </a:r>
            <a:endParaRPr lang="en-US" sz="1200" dirty="0"/>
          </a:p>
        </p:txBody>
      </p:sp>
      <p:sp>
        <p:nvSpPr>
          <p:cNvPr id="12" name="Shape 10"/>
          <p:cNvSpPr/>
          <p:nvPr/>
        </p:nvSpPr>
        <p:spPr>
          <a:xfrm>
            <a:off x="292608" y="3035808"/>
            <a:ext cx="8558784" cy="603504"/>
          </a:xfrm>
          <a:prstGeom prst="rect">
            <a:avLst/>
          </a:prstGeom>
          <a:solidFill>
            <a:srgbClr val="FAEAEA"/>
          </a:solidFill>
          <a:ln w="12700">
            <a:solidFill>
              <a:srgbClr val="F4AAAA"/>
            </a:solidFill>
            <a:prstDash val="solid"/>
          </a:ln>
        </p:spPr>
      </p:sp>
      <p:sp>
        <p:nvSpPr>
          <p:cNvPr id="13" name="Shape 11"/>
          <p:cNvSpPr/>
          <p:nvPr/>
        </p:nvSpPr>
        <p:spPr>
          <a:xfrm>
            <a:off x="384048" y="3172968"/>
            <a:ext cx="301752" cy="301752"/>
          </a:xfrm>
          <a:prstGeom prst="ellipse">
            <a:avLst/>
          </a:prstGeom>
          <a:solidFill>
            <a:srgbClr val="A80000"/>
          </a:solidFill>
          <a:ln w="12700">
            <a:solidFill>
              <a:srgbClr val="A80000"/>
            </a:solidFill>
            <a:prstDash val="solid"/>
          </a:ln>
        </p:spPr>
      </p:sp>
      <p:sp>
        <p:nvSpPr>
          <p:cNvPr id="14" name="Text 12"/>
          <p:cNvSpPr/>
          <p:nvPr/>
        </p:nvSpPr>
        <p:spPr>
          <a:xfrm>
            <a:off x="384048" y="3172968"/>
            <a:ext cx="301752" cy="301752"/>
          </a:xfrm>
          <a:prstGeom prst="rect">
            <a:avLst/>
          </a:prstGeom>
          <a:noFill/>
          <a:ln/>
        </p:spPr>
        <p:txBody>
          <a:bodyPr wrap="square" rtlCol="0" anchor="ctr"/>
          <a:lstStyle/>
          <a:p>
            <a:pPr algn="ctr" indent="0" marL="0">
              <a:buNone/>
            </a:pPr>
            <a:r>
              <a:rPr lang="en-US" sz="1100" b="1" dirty="0">
                <a:solidFill>
                  <a:srgbClr val="FFFFFF"/>
                </a:solidFill>
              </a:rPr>
              <a:t>A</a:t>
            </a:r>
            <a:endParaRPr lang="en-US" sz="1100" dirty="0"/>
          </a:p>
        </p:txBody>
      </p:sp>
      <p:sp>
        <p:nvSpPr>
          <p:cNvPr id="15" name="Text 13"/>
          <p:cNvSpPr/>
          <p:nvPr/>
        </p:nvSpPr>
        <p:spPr>
          <a:xfrm>
            <a:off x="768096" y="3090672"/>
            <a:ext cx="8010144" cy="493776"/>
          </a:xfrm>
          <a:prstGeom prst="rect">
            <a:avLst/>
          </a:prstGeom>
          <a:noFill/>
          <a:ln/>
        </p:spPr>
        <p:txBody>
          <a:bodyPr wrap="square" rtlCol="0" anchor="ctr"/>
          <a:lstStyle/>
          <a:p>
            <a:pPr indent="0" marL="0">
              <a:buNone/>
            </a:pPr>
            <a:r>
              <a:rPr lang="en-US" sz="1150" dirty="0">
                <a:solidFill>
                  <a:srgbClr val="1B2A3B"/>
                </a:solidFill>
              </a:rPr>
              <a:t>Owner at Subscription grants all permissions including access management across the entire subscription — far broader than needed.</a:t>
            </a:r>
            <a:endParaRPr lang="en-US" sz="1150" dirty="0"/>
          </a:p>
        </p:txBody>
      </p:sp>
      <p:sp>
        <p:nvSpPr>
          <p:cNvPr id="16" name="Shape 14"/>
          <p:cNvSpPr/>
          <p:nvPr/>
        </p:nvSpPr>
        <p:spPr>
          <a:xfrm>
            <a:off x="292608" y="3712464"/>
            <a:ext cx="8558784" cy="603504"/>
          </a:xfrm>
          <a:prstGeom prst="rect">
            <a:avLst/>
          </a:prstGeom>
          <a:solidFill>
            <a:srgbClr val="FAEAEA"/>
          </a:solidFill>
          <a:ln w="12700">
            <a:solidFill>
              <a:srgbClr val="F4AAAA"/>
            </a:solidFill>
            <a:prstDash val="solid"/>
          </a:ln>
        </p:spPr>
      </p:sp>
      <p:sp>
        <p:nvSpPr>
          <p:cNvPr id="17" name="Shape 15"/>
          <p:cNvSpPr/>
          <p:nvPr/>
        </p:nvSpPr>
        <p:spPr>
          <a:xfrm>
            <a:off x="384048" y="3849624"/>
            <a:ext cx="301752" cy="301752"/>
          </a:xfrm>
          <a:prstGeom prst="ellipse">
            <a:avLst/>
          </a:prstGeom>
          <a:solidFill>
            <a:srgbClr val="A80000"/>
          </a:solidFill>
          <a:ln w="12700">
            <a:solidFill>
              <a:srgbClr val="A80000"/>
            </a:solidFill>
            <a:prstDash val="solid"/>
          </a:ln>
        </p:spPr>
      </p:sp>
      <p:sp>
        <p:nvSpPr>
          <p:cNvPr id="18" name="Text 16"/>
          <p:cNvSpPr/>
          <p:nvPr/>
        </p:nvSpPr>
        <p:spPr>
          <a:xfrm>
            <a:off x="384048" y="3849624"/>
            <a:ext cx="301752" cy="301752"/>
          </a:xfrm>
          <a:prstGeom prst="rect">
            <a:avLst/>
          </a:prstGeom>
          <a:noFill/>
          <a:ln/>
        </p:spPr>
        <p:txBody>
          <a:bodyPr wrap="square" rtlCol="0" anchor="ctr"/>
          <a:lstStyle/>
          <a:p>
            <a:pPr algn="ctr" indent="0" marL="0">
              <a:buNone/>
            </a:pPr>
            <a:r>
              <a:rPr lang="en-US" sz="1100" b="1" dirty="0">
                <a:solidFill>
                  <a:srgbClr val="FFFFFF"/>
                </a:solidFill>
              </a:rPr>
              <a:t>C</a:t>
            </a:r>
            <a:endParaRPr lang="en-US" sz="1100" dirty="0"/>
          </a:p>
        </p:txBody>
      </p:sp>
      <p:sp>
        <p:nvSpPr>
          <p:cNvPr id="19" name="Text 17"/>
          <p:cNvSpPr/>
          <p:nvPr/>
        </p:nvSpPr>
        <p:spPr>
          <a:xfrm>
            <a:off x="768096" y="3767328"/>
            <a:ext cx="8010144" cy="493776"/>
          </a:xfrm>
          <a:prstGeom prst="rect">
            <a:avLst/>
          </a:prstGeom>
          <a:noFill/>
          <a:ln/>
        </p:spPr>
        <p:txBody>
          <a:bodyPr wrap="square" rtlCol="0" anchor="ctr"/>
          <a:lstStyle/>
          <a:p>
            <a:pPr indent="0" marL="0">
              <a:buNone/>
            </a:pPr>
            <a:r>
              <a:rPr lang="en-US" sz="1150" dirty="0">
                <a:solidFill>
                  <a:srgbClr val="1B2A3B"/>
                </a:solidFill>
              </a:rPr>
              <a:t>Reader is read-only and would not allow the developer to deploy or manage VMs.</a:t>
            </a:r>
            <a:endParaRPr lang="en-US" sz="1150" dirty="0"/>
          </a:p>
        </p:txBody>
      </p:sp>
      <p:sp>
        <p:nvSpPr>
          <p:cNvPr id="20" name="Shape 18"/>
          <p:cNvSpPr/>
          <p:nvPr/>
        </p:nvSpPr>
        <p:spPr>
          <a:xfrm>
            <a:off x="292608" y="4389120"/>
            <a:ext cx="8558784" cy="603504"/>
          </a:xfrm>
          <a:prstGeom prst="rect">
            <a:avLst/>
          </a:prstGeom>
          <a:solidFill>
            <a:srgbClr val="FAEAEA"/>
          </a:solidFill>
          <a:ln w="12700">
            <a:solidFill>
              <a:srgbClr val="F4AAAA"/>
            </a:solidFill>
            <a:prstDash val="solid"/>
          </a:ln>
        </p:spPr>
      </p:sp>
      <p:sp>
        <p:nvSpPr>
          <p:cNvPr id="21" name="Shape 19"/>
          <p:cNvSpPr/>
          <p:nvPr/>
        </p:nvSpPr>
        <p:spPr>
          <a:xfrm>
            <a:off x="384048" y="4526280"/>
            <a:ext cx="301752" cy="301752"/>
          </a:xfrm>
          <a:prstGeom prst="ellipse">
            <a:avLst/>
          </a:prstGeom>
          <a:solidFill>
            <a:srgbClr val="A80000"/>
          </a:solidFill>
          <a:ln w="12700">
            <a:solidFill>
              <a:srgbClr val="A80000"/>
            </a:solidFill>
            <a:prstDash val="solid"/>
          </a:ln>
        </p:spPr>
      </p:sp>
      <p:sp>
        <p:nvSpPr>
          <p:cNvPr id="22" name="Text 20"/>
          <p:cNvSpPr/>
          <p:nvPr/>
        </p:nvSpPr>
        <p:spPr>
          <a:xfrm>
            <a:off x="384048" y="4526280"/>
            <a:ext cx="301752" cy="301752"/>
          </a:xfrm>
          <a:prstGeom prst="rect">
            <a:avLst/>
          </a:prstGeom>
          <a:noFill/>
          <a:ln/>
        </p:spPr>
        <p:txBody>
          <a:bodyPr wrap="square" rtlCol="0" anchor="ctr"/>
          <a:lstStyle/>
          <a:p>
            <a:pPr algn="ctr" indent="0" marL="0">
              <a:buNone/>
            </a:pPr>
            <a:r>
              <a:rPr lang="en-US" sz="1100" b="1" dirty="0">
                <a:solidFill>
                  <a:srgbClr val="FFFFFF"/>
                </a:solidFill>
              </a:rPr>
              <a:t>D</a:t>
            </a:r>
            <a:endParaRPr lang="en-US" sz="1100" dirty="0"/>
          </a:p>
        </p:txBody>
      </p:sp>
      <p:sp>
        <p:nvSpPr>
          <p:cNvPr id="23" name="Text 21"/>
          <p:cNvSpPr/>
          <p:nvPr/>
        </p:nvSpPr>
        <p:spPr>
          <a:xfrm>
            <a:off x="768096" y="4443984"/>
            <a:ext cx="8010144" cy="493776"/>
          </a:xfrm>
          <a:prstGeom prst="rect">
            <a:avLst/>
          </a:prstGeom>
          <a:noFill/>
          <a:ln/>
        </p:spPr>
        <p:txBody>
          <a:bodyPr wrap="square" rtlCol="0" anchor="ctr"/>
          <a:lstStyle/>
          <a:p>
            <a:pPr indent="0" marL="0">
              <a:buNone/>
            </a:pPr>
            <a:r>
              <a:rPr lang="en-US" sz="1150" dirty="0">
                <a:solidFill>
                  <a:srgbClr val="1B2A3B"/>
                </a:solidFill>
              </a:rPr>
              <a:t>VM Contributor at subscription scope allows VM management across all resource groups, violating least privilege.</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8FD"/>
        </a:solidFill>
      </p:bgPr>
    </p:bg>
    <p:spTree>
      <p:nvGrpSpPr>
        <p:cNvPr id="1" name=""/>
        <p:cNvGrpSpPr/>
        <p:nvPr/>
      </p:nvGrpSpPr>
      <p:grpSpPr>
        <a:xfrm>
          <a:off x="0" y="0"/>
          <a:ext cx="0" cy="0"/>
          <a:chOff x="0" y="0"/>
          <a:chExt cx="0" cy="0"/>
        </a:xfrm>
      </p:grpSpPr>
      <p:sp>
        <p:nvSpPr>
          <p:cNvPr id="2" name="Shape 0"/>
          <p:cNvSpPr/>
          <p:nvPr/>
        </p:nvSpPr>
        <p:spPr>
          <a:xfrm>
            <a:off x="0" y="0"/>
            <a:ext cx="146304" cy="5143500"/>
          </a:xfrm>
          <a:prstGeom prst="rect">
            <a:avLst/>
          </a:prstGeom>
          <a:solidFill>
            <a:srgbClr val="0078D4"/>
          </a:solidFill>
          <a:ln w="12700">
            <a:solidFill>
              <a:srgbClr val="0078D4"/>
            </a:solidFill>
            <a:prstDash val="solid"/>
          </a:ln>
        </p:spPr>
      </p:sp>
      <p:sp>
        <p:nvSpPr>
          <p:cNvPr id="3" name="Shape 1"/>
          <p:cNvSpPr/>
          <p:nvPr/>
        </p:nvSpPr>
        <p:spPr>
          <a:xfrm>
            <a:off x="146304" y="0"/>
            <a:ext cx="8997696" cy="594360"/>
          </a:xfrm>
          <a:prstGeom prst="rect">
            <a:avLst/>
          </a:prstGeom>
          <a:solidFill>
            <a:srgbClr val="0A1628"/>
          </a:solidFill>
          <a:ln w="12700">
            <a:solidFill>
              <a:srgbClr val="0A1628"/>
            </a:solidFill>
            <a:prstDash val="solid"/>
          </a:ln>
        </p:spPr>
      </p:sp>
      <p:sp>
        <p:nvSpPr>
          <p:cNvPr id="4" name="Text 2"/>
          <p:cNvSpPr/>
          <p:nvPr/>
        </p:nvSpPr>
        <p:spPr>
          <a:xfrm>
            <a:off x="292608" y="0"/>
            <a:ext cx="6583680" cy="594360"/>
          </a:xfrm>
          <a:prstGeom prst="rect">
            <a:avLst/>
          </a:prstGeom>
          <a:noFill/>
          <a:ln/>
        </p:spPr>
        <p:txBody>
          <a:bodyPr wrap="square" lIns="0" tIns="0" rIns="0" bIns="0" rtlCol="0" anchor="ctr"/>
          <a:lstStyle/>
          <a:p>
            <a:pPr indent="0" marL="0">
              <a:buNone/>
            </a:pPr>
            <a:r>
              <a:rPr lang="en-US" sz="1200" b="1" dirty="0">
                <a:solidFill>
                  <a:srgbClr val="50E6FF"/>
                </a:solidFill>
              </a:rPr>
              <a:t>❓  QUESTION 4  ·  RBAC — Custom Roles</a:t>
            </a:r>
            <a:endParaRPr lang="en-US" sz="1200" dirty="0"/>
          </a:p>
        </p:txBody>
      </p:sp>
      <p:sp>
        <p:nvSpPr>
          <p:cNvPr id="5" name="Text 3"/>
          <p:cNvSpPr/>
          <p:nvPr/>
        </p:nvSpPr>
        <p:spPr>
          <a:xfrm>
            <a:off x="7498080" y="0"/>
            <a:ext cx="1499616" cy="594360"/>
          </a:xfrm>
          <a:prstGeom prst="rect">
            <a:avLst/>
          </a:prstGeom>
          <a:noFill/>
          <a:ln/>
        </p:spPr>
        <p:txBody>
          <a:bodyPr wrap="square" lIns="0" tIns="0" rIns="0" bIns="0" rtlCol="0" anchor="ctr"/>
          <a:lstStyle/>
          <a:p>
            <a:pPr algn="r" indent="0" marL="0">
              <a:buNone/>
            </a:pPr>
            <a:r>
              <a:rPr lang="en-US" sz="1200" b="1" dirty="0">
                <a:solidFill>
                  <a:srgbClr val="6C8EAD"/>
                </a:solidFill>
              </a:rPr>
              <a:t>4 / 20</a:t>
            </a:r>
            <a:endParaRPr lang="en-US" sz="1200" dirty="0"/>
          </a:p>
        </p:txBody>
      </p:sp>
      <p:sp>
        <p:nvSpPr>
          <p:cNvPr id="6" name="Shape 4"/>
          <p:cNvSpPr/>
          <p:nvPr/>
        </p:nvSpPr>
        <p:spPr>
          <a:xfrm>
            <a:off x="292608" y="685800"/>
            <a:ext cx="1097280" cy="256032"/>
          </a:xfrm>
          <a:prstGeom prst="rect">
            <a:avLst/>
          </a:prstGeom>
          <a:solidFill>
            <a:srgbClr val="0078D4"/>
          </a:solidFill>
          <a:ln w="12700">
            <a:solidFill>
              <a:srgbClr val="0078D4"/>
            </a:solidFill>
            <a:prstDash val="solid"/>
          </a:ln>
        </p:spPr>
      </p:sp>
      <p:sp>
        <p:nvSpPr>
          <p:cNvPr id="7" name="Text 5"/>
          <p:cNvSpPr/>
          <p:nvPr/>
        </p:nvSpPr>
        <p:spPr>
          <a:xfrm>
            <a:off x="292608" y="685800"/>
            <a:ext cx="1097280" cy="256032"/>
          </a:xfrm>
          <a:prstGeom prst="rect">
            <a:avLst/>
          </a:prstGeom>
          <a:noFill/>
          <a:ln/>
        </p:spPr>
        <p:txBody>
          <a:bodyPr wrap="square" rtlCol="0" anchor="ctr"/>
          <a:lstStyle/>
          <a:p>
            <a:pPr algn="ctr" indent="0" marL="0">
              <a:buNone/>
            </a:pPr>
            <a:r>
              <a:rPr lang="en-US" sz="800" b="1" dirty="0">
                <a:solidFill>
                  <a:srgbClr val="FFFFFF"/>
                </a:solidFill>
              </a:rPr>
              <a:t>SCENARIO</a:t>
            </a:r>
            <a:endParaRPr lang="en-US" sz="800" dirty="0"/>
          </a:p>
        </p:txBody>
      </p:sp>
      <p:sp>
        <p:nvSpPr>
          <p:cNvPr id="8" name="Shape 6"/>
          <p:cNvSpPr/>
          <p:nvPr/>
        </p:nvSpPr>
        <p:spPr>
          <a:xfrm>
            <a:off x="292608" y="978408"/>
            <a:ext cx="8558784" cy="960120"/>
          </a:xfrm>
          <a:prstGeom prst="rect">
            <a:avLst/>
          </a:prstGeom>
          <a:solidFill>
            <a:srgbClr val="EBF4FF"/>
          </a:solidFill>
          <a:ln w="12700">
            <a:solidFill>
              <a:srgbClr val="0078D4"/>
            </a:solidFill>
            <a:prstDash val="solid"/>
          </a:ln>
        </p:spPr>
      </p:sp>
      <p:sp>
        <p:nvSpPr>
          <p:cNvPr id="9" name="Text 7"/>
          <p:cNvSpPr/>
          <p:nvPr/>
        </p:nvSpPr>
        <p:spPr>
          <a:xfrm>
            <a:off x="420624" y="1024128"/>
            <a:ext cx="8321040" cy="868680"/>
          </a:xfrm>
          <a:prstGeom prst="rect">
            <a:avLst/>
          </a:prstGeom>
          <a:noFill/>
          <a:ln/>
        </p:spPr>
        <p:txBody>
          <a:bodyPr wrap="square" rtlCol="0" anchor="t"/>
          <a:lstStyle/>
          <a:p>
            <a:pPr indent="0" marL="0">
              <a:buNone/>
            </a:pPr>
            <a:r>
              <a:rPr lang="en-US" sz="1250" dirty="0">
                <a:solidFill>
                  <a:srgbClr val="1B2A3B"/>
                </a:solidFill>
              </a:rPr>
              <a:t>An operations team needs a role that allows them to start and stop Virtual Machines but explicitly blocks them from deleting VMs. No built-in Azure role meets this exact need.</a:t>
            </a:r>
            <a:endParaRPr lang="en-US" sz="1250" dirty="0"/>
          </a:p>
        </p:txBody>
      </p:sp>
      <p:sp>
        <p:nvSpPr>
          <p:cNvPr id="10" name="Text 8"/>
          <p:cNvSpPr/>
          <p:nvPr/>
        </p:nvSpPr>
        <p:spPr>
          <a:xfrm>
            <a:off x="292608" y="2048256"/>
            <a:ext cx="8558784" cy="420624"/>
          </a:xfrm>
          <a:prstGeom prst="rect">
            <a:avLst/>
          </a:prstGeom>
          <a:noFill/>
          <a:ln/>
        </p:spPr>
        <p:txBody>
          <a:bodyPr wrap="square" rtlCol="0" anchor="ctr"/>
          <a:lstStyle/>
          <a:p>
            <a:pPr indent="0" marL="0">
              <a:buNone/>
            </a:pPr>
            <a:r>
              <a:rPr lang="en-US" sz="1350" b="1" dirty="0">
                <a:solidFill>
                  <a:srgbClr val="0A1628"/>
                </a:solidFill>
              </a:rPr>
              <a:t>What should the Azure Administrator do?</a:t>
            </a:r>
            <a:endParaRPr lang="en-US" sz="1350" dirty="0"/>
          </a:p>
        </p:txBody>
      </p:sp>
      <p:sp>
        <p:nvSpPr>
          <p:cNvPr id="11" name="Shape 9"/>
          <p:cNvSpPr/>
          <p:nvPr/>
        </p:nvSpPr>
        <p:spPr>
          <a:xfrm>
            <a:off x="292608" y="2523744"/>
            <a:ext cx="8558784" cy="539496"/>
          </a:xfrm>
          <a:prstGeom prst="rect">
            <a:avLst/>
          </a:prstGeom>
          <a:solidFill>
            <a:srgbClr val="FFFFFF"/>
          </a:solidFill>
          <a:ln w="12700">
            <a:solidFill>
              <a:srgbClr val="C5D8EE"/>
            </a:solidFill>
            <a:prstDash val="solid"/>
          </a:ln>
        </p:spPr>
      </p:sp>
      <p:sp>
        <p:nvSpPr>
          <p:cNvPr id="12" name="Shape 10"/>
          <p:cNvSpPr/>
          <p:nvPr/>
        </p:nvSpPr>
        <p:spPr>
          <a:xfrm>
            <a:off x="384048" y="2633472"/>
            <a:ext cx="329184" cy="329184"/>
          </a:xfrm>
          <a:prstGeom prst="ellipse">
            <a:avLst/>
          </a:prstGeom>
          <a:solidFill>
            <a:srgbClr val="1B3A5C"/>
          </a:solidFill>
          <a:ln w="12700">
            <a:solidFill>
              <a:srgbClr val="1B3A5C"/>
            </a:solidFill>
            <a:prstDash val="solid"/>
          </a:ln>
        </p:spPr>
      </p:sp>
      <p:sp>
        <p:nvSpPr>
          <p:cNvPr id="13" name="Text 11"/>
          <p:cNvSpPr/>
          <p:nvPr/>
        </p:nvSpPr>
        <p:spPr>
          <a:xfrm>
            <a:off x="384048" y="2633472"/>
            <a:ext cx="329184" cy="329184"/>
          </a:xfrm>
          <a:prstGeom prst="rect">
            <a:avLst/>
          </a:prstGeom>
          <a:noFill/>
          <a:ln/>
        </p:spPr>
        <p:txBody>
          <a:bodyPr wrap="square" rtlCol="0" anchor="ctr"/>
          <a:lstStyle/>
          <a:p>
            <a:pPr algn="ctr" indent="0" marL="0">
              <a:buNone/>
            </a:pPr>
            <a:r>
              <a:rPr lang="en-US" sz="1100" b="1" dirty="0">
                <a:solidFill>
                  <a:srgbClr val="FFFFFF"/>
                </a:solidFill>
              </a:rPr>
              <a:t>A</a:t>
            </a:r>
            <a:endParaRPr lang="en-US" sz="1100" dirty="0"/>
          </a:p>
        </p:txBody>
      </p:sp>
      <p:sp>
        <p:nvSpPr>
          <p:cNvPr id="14" name="Text 12"/>
          <p:cNvSpPr/>
          <p:nvPr/>
        </p:nvSpPr>
        <p:spPr>
          <a:xfrm>
            <a:off x="786384" y="2615184"/>
            <a:ext cx="7991856" cy="365760"/>
          </a:xfrm>
          <a:prstGeom prst="rect">
            <a:avLst/>
          </a:prstGeom>
          <a:noFill/>
          <a:ln/>
        </p:spPr>
        <p:txBody>
          <a:bodyPr wrap="square" rtlCol="0" anchor="ctr"/>
          <a:lstStyle/>
          <a:p>
            <a:pPr indent="0" marL="0">
              <a:buNone/>
            </a:pPr>
            <a:r>
              <a:rPr lang="en-US" sz="1250" dirty="0">
                <a:solidFill>
                  <a:srgbClr val="1B2A3B"/>
                </a:solidFill>
              </a:rPr>
              <a:t>Assign both Contributor and a Deny assignment at resource level</a:t>
            </a:r>
            <a:endParaRPr lang="en-US" sz="1250" dirty="0"/>
          </a:p>
        </p:txBody>
      </p:sp>
      <p:sp>
        <p:nvSpPr>
          <p:cNvPr id="15" name="Shape 13"/>
          <p:cNvSpPr/>
          <p:nvPr/>
        </p:nvSpPr>
        <p:spPr>
          <a:xfrm>
            <a:off x="292608" y="3154680"/>
            <a:ext cx="8558784" cy="539496"/>
          </a:xfrm>
          <a:prstGeom prst="rect">
            <a:avLst/>
          </a:prstGeom>
          <a:solidFill>
            <a:srgbClr val="FFFFFF"/>
          </a:solidFill>
          <a:ln w="12700">
            <a:solidFill>
              <a:srgbClr val="C5D8EE"/>
            </a:solidFill>
            <a:prstDash val="solid"/>
          </a:ln>
        </p:spPr>
      </p:sp>
      <p:sp>
        <p:nvSpPr>
          <p:cNvPr id="16" name="Shape 14"/>
          <p:cNvSpPr/>
          <p:nvPr/>
        </p:nvSpPr>
        <p:spPr>
          <a:xfrm>
            <a:off x="384048" y="3264408"/>
            <a:ext cx="329184" cy="329184"/>
          </a:xfrm>
          <a:prstGeom prst="ellipse">
            <a:avLst/>
          </a:prstGeom>
          <a:solidFill>
            <a:srgbClr val="1B3A5C"/>
          </a:solidFill>
          <a:ln w="12700">
            <a:solidFill>
              <a:srgbClr val="1B3A5C"/>
            </a:solidFill>
            <a:prstDash val="solid"/>
          </a:ln>
        </p:spPr>
      </p:sp>
      <p:sp>
        <p:nvSpPr>
          <p:cNvPr id="17" name="Text 15"/>
          <p:cNvSpPr/>
          <p:nvPr/>
        </p:nvSpPr>
        <p:spPr>
          <a:xfrm>
            <a:off x="384048" y="3264408"/>
            <a:ext cx="329184" cy="329184"/>
          </a:xfrm>
          <a:prstGeom prst="rect">
            <a:avLst/>
          </a:prstGeom>
          <a:noFill/>
          <a:ln/>
        </p:spPr>
        <p:txBody>
          <a:bodyPr wrap="square" rtlCol="0" anchor="ctr"/>
          <a:lstStyle/>
          <a:p>
            <a:pPr algn="ctr" indent="0" marL="0">
              <a:buNone/>
            </a:pPr>
            <a:r>
              <a:rPr lang="en-US" sz="1100" b="1" dirty="0">
                <a:solidFill>
                  <a:srgbClr val="FFFFFF"/>
                </a:solidFill>
              </a:rPr>
              <a:t>B</a:t>
            </a:r>
            <a:endParaRPr lang="en-US" sz="1100" dirty="0"/>
          </a:p>
        </p:txBody>
      </p:sp>
      <p:sp>
        <p:nvSpPr>
          <p:cNvPr id="18" name="Text 16"/>
          <p:cNvSpPr/>
          <p:nvPr/>
        </p:nvSpPr>
        <p:spPr>
          <a:xfrm>
            <a:off x="786384" y="3246120"/>
            <a:ext cx="7991856" cy="365760"/>
          </a:xfrm>
          <a:prstGeom prst="rect">
            <a:avLst/>
          </a:prstGeom>
          <a:noFill/>
          <a:ln/>
        </p:spPr>
        <p:txBody>
          <a:bodyPr wrap="square" rtlCol="0" anchor="ctr"/>
          <a:lstStyle/>
          <a:p>
            <a:pPr indent="0" marL="0">
              <a:buNone/>
            </a:pPr>
            <a:r>
              <a:rPr lang="en-US" sz="1250" dirty="0">
                <a:solidFill>
                  <a:srgbClr val="1B2A3B"/>
                </a:solidFill>
              </a:rPr>
              <a:t>Create a Custom RBAC Role with specific allowed actions and NotActions</a:t>
            </a:r>
            <a:endParaRPr lang="en-US" sz="1250" dirty="0"/>
          </a:p>
        </p:txBody>
      </p:sp>
      <p:sp>
        <p:nvSpPr>
          <p:cNvPr id="19" name="Shape 17"/>
          <p:cNvSpPr/>
          <p:nvPr/>
        </p:nvSpPr>
        <p:spPr>
          <a:xfrm>
            <a:off x="292608" y="3785616"/>
            <a:ext cx="8558784" cy="539496"/>
          </a:xfrm>
          <a:prstGeom prst="rect">
            <a:avLst/>
          </a:prstGeom>
          <a:solidFill>
            <a:srgbClr val="FFFFFF"/>
          </a:solidFill>
          <a:ln w="12700">
            <a:solidFill>
              <a:srgbClr val="C5D8EE"/>
            </a:solidFill>
            <a:prstDash val="solid"/>
          </a:ln>
        </p:spPr>
      </p:sp>
      <p:sp>
        <p:nvSpPr>
          <p:cNvPr id="20" name="Shape 18"/>
          <p:cNvSpPr/>
          <p:nvPr/>
        </p:nvSpPr>
        <p:spPr>
          <a:xfrm>
            <a:off x="384048" y="3895344"/>
            <a:ext cx="329184" cy="329184"/>
          </a:xfrm>
          <a:prstGeom prst="ellipse">
            <a:avLst/>
          </a:prstGeom>
          <a:solidFill>
            <a:srgbClr val="1B3A5C"/>
          </a:solidFill>
          <a:ln w="12700">
            <a:solidFill>
              <a:srgbClr val="1B3A5C"/>
            </a:solidFill>
            <a:prstDash val="solid"/>
          </a:ln>
        </p:spPr>
      </p:sp>
      <p:sp>
        <p:nvSpPr>
          <p:cNvPr id="21" name="Text 19"/>
          <p:cNvSpPr/>
          <p:nvPr/>
        </p:nvSpPr>
        <p:spPr>
          <a:xfrm>
            <a:off x="384048" y="3895344"/>
            <a:ext cx="329184" cy="329184"/>
          </a:xfrm>
          <a:prstGeom prst="rect">
            <a:avLst/>
          </a:prstGeom>
          <a:noFill/>
          <a:ln/>
        </p:spPr>
        <p:txBody>
          <a:bodyPr wrap="square" rtlCol="0" anchor="ctr"/>
          <a:lstStyle/>
          <a:p>
            <a:pPr algn="ctr" indent="0" marL="0">
              <a:buNone/>
            </a:pPr>
            <a:r>
              <a:rPr lang="en-US" sz="1100" b="1" dirty="0">
                <a:solidFill>
                  <a:srgbClr val="FFFFFF"/>
                </a:solidFill>
              </a:rPr>
              <a:t>C</a:t>
            </a:r>
            <a:endParaRPr lang="en-US" sz="1100" dirty="0"/>
          </a:p>
        </p:txBody>
      </p:sp>
      <p:sp>
        <p:nvSpPr>
          <p:cNvPr id="22" name="Text 20"/>
          <p:cNvSpPr/>
          <p:nvPr/>
        </p:nvSpPr>
        <p:spPr>
          <a:xfrm>
            <a:off x="786384" y="3877056"/>
            <a:ext cx="7991856" cy="365760"/>
          </a:xfrm>
          <a:prstGeom prst="rect">
            <a:avLst/>
          </a:prstGeom>
          <a:noFill/>
          <a:ln/>
        </p:spPr>
        <p:txBody>
          <a:bodyPr wrap="square" rtlCol="0" anchor="ctr"/>
          <a:lstStyle/>
          <a:p>
            <a:pPr indent="0" marL="0">
              <a:buNone/>
            </a:pPr>
            <a:r>
              <a:rPr lang="en-US" sz="1250" dirty="0">
                <a:solidFill>
                  <a:srgbClr val="1B2A3B"/>
                </a:solidFill>
              </a:rPr>
              <a:t>Assign the Virtual Machine Contributor role and use Azure Policy to block deletes</a:t>
            </a:r>
            <a:endParaRPr lang="en-US" sz="1250" dirty="0"/>
          </a:p>
        </p:txBody>
      </p:sp>
      <p:sp>
        <p:nvSpPr>
          <p:cNvPr id="23" name="Shape 21"/>
          <p:cNvSpPr/>
          <p:nvPr/>
        </p:nvSpPr>
        <p:spPr>
          <a:xfrm>
            <a:off x="292608" y="4416552"/>
            <a:ext cx="8558784" cy="539496"/>
          </a:xfrm>
          <a:prstGeom prst="rect">
            <a:avLst/>
          </a:prstGeom>
          <a:solidFill>
            <a:srgbClr val="FFFFFF"/>
          </a:solidFill>
          <a:ln w="12700">
            <a:solidFill>
              <a:srgbClr val="C5D8EE"/>
            </a:solidFill>
            <a:prstDash val="solid"/>
          </a:ln>
        </p:spPr>
      </p:sp>
      <p:sp>
        <p:nvSpPr>
          <p:cNvPr id="24" name="Shape 22"/>
          <p:cNvSpPr/>
          <p:nvPr/>
        </p:nvSpPr>
        <p:spPr>
          <a:xfrm>
            <a:off x="384048" y="4526280"/>
            <a:ext cx="329184" cy="329184"/>
          </a:xfrm>
          <a:prstGeom prst="ellipse">
            <a:avLst/>
          </a:prstGeom>
          <a:solidFill>
            <a:srgbClr val="1B3A5C"/>
          </a:solidFill>
          <a:ln w="12700">
            <a:solidFill>
              <a:srgbClr val="1B3A5C"/>
            </a:solidFill>
            <a:prstDash val="solid"/>
          </a:ln>
        </p:spPr>
      </p:sp>
      <p:sp>
        <p:nvSpPr>
          <p:cNvPr id="25" name="Text 23"/>
          <p:cNvSpPr/>
          <p:nvPr/>
        </p:nvSpPr>
        <p:spPr>
          <a:xfrm>
            <a:off x="384048" y="4526280"/>
            <a:ext cx="329184" cy="329184"/>
          </a:xfrm>
          <a:prstGeom prst="rect">
            <a:avLst/>
          </a:prstGeom>
          <a:noFill/>
          <a:ln/>
        </p:spPr>
        <p:txBody>
          <a:bodyPr wrap="square" rtlCol="0" anchor="ctr"/>
          <a:lstStyle/>
          <a:p>
            <a:pPr algn="ctr" indent="0" marL="0">
              <a:buNone/>
            </a:pPr>
            <a:r>
              <a:rPr lang="en-US" sz="1100" b="1" dirty="0">
                <a:solidFill>
                  <a:srgbClr val="FFFFFF"/>
                </a:solidFill>
              </a:rPr>
              <a:t>D</a:t>
            </a:r>
            <a:endParaRPr lang="en-US" sz="1100" dirty="0"/>
          </a:p>
        </p:txBody>
      </p:sp>
      <p:sp>
        <p:nvSpPr>
          <p:cNvPr id="26" name="Text 24"/>
          <p:cNvSpPr/>
          <p:nvPr/>
        </p:nvSpPr>
        <p:spPr>
          <a:xfrm>
            <a:off x="786384" y="4507992"/>
            <a:ext cx="7991856" cy="365760"/>
          </a:xfrm>
          <a:prstGeom prst="rect">
            <a:avLst/>
          </a:prstGeom>
          <a:noFill/>
          <a:ln/>
        </p:spPr>
        <p:txBody>
          <a:bodyPr wrap="square" rtlCol="0" anchor="ctr"/>
          <a:lstStyle/>
          <a:p>
            <a:pPr indent="0" marL="0">
              <a:buNone/>
            </a:pPr>
            <a:r>
              <a:rPr lang="en-US" sz="1250" dirty="0">
                <a:solidFill>
                  <a:srgbClr val="1B2A3B"/>
                </a:solidFill>
              </a:rPr>
              <a:t>Use Conditional Access to block delete operations</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8FD"/>
        </a:solidFill>
      </p:bgPr>
    </p:bg>
    <p:spTree>
      <p:nvGrpSpPr>
        <p:cNvPr id="1" name=""/>
        <p:cNvGrpSpPr/>
        <p:nvPr/>
      </p:nvGrpSpPr>
      <p:grpSpPr>
        <a:xfrm>
          <a:off x="0" y="0"/>
          <a:ext cx="0" cy="0"/>
          <a:chOff x="0" y="0"/>
          <a:chExt cx="0" cy="0"/>
        </a:xfrm>
      </p:grpSpPr>
      <p:sp>
        <p:nvSpPr>
          <p:cNvPr id="2" name="Shape 0"/>
          <p:cNvSpPr/>
          <p:nvPr/>
        </p:nvSpPr>
        <p:spPr>
          <a:xfrm>
            <a:off x="0" y="0"/>
            <a:ext cx="146304" cy="5143500"/>
          </a:xfrm>
          <a:prstGeom prst="rect">
            <a:avLst/>
          </a:prstGeom>
          <a:solidFill>
            <a:srgbClr val="107C10"/>
          </a:solidFill>
          <a:ln w="12700">
            <a:solidFill>
              <a:srgbClr val="107C10"/>
            </a:solidFill>
            <a:prstDash val="solid"/>
          </a:ln>
        </p:spPr>
      </p:sp>
      <p:sp>
        <p:nvSpPr>
          <p:cNvPr id="3" name="Shape 1"/>
          <p:cNvSpPr/>
          <p:nvPr/>
        </p:nvSpPr>
        <p:spPr>
          <a:xfrm>
            <a:off x="146304" y="0"/>
            <a:ext cx="8997696" cy="594360"/>
          </a:xfrm>
          <a:prstGeom prst="rect">
            <a:avLst/>
          </a:prstGeom>
          <a:solidFill>
            <a:srgbClr val="0A1628"/>
          </a:solidFill>
          <a:ln w="12700">
            <a:solidFill>
              <a:srgbClr val="0A1628"/>
            </a:solidFill>
            <a:prstDash val="solid"/>
          </a:ln>
        </p:spPr>
      </p:sp>
      <p:sp>
        <p:nvSpPr>
          <p:cNvPr id="4" name="Text 2"/>
          <p:cNvSpPr/>
          <p:nvPr/>
        </p:nvSpPr>
        <p:spPr>
          <a:xfrm>
            <a:off x="292608" y="0"/>
            <a:ext cx="6583680" cy="594360"/>
          </a:xfrm>
          <a:prstGeom prst="rect">
            <a:avLst/>
          </a:prstGeom>
          <a:noFill/>
          <a:ln/>
        </p:spPr>
        <p:txBody>
          <a:bodyPr wrap="square" lIns="0" tIns="0" rIns="0" bIns="0" rtlCol="0" anchor="ctr"/>
          <a:lstStyle/>
          <a:p>
            <a:pPr indent="0" marL="0">
              <a:buNone/>
            </a:pPr>
            <a:r>
              <a:rPr lang="en-US" sz="1200" b="1" dirty="0">
                <a:solidFill>
                  <a:srgbClr val="00FF90"/>
                </a:solidFill>
              </a:rPr>
              <a:t>✅  ANSWER 4  ·  RBAC — Custom Roles</a:t>
            </a:r>
            <a:endParaRPr lang="en-US" sz="1200" dirty="0"/>
          </a:p>
        </p:txBody>
      </p:sp>
      <p:sp>
        <p:nvSpPr>
          <p:cNvPr id="5" name="Text 3"/>
          <p:cNvSpPr/>
          <p:nvPr/>
        </p:nvSpPr>
        <p:spPr>
          <a:xfrm>
            <a:off x="7498080" y="0"/>
            <a:ext cx="1499616" cy="594360"/>
          </a:xfrm>
          <a:prstGeom prst="rect">
            <a:avLst/>
          </a:prstGeom>
          <a:noFill/>
          <a:ln/>
        </p:spPr>
        <p:txBody>
          <a:bodyPr wrap="square" lIns="0" tIns="0" rIns="0" bIns="0" rtlCol="0" anchor="ctr"/>
          <a:lstStyle/>
          <a:p>
            <a:pPr algn="r" indent="0" marL="0">
              <a:buNone/>
            </a:pPr>
            <a:r>
              <a:rPr lang="en-US" sz="1200" b="1" dirty="0">
                <a:solidFill>
                  <a:srgbClr val="6C8EAD"/>
                </a:solidFill>
              </a:rPr>
              <a:t>4 / 20</a:t>
            </a:r>
            <a:endParaRPr lang="en-US" sz="1200" dirty="0"/>
          </a:p>
        </p:txBody>
      </p:sp>
      <p:sp>
        <p:nvSpPr>
          <p:cNvPr id="6" name="Shape 4"/>
          <p:cNvSpPr/>
          <p:nvPr/>
        </p:nvSpPr>
        <p:spPr>
          <a:xfrm>
            <a:off x="292608" y="658368"/>
            <a:ext cx="8558784" cy="475488"/>
          </a:xfrm>
          <a:prstGeom prst="rect">
            <a:avLst/>
          </a:prstGeom>
          <a:solidFill>
            <a:srgbClr val="E6F3E6"/>
          </a:solidFill>
          <a:ln w="25400">
            <a:solidFill>
              <a:srgbClr val="107C10"/>
            </a:solidFill>
            <a:prstDash val="solid"/>
          </a:ln>
        </p:spPr>
      </p:sp>
      <p:sp>
        <p:nvSpPr>
          <p:cNvPr id="7" name="Text 5"/>
          <p:cNvSpPr/>
          <p:nvPr/>
        </p:nvSpPr>
        <p:spPr>
          <a:xfrm>
            <a:off x="420624" y="658368"/>
            <a:ext cx="8321040" cy="475488"/>
          </a:xfrm>
          <a:prstGeom prst="rect">
            <a:avLst/>
          </a:prstGeom>
          <a:noFill/>
          <a:ln/>
        </p:spPr>
        <p:txBody>
          <a:bodyPr wrap="square" rtlCol="0" anchor="ctr"/>
          <a:lstStyle/>
          <a:p>
            <a:pPr indent="0" marL="0">
              <a:buNone/>
            </a:pPr>
            <a:r>
              <a:rPr lang="en-US" sz="1300" b="1" dirty="0">
                <a:solidFill>
                  <a:srgbClr val="107C10"/>
                </a:solidFill>
              </a:rPr>
              <a:t>✔  Correct: B — Create a Custom RBAC Role with specific allowed actions and NotActions</a:t>
            </a:r>
            <a:endParaRPr lang="en-US" sz="1300" dirty="0"/>
          </a:p>
        </p:txBody>
      </p:sp>
      <p:sp>
        <p:nvSpPr>
          <p:cNvPr id="8" name="Text 6"/>
          <p:cNvSpPr/>
          <p:nvPr/>
        </p:nvSpPr>
        <p:spPr>
          <a:xfrm>
            <a:off x="292608" y="1216152"/>
            <a:ext cx="8558784" cy="292608"/>
          </a:xfrm>
          <a:prstGeom prst="rect">
            <a:avLst/>
          </a:prstGeom>
          <a:noFill/>
          <a:ln/>
        </p:spPr>
        <p:txBody>
          <a:bodyPr wrap="square" rtlCol="0" anchor="ctr"/>
          <a:lstStyle/>
          <a:p>
            <a:pPr indent="0" marL="0">
              <a:buNone/>
            </a:pPr>
            <a:r>
              <a:rPr lang="en-US" sz="1200" b="1" dirty="0">
                <a:solidFill>
                  <a:srgbClr val="0A1628"/>
                </a:solidFill>
              </a:rPr>
              <a:t>Why this is correct</a:t>
            </a:r>
            <a:endParaRPr lang="en-US" sz="1200" dirty="0"/>
          </a:p>
        </p:txBody>
      </p:sp>
      <p:sp>
        <p:nvSpPr>
          <p:cNvPr id="9" name="Shape 7"/>
          <p:cNvSpPr/>
          <p:nvPr/>
        </p:nvSpPr>
        <p:spPr>
          <a:xfrm>
            <a:off x="292608" y="1517904"/>
            <a:ext cx="8558784" cy="1097280"/>
          </a:xfrm>
          <a:prstGeom prst="rect">
            <a:avLst/>
          </a:prstGeom>
          <a:solidFill>
            <a:srgbClr val="FFFFFF"/>
          </a:solidFill>
          <a:ln w="12700">
            <a:solidFill>
              <a:srgbClr val="C5D8EE"/>
            </a:solidFill>
            <a:prstDash val="solid"/>
          </a:ln>
        </p:spPr>
      </p:sp>
      <p:sp>
        <p:nvSpPr>
          <p:cNvPr id="10" name="Text 8"/>
          <p:cNvSpPr/>
          <p:nvPr/>
        </p:nvSpPr>
        <p:spPr>
          <a:xfrm>
            <a:off x="420624" y="1563624"/>
            <a:ext cx="8321040" cy="1005840"/>
          </a:xfrm>
          <a:prstGeom prst="rect">
            <a:avLst/>
          </a:prstGeom>
          <a:noFill/>
          <a:ln/>
        </p:spPr>
        <p:txBody>
          <a:bodyPr wrap="square" rtlCol="0" anchor="t"/>
          <a:lstStyle/>
          <a:p>
            <a:pPr indent="0" marL="0">
              <a:buNone/>
            </a:pPr>
            <a:r>
              <a:rPr lang="en-US" sz="1150" dirty="0">
                <a:solidFill>
                  <a:srgbClr val="1B2A3B"/>
                </a:solidFill>
              </a:rPr>
              <a:t>Custom RBAC Roles allow administrators to define precise sets of Actions (allowed operations) and NotActions (excluded operations). You can explicitly include Microsoft.Compute/virtualMachines/start/action and stop/action, and exclude Microsoft.Compute/virtualMachines/delete. This is the purpose of custom roles in Azure RBAC.</a:t>
            </a:r>
            <a:endParaRPr lang="en-US" sz="1150" dirty="0"/>
          </a:p>
        </p:txBody>
      </p:sp>
      <p:sp>
        <p:nvSpPr>
          <p:cNvPr id="11" name="Text 9"/>
          <p:cNvSpPr/>
          <p:nvPr/>
        </p:nvSpPr>
        <p:spPr>
          <a:xfrm>
            <a:off x="292608" y="2697480"/>
            <a:ext cx="8558784" cy="292608"/>
          </a:xfrm>
          <a:prstGeom prst="rect">
            <a:avLst/>
          </a:prstGeom>
          <a:noFill/>
          <a:ln/>
        </p:spPr>
        <p:txBody>
          <a:bodyPr wrap="square" rtlCol="0" anchor="ctr"/>
          <a:lstStyle/>
          <a:p>
            <a:pPr indent="0" marL="0">
              <a:buNone/>
            </a:pPr>
            <a:r>
              <a:rPr lang="en-US" sz="1200" b="1" dirty="0">
                <a:solidFill>
                  <a:srgbClr val="0A1628"/>
                </a:solidFill>
              </a:rPr>
              <a:t>Why the other options are incorrect</a:t>
            </a:r>
            <a:endParaRPr lang="en-US" sz="1200" dirty="0"/>
          </a:p>
        </p:txBody>
      </p:sp>
      <p:sp>
        <p:nvSpPr>
          <p:cNvPr id="12" name="Shape 10"/>
          <p:cNvSpPr/>
          <p:nvPr/>
        </p:nvSpPr>
        <p:spPr>
          <a:xfrm>
            <a:off x="292608" y="3035808"/>
            <a:ext cx="8558784" cy="603504"/>
          </a:xfrm>
          <a:prstGeom prst="rect">
            <a:avLst/>
          </a:prstGeom>
          <a:solidFill>
            <a:srgbClr val="FAEAEA"/>
          </a:solidFill>
          <a:ln w="12700">
            <a:solidFill>
              <a:srgbClr val="F4AAAA"/>
            </a:solidFill>
            <a:prstDash val="solid"/>
          </a:ln>
        </p:spPr>
      </p:sp>
      <p:sp>
        <p:nvSpPr>
          <p:cNvPr id="13" name="Shape 11"/>
          <p:cNvSpPr/>
          <p:nvPr/>
        </p:nvSpPr>
        <p:spPr>
          <a:xfrm>
            <a:off x="384048" y="3172968"/>
            <a:ext cx="301752" cy="301752"/>
          </a:xfrm>
          <a:prstGeom prst="ellipse">
            <a:avLst/>
          </a:prstGeom>
          <a:solidFill>
            <a:srgbClr val="A80000"/>
          </a:solidFill>
          <a:ln w="12700">
            <a:solidFill>
              <a:srgbClr val="A80000"/>
            </a:solidFill>
            <a:prstDash val="solid"/>
          </a:ln>
        </p:spPr>
      </p:sp>
      <p:sp>
        <p:nvSpPr>
          <p:cNvPr id="14" name="Text 12"/>
          <p:cNvSpPr/>
          <p:nvPr/>
        </p:nvSpPr>
        <p:spPr>
          <a:xfrm>
            <a:off x="384048" y="3172968"/>
            <a:ext cx="301752" cy="301752"/>
          </a:xfrm>
          <a:prstGeom prst="rect">
            <a:avLst/>
          </a:prstGeom>
          <a:noFill/>
          <a:ln/>
        </p:spPr>
        <p:txBody>
          <a:bodyPr wrap="square" rtlCol="0" anchor="ctr"/>
          <a:lstStyle/>
          <a:p>
            <a:pPr algn="ctr" indent="0" marL="0">
              <a:buNone/>
            </a:pPr>
            <a:r>
              <a:rPr lang="en-US" sz="1100" b="1" dirty="0">
                <a:solidFill>
                  <a:srgbClr val="FFFFFF"/>
                </a:solidFill>
              </a:rPr>
              <a:t>A</a:t>
            </a:r>
            <a:endParaRPr lang="en-US" sz="1100" dirty="0"/>
          </a:p>
        </p:txBody>
      </p:sp>
      <p:sp>
        <p:nvSpPr>
          <p:cNvPr id="15" name="Text 13"/>
          <p:cNvSpPr/>
          <p:nvPr/>
        </p:nvSpPr>
        <p:spPr>
          <a:xfrm>
            <a:off x="768096" y="3090672"/>
            <a:ext cx="8010144" cy="493776"/>
          </a:xfrm>
          <a:prstGeom prst="rect">
            <a:avLst/>
          </a:prstGeom>
          <a:noFill/>
          <a:ln/>
        </p:spPr>
        <p:txBody>
          <a:bodyPr wrap="square" rtlCol="0" anchor="ctr"/>
          <a:lstStyle/>
          <a:p>
            <a:pPr indent="0" marL="0">
              <a:buNone/>
            </a:pPr>
            <a:r>
              <a:rPr lang="en-US" sz="1150" dirty="0">
                <a:solidFill>
                  <a:srgbClr val="1B2A3B"/>
                </a:solidFill>
              </a:rPr>
              <a:t>Contributor is too broad and Deny assignments are a separate, limited mechanism — not the right pairing for this use case.</a:t>
            </a:r>
            <a:endParaRPr lang="en-US" sz="1150" dirty="0"/>
          </a:p>
        </p:txBody>
      </p:sp>
      <p:sp>
        <p:nvSpPr>
          <p:cNvPr id="16" name="Shape 14"/>
          <p:cNvSpPr/>
          <p:nvPr/>
        </p:nvSpPr>
        <p:spPr>
          <a:xfrm>
            <a:off x="292608" y="3712464"/>
            <a:ext cx="8558784" cy="603504"/>
          </a:xfrm>
          <a:prstGeom prst="rect">
            <a:avLst/>
          </a:prstGeom>
          <a:solidFill>
            <a:srgbClr val="FAEAEA"/>
          </a:solidFill>
          <a:ln w="12700">
            <a:solidFill>
              <a:srgbClr val="F4AAAA"/>
            </a:solidFill>
            <a:prstDash val="solid"/>
          </a:ln>
        </p:spPr>
      </p:sp>
      <p:sp>
        <p:nvSpPr>
          <p:cNvPr id="17" name="Shape 15"/>
          <p:cNvSpPr/>
          <p:nvPr/>
        </p:nvSpPr>
        <p:spPr>
          <a:xfrm>
            <a:off x="384048" y="3849624"/>
            <a:ext cx="301752" cy="301752"/>
          </a:xfrm>
          <a:prstGeom prst="ellipse">
            <a:avLst/>
          </a:prstGeom>
          <a:solidFill>
            <a:srgbClr val="A80000"/>
          </a:solidFill>
          <a:ln w="12700">
            <a:solidFill>
              <a:srgbClr val="A80000"/>
            </a:solidFill>
            <a:prstDash val="solid"/>
          </a:ln>
        </p:spPr>
      </p:sp>
      <p:sp>
        <p:nvSpPr>
          <p:cNvPr id="18" name="Text 16"/>
          <p:cNvSpPr/>
          <p:nvPr/>
        </p:nvSpPr>
        <p:spPr>
          <a:xfrm>
            <a:off x="384048" y="3849624"/>
            <a:ext cx="301752" cy="301752"/>
          </a:xfrm>
          <a:prstGeom prst="rect">
            <a:avLst/>
          </a:prstGeom>
          <a:noFill/>
          <a:ln/>
        </p:spPr>
        <p:txBody>
          <a:bodyPr wrap="square" rtlCol="0" anchor="ctr"/>
          <a:lstStyle/>
          <a:p>
            <a:pPr algn="ctr" indent="0" marL="0">
              <a:buNone/>
            </a:pPr>
            <a:r>
              <a:rPr lang="en-US" sz="1100" b="1" dirty="0">
                <a:solidFill>
                  <a:srgbClr val="FFFFFF"/>
                </a:solidFill>
              </a:rPr>
              <a:t>C</a:t>
            </a:r>
            <a:endParaRPr lang="en-US" sz="1100" dirty="0"/>
          </a:p>
        </p:txBody>
      </p:sp>
      <p:sp>
        <p:nvSpPr>
          <p:cNvPr id="19" name="Text 17"/>
          <p:cNvSpPr/>
          <p:nvPr/>
        </p:nvSpPr>
        <p:spPr>
          <a:xfrm>
            <a:off x="768096" y="3767328"/>
            <a:ext cx="8010144" cy="493776"/>
          </a:xfrm>
          <a:prstGeom prst="rect">
            <a:avLst/>
          </a:prstGeom>
          <a:noFill/>
          <a:ln/>
        </p:spPr>
        <p:txBody>
          <a:bodyPr wrap="square" rtlCol="0" anchor="ctr"/>
          <a:lstStyle/>
          <a:p>
            <a:pPr indent="0" marL="0">
              <a:buNone/>
            </a:pPr>
            <a:r>
              <a:rPr lang="en-US" sz="1150" dirty="0">
                <a:solidFill>
                  <a:srgbClr val="1B2A3B"/>
                </a:solidFill>
              </a:rPr>
              <a:t>Azure Policy governs resource configurations and compliance, not who can perform specific API operations (that's RBAC's job).</a:t>
            </a:r>
            <a:endParaRPr lang="en-US" sz="1150" dirty="0"/>
          </a:p>
        </p:txBody>
      </p:sp>
      <p:sp>
        <p:nvSpPr>
          <p:cNvPr id="20" name="Shape 18"/>
          <p:cNvSpPr/>
          <p:nvPr/>
        </p:nvSpPr>
        <p:spPr>
          <a:xfrm>
            <a:off x="292608" y="4389120"/>
            <a:ext cx="8558784" cy="603504"/>
          </a:xfrm>
          <a:prstGeom prst="rect">
            <a:avLst/>
          </a:prstGeom>
          <a:solidFill>
            <a:srgbClr val="FAEAEA"/>
          </a:solidFill>
          <a:ln w="12700">
            <a:solidFill>
              <a:srgbClr val="F4AAAA"/>
            </a:solidFill>
            <a:prstDash val="solid"/>
          </a:ln>
        </p:spPr>
      </p:sp>
      <p:sp>
        <p:nvSpPr>
          <p:cNvPr id="21" name="Shape 19"/>
          <p:cNvSpPr/>
          <p:nvPr/>
        </p:nvSpPr>
        <p:spPr>
          <a:xfrm>
            <a:off x="384048" y="4526280"/>
            <a:ext cx="301752" cy="301752"/>
          </a:xfrm>
          <a:prstGeom prst="ellipse">
            <a:avLst/>
          </a:prstGeom>
          <a:solidFill>
            <a:srgbClr val="A80000"/>
          </a:solidFill>
          <a:ln w="12700">
            <a:solidFill>
              <a:srgbClr val="A80000"/>
            </a:solidFill>
            <a:prstDash val="solid"/>
          </a:ln>
        </p:spPr>
      </p:sp>
      <p:sp>
        <p:nvSpPr>
          <p:cNvPr id="22" name="Text 20"/>
          <p:cNvSpPr/>
          <p:nvPr/>
        </p:nvSpPr>
        <p:spPr>
          <a:xfrm>
            <a:off x="384048" y="4526280"/>
            <a:ext cx="301752" cy="301752"/>
          </a:xfrm>
          <a:prstGeom prst="rect">
            <a:avLst/>
          </a:prstGeom>
          <a:noFill/>
          <a:ln/>
        </p:spPr>
        <p:txBody>
          <a:bodyPr wrap="square" rtlCol="0" anchor="ctr"/>
          <a:lstStyle/>
          <a:p>
            <a:pPr algn="ctr" indent="0" marL="0">
              <a:buNone/>
            </a:pPr>
            <a:r>
              <a:rPr lang="en-US" sz="1100" b="1" dirty="0">
                <a:solidFill>
                  <a:srgbClr val="FFFFFF"/>
                </a:solidFill>
              </a:rPr>
              <a:t>D</a:t>
            </a:r>
            <a:endParaRPr lang="en-US" sz="1100" dirty="0"/>
          </a:p>
        </p:txBody>
      </p:sp>
      <p:sp>
        <p:nvSpPr>
          <p:cNvPr id="23" name="Text 21"/>
          <p:cNvSpPr/>
          <p:nvPr/>
        </p:nvSpPr>
        <p:spPr>
          <a:xfrm>
            <a:off x="768096" y="4443984"/>
            <a:ext cx="8010144" cy="493776"/>
          </a:xfrm>
          <a:prstGeom prst="rect">
            <a:avLst/>
          </a:prstGeom>
          <a:noFill/>
          <a:ln/>
        </p:spPr>
        <p:txBody>
          <a:bodyPr wrap="square" rtlCol="0" anchor="ctr"/>
          <a:lstStyle/>
          <a:p>
            <a:pPr indent="0" marL="0">
              <a:buNone/>
            </a:pPr>
            <a:r>
              <a:rPr lang="en-US" sz="1150" dirty="0">
                <a:solidFill>
                  <a:srgbClr val="1B2A3B"/>
                </a:solidFill>
              </a:rPr>
              <a:t>Conditional Access controls sign-in conditions, not Azure resource management API calls like delete.</a:t>
            </a:r>
            <a:endParaRPr lang="en-US" sz="11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8FD"/>
        </a:solidFill>
      </p:bgPr>
    </p:bg>
    <p:spTree>
      <p:nvGrpSpPr>
        <p:cNvPr id="1" name=""/>
        <p:cNvGrpSpPr/>
        <p:nvPr/>
      </p:nvGrpSpPr>
      <p:grpSpPr>
        <a:xfrm>
          <a:off x="0" y="0"/>
          <a:ext cx="0" cy="0"/>
          <a:chOff x="0" y="0"/>
          <a:chExt cx="0" cy="0"/>
        </a:xfrm>
      </p:grpSpPr>
      <p:sp>
        <p:nvSpPr>
          <p:cNvPr id="2" name="Shape 0"/>
          <p:cNvSpPr/>
          <p:nvPr/>
        </p:nvSpPr>
        <p:spPr>
          <a:xfrm>
            <a:off x="0" y="0"/>
            <a:ext cx="146304" cy="5143500"/>
          </a:xfrm>
          <a:prstGeom prst="rect">
            <a:avLst/>
          </a:prstGeom>
          <a:solidFill>
            <a:srgbClr val="0078D4"/>
          </a:solidFill>
          <a:ln w="12700">
            <a:solidFill>
              <a:srgbClr val="0078D4"/>
            </a:solidFill>
            <a:prstDash val="solid"/>
          </a:ln>
        </p:spPr>
      </p:sp>
      <p:sp>
        <p:nvSpPr>
          <p:cNvPr id="3" name="Shape 1"/>
          <p:cNvSpPr/>
          <p:nvPr/>
        </p:nvSpPr>
        <p:spPr>
          <a:xfrm>
            <a:off x="146304" y="0"/>
            <a:ext cx="8997696" cy="594360"/>
          </a:xfrm>
          <a:prstGeom prst="rect">
            <a:avLst/>
          </a:prstGeom>
          <a:solidFill>
            <a:srgbClr val="0A1628"/>
          </a:solidFill>
          <a:ln w="12700">
            <a:solidFill>
              <a:srgbClr val="0A1628"/>
            </a:solidFill>
            <a:prstDash val="solid"/>
          </a:ln>
        </p:spPr>
      </p:sp>
      <p:sp>
        <p:nvSpPr>
          <p:cNvPr id="4" name="Text 2"/>
          <p:cNvSpPr/>
          <p:nvPr/>
        </p:nvSpPr>
        <p:spPr>
          <a:xfrm>
            <a:off x="292608" y="0"/>
            <a:ext cx="6583680" cy="594360"/>
          </a:xfrm>
          <a:prstGeom prst="rect">
            <a:avLst/>
          </a:prstGeom>
          <a:noFill/>
          <a:ln/>
        </p:spPr>
        <p:txBody>
          <a:bodyPr wrap="square" lIns="0" tIns="0" rIns="0" bIns="0" rtlCol="0" anchor="ctr"/>
          <a:lstStyle/>
          <a:p>
            <a:pPr indent="0" marL="0">
              <a:buNone/>
            </a:pPr>
            <a:r>
              <a:rPr lang="en-US" sz="1200" b="1" dirty="0">
                <a:solidFill>
                  <a:srgbClr val="50E6FF"/>
                </a:solidFill>
              </a:rPr>
              <a:t>❓  QUESTION 5  ·  Management Groups</a:t>
            </a:r>
            <a:endParaRPr lang="en-US" sz="1200" dirty="0"/>
          </a:p>
        </p:txBody>
      </p:sp>
      <p:sp>
        <p:nvSpPr>
          <p:cNvPr id="5" name="Text 3"/>
          <p:cNvSpPr/>
          <p:nvPr/>
        </p:nvSpPr>
        <p:spPr>
          <a:xfrm>
            <a:off x="7498080" y="0"/>
            <a:ext cx="1499616" cy="594360"/>
          </a:xfrm>
          <a:prstGeom prst="rect">
            <a:avLst/>
          </a:prstGeom>
          <a:noFill/>
          <a:ln/>
        </p:spPr>
        <p:txBody>
          <a:bodyPr wrap="square" lIns="0" tIns="0" rIns="0" bIns="0" rtlCol="0" anchor="ctr"/>
          <a:lstStyle/>
          <a:p>
            <a:pPr algn="r" indent="0" marL="0">
              <a:buNone/>
            </a:pPr>
            <a:r>
              <a:rPr lang="en-US" sz="1200" b="1" dirty="0">
                <a:solidFill>
                  <a:srgbClr val="6C8EAD"/>
                </a:solidFill>
              </a:rPr>
              <a:t>5 / 20</a:t>
            </a:r>
            <a:endParaRPr lang="en-US" sz="1200" dirty="0"/>
          </a:p>
        </p:txBody>
      </p:sp>
      <p:sp>
        <p:nvSpPr>
          <p:cNvPr id="6" name="Shape 4"/>
          <p:cNvSpPr/>
          <p:nvPr/>
        </p:nvSpPr>
        <p:spPr>
          <a:xfrm>
            <a:off x="292608" y="685800"/>
            <a:ext cx="1097280" cy="256032"/>
          </a:xfrm>
          <a:prstGeom prst="rect">
            <a:avLst/>
          </a:prstGeom>
          <a:solidFill>
            <a:srgbClr val="0078D4"/>
          </a:solidFill>
          <a:ln w="12700">
            <a:solidFill>
              <a:srgbClr val="0078D4"/>
            </a:solidFill>
            <a:prstDash val="solid"/>
          </a:ln>
        </p:spPr>
      </p:sp>
      <p:sp>
        <p:nvSpPr>
          <p:cNvPr id="7" name="Text 5"/>
          <p:cNvSpPr/>
          <p:nvPr/>
        </p:nvSpPr>
        <p:spPr>
          <a:xfrm>
            <a:off x="292608" y="685800"/>
            <a:ext cx="1097280" cy="256032"/>
          </a:xfrm>
          <a:prstGeom prst="rect">
            <a:avLst/>
          </a:prstGeom>
          <a:noFill/>
          <a:ln/>
        </p:spPr>
        <p:txBody>
          <a:bodyPr wrap="square" rtlCol="0" anchor="ctr"/>
          <a:lstStyle/>
          <a:p>
            <a:pPr algn="ctr" indent="0" marL="0">
              <a:buNone/>
            </a:pPr>
            <a:r>
              <a:rPr lang="en-US" sz="800" b="1" dirty="0">
                <a:solidFill>
                  <a:srgbClr val="FFFFFF"/>
                </a:solidFill>
              </a:rPr>
              <a:t>SCENARIO</a:t>
            </a:r>
            <a:endParaRPr lang="en-US" sz="800" dirty="0"/>
          </a:p>
        </p:txBody>
      </p:sp>
      <p:sp>
        <p:nvSpPr>
          <p:cNvPr id="8" name="Shape 6"/>
          <p:cNvSpPr/>
          <p:nvPr/>
        </p:nvSpPr>
        <p:spPr>
          <a:xfrm>
            <a:off x="292608" y="978408"/>
            <a:ext cx="8558784" cy="960120"/>
          </a:xfrm>
          <a:prstGeom prst="rect">
            <a:avLst/>
          </a:prstGeom>
          <a:solidFill>
            <a:srgbClr val="EBF4FF"/>
          </a:solidFill>
          <a:ln w="12700">
            <a:solidFill>
              <a:srgbClr val="0078D4"/>
            </a:solidFill>
            <a:prstDash val="solid"/>
          </a:ln>
        </p:spPr>
      </p:sp>
      <p:sp>
        <p:nvSpPr>
          <p:cNvPr id="9" name="Text 7"/>
          <p:cNvSpPr/>
          <p:nvPr/>
        </p:nvSpPr>
        <p:spPr>
          <a:xfrm>
            <a:off x="420624" y="1024128"/>
            <a:ext cx="8321040" cy="868680"/>
          </a:xfrm>
          <a:prstGeom prst="rect">
            <a:avLst/>
          </a:prstGeom>
          <a:noFill/>
          <a:ln/>
        </p:spPr>
        <p:txBody>
          <a:bodyPr wrap="square" rtlCol="0" anchor="t"/>
          <a:lstStyle/>
          <a:p>
            <a:pPr indent="0" marL="0">
              <a:buNone/>
            </a:pPr>
            <a:r>
              <a:rPr lang="en-US" sz="1250" dirty="0">
                <a:solidFill>
                  <a:srgbClr val="1B2A3B"/>
                </a:solidFill>
              </a:rPr>
              <a:t>AdventureWorks has 15 Azure subscriptions spread across three business units: Finance, HR, and Engineering. The CTO wants to apply a single Azure Policy requiring encryption-at-rest across all subscriptions simultaneously.</a:t>
            </a:r>
            <a:endParaRPr lang="en-US" sz="1250" dirty="0"/>
          </a:p>
        </p:txBody>
      </p:sp>
      <p:sp>
        <p:nvSpPr>
          <p:cNvPr id="10" name="Text 8"/>
          <p:cNvSpPr/>
          <p:nvPr/>
        </p:nvSpPr>
        <p:spPr>
          <a:xfrm>
            <a:off x="292608" y="2048256"/>
            <a:ext cx="8558784" cy="420624"/>
          </a:xfrm>
          <a:prstGeom prst="rect">
            <a:avLst/>
          </a:prstGeom>
          <a:noFill/>
          <a:ln/>
        </p:spPr>
        <p:txBody>
          <a:bodyPr wrap="square" rtlCol="0" anchor="ctr"/>
          <a:lstStyle/>
          <a:p>
            <a:pPr indent="0" marL="0">
              <a:buNone/>
            </a:pPr>
            <a:r>
              <a:rPr lang="en-US" sz="1350" b="1" dirty="0">
                <a:solidFill>
                  <a:srgbClr val="0A1628"/>
                </a:solidFill>
              </a:rPr>
              <a:t>What is the most efficient Azure governance structure to achieve this?</a:t>
            </a:r>
            <a:endParaRPr lang="en-US" sz="1350" dirty="0"/>
          </a:p>
        </p:txBody>
      </p:sp>
      <p:sp>
        <p:nvSpPr>
          <p:cNvPr id="11" name="Shape 9"/>
          <p:cNvSpPr/>
          <p:nvPr/>
        </p:nvSpPr>
        <p:spPr>
          <a:xfrm>
            <a:off x="292608" y="2523744"/>
            <a:ext cx="8558784" cy="539496"/>
          </a:xfrm>
          <a:prstGeom prst="rect">
            <a:avLst/>
          </a:prstGeom>
          <a:solidFill>
            <a:srgbClr val="FFFFFF"/>
          </a:solidFill>
          <a:ln w="12700">
            <a:solidFill>
              <a:srgbClr val="C5D8EE"/>
            </a:solidFill>
            <a:prstDash val="solid"/>
          </a:ln>
        </p:spPr>
      </p:sp>
      <p:sp>
        <p:nvSpPr>
          <p:cNvPr id="12" name="Shape 10"/>
          <p:cNvSpPr/>
          <p:nvPr/>
        </p:nvSpPr>
        <p:spPr>
          <a:xfrm>
            <a:off x="384048" y="2633472"/>
            <a:ext cx="329184" cy="329184"/>
          </a:xfrm>
          <a:prstGeom prst="ellipse">
            <a:avLst/>
          </a:prstGeom>
          <a:solidFill>
            <a:srgbClr val="1B3A5C"/>
          </a:solidFill>
          <a:ln w="12700">
            <a:solidFill>
              <a:srgbClr val="1B3A5C"/>
            </a:solidFill>
            <a:prstDash val="solid"/>
          </a:ln>
        </p:spPr>
      </p:sp>
      <p:sp>
        <p:nvSpPr>
          <p:cNvPr id="13" name="Text 11"/>
          <p:cNvSpPr/>
          <p:nvPr/>
        </p:nvSpPr>
        <p:spPr>
          <a:xfrm>
            <a:off x="384048" y="2633472"/>
            <a:ext cx="329184" cy="329184"/>
          </a:xfrm>
          <a:prstGeom prst="rect">
            <a:avLst/>
          </a:prstGeom>
          <a:noFill/>
          <a:ln/>
        </p:spPr>
        <p:txBody>
          <a:bodyPr wrap="square" rtlCol="0" anchor="ctr"/>
          <a:lstStyle/>
          <a:p>
            <a:pPr algn="ctr" indent="0" marL="0">
              <a:buNone/>
            </a:pPr>
            <a:r>
              <a:rPr lang="en-US" sz="1100" b="1" dirty="0">
                <a:solidFill>
                  <a:srgbClr val="FFFFFF"/>
                </a:solidFill>
              </a:rPr>
              <a:t>A</a:t>
            </a:r>
            <a:endParaRPr lang="en-US" sz="1100" dirty="0"/>
          </a:p>
        </p:txBody>
      </p:sp>
      <p:sp>
        <p:nvSpPr>
          <p:cNvPr id="14" name="Text 12"/>
          <p:cNvSpPr/>
          <p:nvPr/>
        </p:nvSpPr>
        <p:spPr>
          <a:xfrm>
            <a:off x="786384" y="2615184"/>
            <a:ext cx="7991856" cy="365760"/>
          </a:xfrm>
          <a:prstGeom prst="rect">
            <a:avLst/>
          </a:prstGeom>
          <a:noFill/>
          <a:ln/>
        </p:spPr>
        <p:txBody>
          <a:bodyPr wrap="square" rtlCol="0" anchor="ctr"/>
          <a:lstStyle/>
          <a:p>
            <a:pPr indent="0" marL="0">
              <a:buNone/>
            </a:pPr>
            <a:r>
              <a:rPr lang="en-US" sz="1250" dirty="0">
                <a:solidFill>
                  <a:srgbClr val="1B2A3B"/>
                </a:solidFill>
              </a:rPr>
              <a:t>Apply the policy to each of the 15 subscriptions individually</a:t>
            </a:r>
            <a:endParaRPr lang="en-US" sz="1250" dirty="0"/>
          </a:p>
        </p:txBody>
      </p:sp>
      <p:sp>
        <p:nvSpPr>
          <p:cNvPr id="15" name="Shape 13"/>
          <p:cNvSpPr/>
          <p:nvPr/>
        </p:nvSpPr>
        <p:spPr>
          <a:xfrm>
            <a:off x="292608" y="3154680"/>
            <a:ext cx="8558784" cy="539496"/>
          </a:xfrm>
          <a:prstGeom prst="rect">
            <a:avLst/>
          </a:prstGeom>
          <a:solidFill>
            <a:srgbClr val="FFFFFF"/>
          </a:solidFill>
          <a:ln w="12700">
            <a:solidFill>
              <a:srgbClr val="C5D8EE"/>
            </a:solidFill>
            <a:prstDash val="solid"/>
          </a:ln>
        </p:spPr>
      </p:sp>
      <p:sp>
        <p:nvSpPr>
          <p:cNvPr id="16" name="Shape 14"/>
          <p:cNvSpPr/>
          <p:nvPr/>
        </p:nvSpPr>
        <p:spPr>
          <a:xfrm>
            <a:off x="384048" y="3264408"/>
            <a:ext cx="329184" cy="329184"/>
          </a:xfrm>
          <a:prstGeom prst="ellipse">
            <a:avLst/>
          </a:prstGeom>
          <a:solidFill>
            <a:srgbClr val="1B3A5C"/>
          </a:solidFill>
          <a:ln w="12700">
            <a:solidFill>
              <a:srgbClr val="1B3A5C"/>
            </a:solidFill>
            <a:prstDash val="solid"/>
          </a:ln>
        </p:spPr>
      </p:sp>
      <p:sp>
        <p:nvSpPr>
          <p:cNvPr id="17" name="Text 15"/>
          <p:cNvSpPr/>
          <p:nvPr/>
        </p:nvSpPr>
        <p:spPr>
          <a:xfrm>
            <a:off x="384048" y="3264408"/>
            <a:ext cx="329184" cy="329184"/>
          </a:xfrm>
          <a:prstGeom prst="rect">
            <a:avLst/>
          </a:prstGeom>
          <a:noFill/>
          <a:ln/>
        </p:spPr>
        <p:txBody>
          <a:bodyPr wrap="square" rtlCol="0" anchor="ctr"/>
          <a:lstStyle/>
          <a:p>
            <a:pPr algn="ctr" indent="0" marL="0">
              <a:buNone/>
            </a:pPr>
            <a:r>
              <a:rPr lang="en-US" sz="1100" b="1" dirty="0">
                <a:solidFill>
                  <a:srgbClr val="FFFFFF"/>
                </a:solidFill>
              </a:rPr>
              <a:t>B</a:t>
            </a:r>
            <a:endParaRPr lang="en-US" sz="1100" dirty="0"/>
          </a:p>
        </p:txBody>
      </p:sp>
      <p:sp>
        <p:nvSpPr>
          <p:cNvPr id="18" name="Text 16"/>
          <p:cNvSpPr/>
          <p:nvPr/>
        </p:nvSpPr>
        <p:spPr>
          <a:xfrm>
            <a:off x="786384" y="3246120"/>
            <a:ext cx="7991856" cy="365760"/>
          </a:xfrm>
          <a:prstGeom prst="rect">
            <a:avLst/>
          </a:prstGeom>
          <a:noFill/>
          <a:ln/>
        </p:spPr>
        <p:txBody>
          <a:bodyPr wrap="square" rtlCol="0" anchor="ctr"/>
          <a:lstStyle/>
          <a:p>
            <a:pPr indent="0" marL="0">
              <a:buNone/>
            </a:pPr>
            <a:r>
              <a:rPr lang="en-US" sz="1250" dirty="0">
                <a:solidFill>
                  <a:srgbClr val="1B2A3B"/>
                </a:solidFill>
              </a:rPr>
              <a:t>Create Management Groups per business unit and apply the policy at the Root Management Group</a:t>
            </a:r>
            <a:endParaRPr lang="en-US" sz="1250" dirty="0"/>
          </a:p>
        </p:txBody>
      </p:sp>
      <p:sp>
        <p:nvSpPr>
          <p:cNvPr id="19" name="Shape 17"/>
          <p:cNvSpPr/>
          <p:nvPr/>
        </p:nvSpPr>
        <p:spPr>
          <a:xfrm>
            <a:off x="292608" y="3785616"/>
            <a:ext cx="8558784" cy="539496"/>
          </a:xfrm>
          <a:prstGeom prst="rect">
            <a:avLst/>
          </a:prstGeom>
          <a:solidFill>
            <a:srgbClr val="FFFFFF"/>
          </a:solidFill>
          <a:ln w="12700">
            <a:solidFill>
              <a:srgbClr val="C5D8EE"/>
            </a:solidFill>
            <a:prstDash val="solid"/>
          </a:ln>
        </p:spPr>
      </p:sp>
      <p:sp>
        <p:nvSpPr>
          <p:cNvPr id="20" name="Shape 18"/>
          <p:cNvSpPr/>
          <p:nvPr/>
        </p:nvSpPr>
        <p:spPr>
          <a:xfrm>
            <a:off x="384048" y="3895344"/>
            <a:ext cx="329184" cy="329184"/>
          </a:xfrm>
          <a:prstGeom prst="ellipse">
            <a:avLst/>
          </a:prstGeom>
          <a:solidFill>
            <a:srgbClr val="1B3A5C"/>
          </a:solidFill>
          <a:ln w="12700">
            <a:solidFill>
              <a:srgbClr val="1B3A5C"/>
            </a:solidFill>
            <a:prstDash val="solid"/>
          </a:ln>
        </p:spPr>
      </p:sp>
      <p:sp>
        <p:nvSpPr>
          <p:cNvPr id="21" name="Text 19"/>
          <p:cNvSpPr/>
          <p:nvPr/>
        </p:nvSpPr>
        <p:spPr>
          <a:xfrm>
            <a:off x="384048" y="3895344"/>
            <a:ext cx="329184" cy="329184"/>
          </a:xfrm>
          <a:prstGeom prst="rect">
            <a:avLst/>
          </a:prstGeom>
          <a:noFill/>
          <a:ln/>
        </p:spPr>
        <p:txBody>
          <a:bodyPr wrap="square" rtlCol="0" anchor="ctr"/>
          <a:lstStyle/>
          <a:p>
            <a:pPr algn="ctr" indent="0" marL="0">
              <a:buNone/>
            </a:pPr>
            <a:r>
              <a:rPr lang="en-US" sz="1100" b="1" dirty="0">
                <a:solidFill>
                  <a:srgbClr val="FFFFFF"/>
                </a:solidFill>
              </a:rPr>
              <a:t>C</a:t>
            </a:r>
            <a:endParaRPr lang="en-US" sz="1100" dirty="0"/>
          </a:p>
        </p:txBody>
      </p:sp>
      <p:sp>
        <p:nvSpPr>
          <p:cNvPr id="22" name="Text 20"/>
          <p:cNvSpPr/>
          <p:nvPr/>
        </p:nvSpPr>
        <p:spPr>
          <a:xfrm>
            <a:off x="786384" y="3877056"/>
            <a:ext cx="7991856" cy="365760"/>
          </a:xfrm>
          <a:prstGeom prst="rect">
            <a:avLst/>
          </a:prstGeom>
          <a:noFill/>
          <a:ln/>
        </p:spPr>
        <p:txBody>
          <a:bodyPr wrap="square" rtlCol="0" anchor="ctr"/>
          <a:lstStyle/>
          <a:p>
            <a:pPr indent="0" marL="0">
              <a:buNone/>
            </a:pPr>
            <a:r>
              <a:rPr lang="en-US" sz="1250" dirty="0">
                <a:solidFill>
                  <a:srgbClr val="1B2A3B"/>
                </a:solidFill>
              </a:rPr>
              <a:t>Use Azure Blueprints on each subscription separately</a:t>
            </a:r>
            <a:endParaRPr lang="en-US" sz="1250" dirty="0"/>
          </a:p>
        </p:txBody>
      </p:sp>
      <p:sp>
        <p:nvSpPr>
          <p:cNvPr id="23" name="Shape 21"/>
          <p:cNvSpPr/>
          <p:nvPr/>
        </p:nvSpPr>
        <p:spPr>
          <a:xfrm>
            <a:off x="292608" y="4416552"/>
            <a:ext cx="8558784" cy="539496"/>
          </a:xfrm>
          <a:prstGeom prst="rect">
            <a:avLst/>
          </a:prstGeom>
          <a:solidFill>
            <a:srgbClr val="FFFFFF"/>
          </a:solidFill>
          <a:ln w="12700">
            <a:solidFill>
              <a:srgbClr val="C5D8EE"/>
            </a:solidFill>
            <a:prstDash val="solid"/>
          </a:ln>
        </p:spPr>
      </p:sp>
      <p:sp>
        <p:nvSpPr>
          <p:cNvPr id="24" name="Shape 22"/>
          <p:cNvSpPr/>
          <p:nvPr/>
        </p:nvSpPr>
        <p:spPr>
          <a:xfrm>
            <a:off x="384048" y="4526280"/>
            <a:ext cx="329184" cy="329184"/>
          </a:xfrm>
          <a:prstGeom prst="ellipse">
            <a:avLst/>
          </a:prstGeom>
          <a:solidFill>
            <a:srgbClr val="1B3A5C"/>
          </a:solidFill>
          <a:ln w="12700">
            <a:solidFill>
              <a:srgbClr val="1B3A5C"/>
            </a:solidFill>
            <a:prstDash val="solid"/>
          </a:ln>
        </p:spPr>
      </p:sp>
      <p:sp>
        <p:nvSpPr>
          <p:cNvPr id="25" name="Text 23"/>
          <p:cNvSpPr/>
          <p:nvPr/>
        </p:nvSpPr>
        <p:spPr>
          <a:xfrm>
            <a:off x="384048" y="4526280"/>
            <a:ext cx="329184" cy="329184"/>
          </a:xfrm>
          <a:prstGeom prst="rect">
            <a:avLst/>
          </a:prstGeom>
          <a:noFill/>
          <a:ln/>
        </p:spPr>
        <p:txBody>
          <a:bodyPr wrap="square" rtlCol="0" anchor="ctr"/>
          <a:lstStyle/>
          <a:p>
            <a:pPr algn="ctr" indent="0" marL="0">
              <a:buNone/>
            </a:pPr>
            <a:r>
              <a:rPr lang="en-US" sz="1100" b="1" dirty="0">
                <a:solidFill>
                  <a:srgbClr val="FFFFFF"/>
                </a:solidFill>
              </a:rPr>
              <a:t>D</a:t>
            </a:r>
            <a:endParaRPr lang="en-US" sz="1100" dirty="0"/>
          </a:p>
        </p:txBody>
      </p:sp>
      <p:sp>
        <p:nvSpPr>
          <p:cNvPr id="26" name="Text 24"/>
          <p:cNvSpPr/>
          <p:nvPr/>
        </p:nvSpPr>
        <p:spPr>
          <a:xfrm>
            <a:off x="786384" y="4507992"/>
            <a:ext cx="7991856" cy="365760"/>
          </a:xfrm>
          <a:prstGeom prst="rect">
            <a:avLst/>
          </a:prstGeom>
          <a:noFill/>
          <a:ln/>
        </p:spPr>
        <p:txBody>
          <a:bodyPr wrap="square" rtlCol="0" anchor="ctr"/>
          <a:lstStyle/>
          <a:p>
            <a:pPr indent="0" marL="0">
              <a:buNone/>
            </a:pPr>
            <a:r>
              <a:rPr lang="en-US" sz="1250" dirty="0">
                <a:solidFill>
                  <a:srgbClr val="1B2A3B"/>
                </a:solidFill>
              </a:rPr>
              <a:t>Apply a Resource Lock at each subscription level</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8FD"/>
        </a:solidFill>
      </p:bgPr>
    </p:bg>
    <p:spTree>
      <p:nvGrpSpPr>
        <p:cNvPr id="1" name=""/>
        <p:cNvGrpSpPr/>
        <p:nvPr/>
      </p:nvGrpSpPr>
      <p:grpSpPr>
        <a:xfrm>
          <a:off x="0" y="0"/>
          <a:ext cx="0" cy="0"/>
          <a:chOff x="0" y="0"/>
          <a:chExt cx="0" cy="0"/>
        </a:xfrm>
      </p:grpSpPr>
      <p:sp>
        <p:nvSpPr>
          <p:cNvPr id="2" name="Shape 0"/>
          <p:cNvSpPr/>
          <p:nvPr/>
        </p:nvSpPr>
        <p:spPr>
          <a:xfrm>
            <a:off x="0" y="0"/>
            <a:ext cx="146304" cy="5143500"/>
          </a:xfrm>
          <a:prstGeom prst="rect">
            <a:avLst/>
          </a:prstGeom>
          <a:solidFill>
            <a:srgbClr val="107C10"/>
          </a:solidFill>
          <a:ln w="12700">
            <a:solidFill>
              <a:srgbClr val="107C10"/>
            </a:solidFill>
            <a:prstDash val="solid"/>
          </a:ln>
        </p:spPr>
      </p:sp>
      <p:sp>
        <p:nvSpPr>
          <p:cNvPr id="3" name="Shape 1"/>
          <p:cNvSpPr/>
          <p:nvPr/>
        </p:nvSpPr>
        <p:spPr>
          <a:xfrm>
            <a:off x="146304" y="0"/>
            <a:ext cx="8997696" cy="594360"/>
          </a:xfrm>
          <a:prstGeom prst="rect">
            <a:avLst/>
          </a:prstGeom>
          <a:solidFill>
            <a:srgbClr val="0A1628"/>
          </a:solidFill>
          <a:ln w="12700">
            <a:solidFill>
              <a:srgbClr val="0A1628"/>
            </a:solidFill>
            <a:prstDash val="solid"/>
          </a:ln>
        </p:spPr>
      </p:sp>
      <p:sp>
        <p:nvSpPr>
          <p:cNvPr id="4" name="Text 2"/>
          <p:cNvSpPr/>
          <p:nvPr/>
        </p:nvSpPr>
        <p:spPr>
          <a:xfrm>
            <a:off x="292608" y="0"/>
            <a:ext cx="6583680" cy="594360"/>
          </a:xfrm>
          <a:prstGeom prst="rect">
            <a:avLst/>
          </a:prstGeom>
          <a:noFill/>
          <a:ln/>
        </p:spPr>
        <p:txBody>
          <a:bodyPr wrap="square" lIns="0" tIns="0" rIns="0" bIns="0" rtlCol="0" anchor="ctr"/>
          <a:lstStyle/>
          <a:p>
            <a:pPr indent="0" marL="0">
              <a:buNone/>
            </a:pPr>
            <a:r>
              <a:rPr lang="en-US" sz="1200" b="1" dirty="0">
                <a:solidFill>
                  <a:srgbClr val="00FF90"/>
                </a:solidFill>
              </a:rPr>
              <a:t>✅  ANSWER 5  ·  Management Groups</a:t>
            </a:r>
            <a:endParaRPr lang="en-US" sz="1200" dirty="0"/>
          </a:p>
        </p:txBody>
      </p:sp>
      <p:sp>
        <p:nvSpPr>
          <p:cNvPr id="5" name="Text 3"/>
          <p:cNvSpPr/>
          <p:nvPr/>
        </p:nvSpPr>
        <p:spPr>
          <a:xfrm>
            <a:off x="7498080" y="0"/>
            <a:ext cx="1499616" cy="594360"/>
          </a:xfrm>
          <a:prstGeom prst="rect">
            <a:avLst/>
          </a:prstGeom>
          <a:noFill/>
          <a:ln/>
        </p:spPr>
        <p:txBody>
          <a:bodyPr wrap="square" lIns="0" tIns="0" rIns="0" bIns="0" rtlCol="0" anchor="ctr"/>
          <a:lstStyle/>
          <a:p>
            <a:pPr algn="r" indent="0" marL="0">
              <a:buNone/>
            </a:pPr>
            <a:r>
              <a:rPr lang="en-US" sz="1200" b="1" dirty="0">
                <a:solidFill>
                  <a:srgbClr val="6C8EAD"/>
                </a:solidFill>
              </a:rPr>
              <a:t>5 / 20</a:t>
            </a:r>
            <a:endParaRPr lang="en-US" sz="1200" dirty="0"/>
          </a:p>
        </p:txBody>
      </p:sp>
      <p:sp>
        <p:nvSpPr>
          <p:cNvPr id="6" name="Shape 4"/>
          <p:cNvSpPr/>
          <p:nvPr/>
        </p:nvSpPr>
        <p:spPr>
          <a:xfrm>
            <a:off x="292608" y="658368"/>
            <a:ext cx="8558784" cy="475488"/>
          </a:xfrm>
          <a:prstGeom prst="rect">
            <a:avLst/>
          </a:prstGeom>
          <a:solidFill>
            <a:srgbClr val="E6F3E6"/>
          </a:solidFill>
          <a:ln w="25400">
            <a:solidFill>
              <a:srgbClr val="107C10"/>
            </a:solidFill>
            <a:prstDash val="solid"/>
          </a:ln>
        </p:spPr>
      </p:sp>
      <p:sp>
        <p:nvSpPr>
          <p:cNvPr id="7" name="Text 5"/>
          <p:cNvSpPr/>
          <p:nvPr/>
        </p:nvSpPr>
        <p:spPr>
          <a:xfrm>
            <a:off x="420624" y="658368"/>
            <a:ext cx="8321040" cy="475488"/>
          </a:xfrm>
          <a:prstGeom prst="rect">
            <a:avLst/>
          </a:prstGeom>
          <a:noFill/>
          <a:ln/>
        </p:spPr>
        <p:txBody>
          <a:bodyPr wrap="square" rtlCol="0" anchor="ctr"/>
          <a:lstStyle/>
          <a:p>
            <a:pPr indent="0" marL="0">
              <a:buNone/>
            </a:pPr>
            <a:r>
              <a:rPr lang="en-US" sz="1300" b="1" dirty="0">
                <a:solidFill>
                  <a:srgbClr val="107C10"/>
                </a:solidFill>
              </a:rPr>
              <a:t>✔  Correct: B — Create Management Groups per business unit and apply the policy at the Root Management Group</a:t>
            </a:r>
            <a:endParaRPr lang="en-US" sz="1300" dirty="0"/>
          </a:p>
        </p:txBody>
      </p:sp>
      <p:sp>
        <p:nvSpPr>
          <p:cNvPr id="8" name="Text 6"/>
          <p:cNvSpPr/>
          <p:nvPr/>
        </p:nvSpPr>
        <p:spPr>
          <a:xfrm>
            <a:off x="292608" y="1216152"/>
            <a:ext cx="8558784" cy="292608"/>
          </a:xfrm>
          <a:prstGeom prst="rect">
            <a:avLst/>
          </a:prstGeom>
          <a:noFill/>
          <a:ln/>
        </p:spPr>
        <p:txBody>
          <a:bodyPr wrap="square" rtlCol="0" anchor="ctr"/>
          <a:lstStyle/>
          <a:p>
            <a:pPr indent="0" marL="0">
              <a:buNone/>
            </a:pPr>
            <a:r>
              <a:rPr lang="en-US" sz="1200" b="1" dirty="0">
                <a:solidFill>
                  <a:srgbClr val="0A1628"/>
                </a:solidFill>
              </a:rPr>
              <a:t>Why this is correct</a:t>
            </a:r>
            <a:endParaRPr lang="en-US" sz="1200" dirty="0"/>
          </a:p>
        </p:txBody>
      </p:sp>
      <p:sp>
        <p:nvSpPr>
          <p:cNvPr id="9" name="Shape 7"/>
          <p:cNvSpPr/>
          <p:nvPr/>
        </p:nvSpPr>
        <p:spPr>
          <a:xfrm>
            <a:off x="292608" y="1517904"/>
            <a:ext cx="8558784" cy="1097280"/>
          </a:xfrm>
          <a:prstGeom prst="rect">
            <a:avLst/>
          </a:prstGeom>
          <a:solidFill>
            <a:srgbClr val="FFFFFF"/>
          </a:solidFill>
          <a:ln w="12700">
            <a:solidFill>
              <a:srgbClr val="C5D8EE"/>
            </a:solidFill>
            <a:prstDash val="solid"/>
          </a:ln>
        </p:spPr>
      </p:sp>
      <p:sp>
        <p:nvSpPr>
          <p:cNvPr id="10" name="Text 8"/>
          <p:cNvSpPr/>
          <p:nvPr/>
        </p:nvSpPr>
        <p:spPr>
          <a:xfrm>
            <a:off x="420624" y="1563624"/>
            <a:ext cx="8321040" cy="1005840"/>
          </a:xfrm>
          <a:prstGeom prst="rect">
            <a:avLst/>
          </a:prstGeom>
          <a:noFill/>
          <a:ln/>
        </p:spPr>
        <p:txBody>
          <a:bodyPr wrap="square" rtlCol="0" anchor="t"/>
          <a:lstStyle/>
          <a:p>
            <a:pPr indent="0" marL="0">
              <a:buNone/>
            </a:pPr>
            <a:r>
              <a:rPr lang="en-US" sz="1150" dirty="0">
                <a:solidFill>
                  <a:srgbClr val="1B2A3B"/>
                </a:solidFill>
              </a:rPr>
              <a:t>Management Groups provide a hierarchy above subscriptions. Applying an Azure Policy at the Root Management Group (or a parent management group) automatically inherits down to all child subscriptions. This is far more efficient than applying policies 15 times individually. Blueprints can help but require individual assignment. Resource Locks don't enforce encryption policies.</a:t>
            </a:r>
            <a:endParaRPr lang="en-US" sz="1150" dirty="0"/>
          </a:p>
        </p:txBody>
      </p:sp>
      <p:sp>
        <p:nvSpPr>
          <p:cNvPr id="11" name="Text 9"/>
          <p:cNvSpPr/>
          <p:nvPr/>
        </p:nvSpPr>
        <p:spPr>
          <a:xfrm>
            <a:off x="292608" y="2697480"/>
            <a:ext cx="8558784" cy="292608"/>
          </a:xfrm>
          <a:prstGeom prst="rect">
            <a:avLst/>
          </a:prstGeom>
          <a:noFill/>
          <a:ln/>
        </p:spPr>
        <p:txBody>
          <a:bodyPr wrap="square" rtlCol="0" anchor="ctr"/>
          <a:lstStyle/>
          <a:p>
            <a:pPr indent="0" marL="0">
              <a:buNone/>
            </a:pPr>
            <a:r>
              <a:rPr lang="en-US" sz="1200" b="1" dirty="0">
                <a:solidFill>
                  <a:srgbClr val="0A1628"/>
                </a:solidFill>
              </a:rPr>
              <a:t>Why the other options are incorrect</a:t>
            </a:r>
            <a:endParaRPr lang="en-US" sz="1200" dirty="0"/>
          </a:p>
        </p:txBody>
      </p:sp>
      <p:sp>
        <p:nvSpPr>
          <p:cNvPr id="12" name="Shape 10"/>
          <p:cNvSpPr/>
          <p:nvPr/>
        </p:nvSpPr>
        <p:spPr>
          <a:xfrm>
            <a:off x="292608" y="3035808"/>
            <a:ext cx="8558784" cy="603504"/>
          </a:xfrm>
          <a:prstGeom prst="rect">
            <a:avLst/>
          </a:prstGeom>
          <a:solidFill>
            <a:srgbClr val="FAEAEA"/>
          </a:solidFill>
          <a:ln w="12700">
            <a:solidFill>
              <a:srgbClr val="F4AAAA"/>
            </a:solidFill>
            <a:prstDash val="solid"/>
          </a:ln>
        </p:spPr>
      </p:sp>
      <p:sp>
        <p:nvSpPr>
          <p:cNvPr id="13" name="Shape 11"/>
          <p:cNvSpPr/>
          <p:nvPr/>
        </p:nvSpPr>
        <p:spPr>
          <a:xfrm>
            <a:off x="384048" y="3172968"/>
            <a:ext cx="301752" cy="301752"/>
          </a:xfrm>
          <a:prstGeom prst="ellipse">
            <a:avLst/>
          </a:prstGeom>
          <a:solidFill>
            <a:srgbClr val="A80000"/>
          </a:solidFill>
          <a:ln w="12700">
            <a:solidFill>
              <a:srgbClr val="A80000"/>
            </a:solidFill>
            <a:prstDash val="solid"/>
          </a:ln>
        </p:spPr>
      </p:sp>
      <p:sp>
        <p:nvSpPr>
          <p:cNvPr id="14" name="Text 12"/>
          <p:cNvSpPr/>
          <p:nvPr/>
        </p:nvSpPr>
        <p:spPr>
          <a:xfrm>
            <a:off x="384048" y="3172968"/>
            <a:ext cx="301752" cy="301752"/>
          </a:xfrm>
          <a:prstGeom prst="rect">
            <a:avLst/>
          </a:prstGeom>
          <a:noFill/>
          <a:ln/>
        </p:spPr>
        <p:txBody>
          <a:bodyPr wrap="square" rtlCol="0" anchor="ctr"/>
          <a:lstStyle/>
          <a:p>
            <a:pPr algn="ctr" indent="0" marL="0">
              <a:buNone/>
            </a:pPr>
            <a:r>
              <a:rPr lang="en-US" sz="1100" b="1" dirty="0">
                <a:solidFill>
                  <a:srgbClr val="FFFFFF"/>
                </a:solidFill>
              </a:rPr>
              <a:t>A</a:t>
            </a:r>
            <a:endParaRPr lang="en-US" sz="1100" dirty="0"/>
          </a:p>
        </p:txBody>
      </p:sp>
      <p:sp>
        <p:nvSpPr>
          <p:cNvPr id="15" name="Text 13"/>
          <p:cNvSpPr/>
          <p:nvPr/>
        </p:nvSpPr>
        <p:spPr>
          <a:xfrm>
            <a:off x="768096" y="3090672"/>
            <a:ext cx="8010144" cy="493776"/>
          </a:xfrm>
          <a:prstGeom prst="rect">
            <a:avLst/>
          </a:prstGeom>
          <a:noFill/>
          <a:ln/>
        </p:spPr>
        <p:txBody>
          <a:bodyPr wrap="square" rtlCol="0" anchor="ctr"/>
          <a:lstStyle/>
          <a:p>
            <a:pPr indent="0" marL="0">
              <a:buNone/>
            </a:pPr>
            <a:r>
              <a:rPr lang="en-US" sz="1150" dirty="0">
                <a:solidFill>
                  <a:srgbClr val="1B2A3B"/>
                </a:solidFill>
              </a:rPr>
              <a:t>Applying policies individually to 15 subscriptions is inefficient and error-prone — the exact problem Management Groups solve.</a:t>
            </a:r>
            <a:endParaRPr lang="en-US" sz="1150" dirty="0"/>
          </a:p>
        </p:txBody>
      </p:sp>
      <p:sp>
        <p:nvSpPr>
          <p:cNvPr id="16" name="Shape 14"/>
          <p:cNvSpPr/>
          <p:nvPr/>
        </p:nvSpPr>
        <p:spPr>
          <a:xfrm>
            <a:off x="292608" y="3712464"/>
            <a:ext cx="8558784" cy="603504"/>
          </a:xfrm>
          <a:prstGeom prst="rect">
            <a:avLst/>
          </a:prstGeom>
          <a:solidFill>
            <a:srgbClr val="FAEAEA"/>
          </a:solidFill>
          <a:ln w="12700">
            <a:solidFill>
              <a:srgbClr val="F4AAAA"/>
            </a:solidFill>
            <a:prstDash val="solid"/>
          </a:ln>
        </p:spPr>
      </p:sp>
      <p:sp>
        <p:nvSpPr>
          <p:cNvPr id="17" name="Shape 15"/>
          <p:cNvSpPr/>
          <p:nvPr/>
        </p:nvSpPr>
        <p:spPr>
          <a:xfrm>
            <a:off x="384048" y="3849624"/>
            <a:ext cx="301752" cy="301752"/>
          </a:xfrm>
          <a:prstGeom prst="ellipse">
            <a:avLst/>
          </a:prstGeom>
          <a:solidFill>
            <a:srgbClr val="A80000"/>
          </a:solidFill>
          <a:ln w="12700">
            <a:solidFill>
              <a:srgbClr val="A80000"/>
            </a:solidFill>
            <a:prstDash val="solid"/>
          </a:ln>
        </p:spPr>
      </p:sp>
      <p:sp>
        <p:nvSpPr>
          <p:cNvPr id="18" name="Text 16"/>
          <p:cNvSpPr/>
          <p:nvPr/>
        </p:nvSpPr>
        <p:spPr>
          <a:xfrm>
            <a:off x="384048" y="3849624"/>
            <a:ext cx="301752" cy="301752"/>
          </a:xfrm>
          <a:prstGeom prst="rect">
            <a:avLst/>
          </a:prstGeom>
          <a:noFill/>
          <a:ln/>
        </p:spPr>
        <p:txBody>
          <a:bodyPr wrap="square" rtlCol="0" anchor="ctr"/>
          <a:lstStyle/>
          <a:p>
            <a:pPr algn="ctr" indent="0" marL="0">
              <a:buNone/>
            </a:pPr>
            <a:r>
              <a:rPr lang="en-US" sz="1100" b="1" dirty="0">
                <a:solidFill>
                  <a:srgbClr val="FFFFFF"/>
                </a:solidFill>
              </a:rPr>
              <a:t>C</a:t>
            </a:r>
            <a:endParaRPr lang="en-US" sz="1100" dirty="0"/>
          </a:p>
        </p:txBody>
      </p:sp>
      <p:sp>
        <p:nvSpPr>
          <p:cNvPr id="19" name="Text 17"/>
          <p:cNvSpPr/>
          <p:nvPr/>
        </p:nvSpPr>
        <p:spPr>
          <a:xfrm>
            <a:off x="768096" y="3767328"/>
            <a:ext cx="8010144" cy="493776"/>
          </a:xfrm>
          <a:prstGeom prst="rect">
            <a:avLst/>
          </a:prstGeom>
          <a:noFill/>
          <a:ln/>
        </p:spPr>
        <p:txBody>
          <a:bodyPr wrap="square" rtlCol="0" anchor="ctr"/>
          <a:lstStyle/>
          <a:p>
            <a:pPr indent="0" marL="0">
              <a:buNone/>
            </a:pPr>
            <a:r>
              <a:rPr lang="en-US" sz="1150" dirty="0">
                <a:solidFill>
                  <a:srgbClr val="1B2A3B"/>
                </a:solidFill>
              </a:rPr>
              <a:t>Azure Blueprints can bundle policies and roles but are assigned per subscription, not inherited automatically.</a:t>
            </a:r>
            <a:endParaRPr lang="en-US" sz="1150" dirty="0"/>
          </a:p>
        </p:txBody>
      </p:sp>
      <p:sp>
        <p:nvSpPr>
          <p:cNvPr id="20" name="Shape 18"/>
          <p:cNvSpPr/>
          <p:nvPr/>
        </p:nvSpPr>
        <p:spPr>
          <a:xfrm>
            <a:off x="292608" y="4389120"/>
            <a:ext cx="8558784" cy="603504"/>
          </a:xfrm>
          <a:prstGeom prst="rect">
            <a:avLst/>
          </a:prstGeom>
          <a:solidFill>
            <a:srgbClr val="FAEAEA"/>
          </a:solidFill>
          <a:ln w="12700">
            <a:solidFill>
              <a:srgbClr val="F4AAAA"/>
            </a:solidFill>
            <a:prstDash val="solid"/>
          </a:ln>
        </p:spPr>
      </p:sp>
      <p:sp>
        <p:nvSpPr>
          <p:cNvPr id="21" name="Shape 19"/>
          <p:cNvSpPr/>
          <p:nvPr/>
        </p:nvSpPr>
        <p:spPr>
          <a:xfrm>
            <a:off x="384048" y="4526280"/>
            <a:ext cx="301752" cy="301752"/>
          </a:xfrm>
          <a:prstGeom prst="ellipse">
            <a:avLst/>
          </a:prstGeom>
          <a:solidFill>
            <a:srgbClr val="A80000"/>
          </a:solidFill>
          <a:ln w="12700">
            <a:solidFill>
              <a:srgbClr val="A80000"/>
            </a:solidFill>
            <a:prstDash val="solid"/>
          </a:ln>
        </p:spPr>
      </p:sp>
      <p:sp>
        <p:nvSpPr>
          <p:cNvPr id="22" name="Text 20"/>
          <p:cNvSpPr/>
          <p:nvPr/>
        </p:nvSpPr>
        <p:spPr>
          <a:xfrm>
            <a:off x="384048" y="4526280"/>
            <a:ext cx="301752" cy="301752"/>
          </a:xfrm>
          <a:prstGeom prst="rect">
            <a:avLst/>
          </a:prstGeom>
          <a:noFill/>
          <a:ln/>
        </p:spPr>
        <p:txBody>
          <a:bodyPr wrap="square" rtlCol="0" anchor="ctr"/>
          <a:lstStyle/>
          <a:p>
            <a:pPr algn="ctr" indent="0" marL="0">
              <a:buNone/>
            </a:pPr>
            <a:r>
              <a:rPr lang="en-US" sz="1100" b="1" dirty="0">
                <a:solidFill>
                  <a:srgbClr val="FFFFFF"/>
                </a:solidFill>
              </a:rPr>
              <a:t>D</a:t>
            </a:r>
            <a:endParaRPr lang="en-US" sz="1100" dirty="0"/>
          </a:p>
        </p:txBody>
      </p:sp>
      <p:sp>
        <p:nvSpPr>
          <p:cNvPr id="23" name="Text 21"/>
          <p:cNvSpPr/>
          <p:nvPr/>
        </p:nvSpPr>
        <p:spPr>
          <a:xfrm>
            <a:off x="768096" y="4443984"/>
            <a:ext cx="8010144" cy="493776"/>
          </a:xfrm>
          <a:prstGeom prst="rect">
            <a:avLst/>
          </a:prstGeom>
          <a:noFill/>
          <a:ln/>
        </p:spPr>
        <p:txBody>
          <a:bodyPr wrap="square" rtlCol="0" anchor="ctr"/>
          <a:lstStyle/>
          <a:p>
            <a:pPr indent="0" marL="0">
              <a:buNone/>
            </a:pPr>
            <a:r>
              <a:rPr lang="en-US" sz="1150" dirty="0">
                <a:solidFill>
                  <a:srgbClr val="1B2A3B"/>
                </a:solidFill>
              </a:rPr>
              <a:t>Resource Locks (CanNotDelete/ReadOnly) protect resources from modification/deletion but do not enforce encryption configurations.</a:t>
            </a:r>
            <a:endParaRPr lang="en-US" sz="11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8FD"/>
        </a:solidFill>
      </p:bgPr>
    </p:bg>
    <p:spTree>
      <p:nvGrpSpPr>
        <p:cNvPr id="1" name=""/>
        <p:cNvGrpSpPr/>
        <p:nvPr/>
      </p:nvGrpSpPr>
      <p:grpSpPr>
        <a:xfrm>
          <a:off x="0" y="0"/>
          <a:ext cx="0" cy="0"/>
          <a:chOff x="0" y="0"/>
          <a:chExt cx="0" cy="0"/>
        </a:xfrm>
      </p:grpSpPr>
      <p:sp>
        <p:nvSpPr>
          <p:cNvPr id="2" name="Shape 0"/>
          <p:cNvSpPr/>
          <p:nvPr/>
        </p:nvSpPr>
        <p:spPr>
          <a:xfrm>
            <a:off x="0" y="0"/>
            <a:ext cx="146304" cy="5143500"/>
          </a:xfrm>
          <a:prstGeom prst="rect">
            <a:avLst/>
          </a:prstGeom>
          <a:solidFill>
            <a:srgbClr val="0078D4"/>
          </a:solidFill>
          <a:ln w="12700">
            <a:solidFill>
              <a:srgbClr val="0078D4"/>
            </a:solidFill>
            <a:prstDash val="solid"/>
          </a:ln>
        </p:spPr>
      </p:sp>
      <p:sp>
        <p:nvSpPr>
          <p:cNvPr id="3" name="Shape 1"/>
          <p:cNvSpPr/>
          <p:nvPr/>
        </p:nvSpPr>
        <p:spPr>
          <a:xfrm>
            <a:off x="146304" y="0"/>
            <a:ext cx="8997696" cy="594360"/>
          </a:xfrm>
          <a:prstGeom prst="rect">
            <a:avLst/>
          </a:prstGeom>
          <a:solidFill>
            <a:srgbClr val="0A1628"/>
          </a:solidFill>
          <a:ln w="12700">
            <a:solidFill>
              <a:srgbClr val="0A1628"/>
            </a:solidFill>
            <a:prstDash val="solid"/>
          </a:ln>
        </p:spPr>
      </p:sp>
      <p:sp>
        <p:nvSpPr>
          <p:cNvPr id="4" name="Text 2"/>
          <p:cNvSpPr/>
          <p:nvPr/>
        </p:nvSpPr>
        <p:spPr>
          <a:xfrm>
            <a:off x="292608" y="0"/>
            <a:ext cx="6583680" cy="594360"/>
          </a:xfrm>
          <a:prstGeom prst="rect">
            <a:avLst/>
          </a:prstGeom>
          <a:noFill/>
          <a:ln/>
        </p:spPr>
        <p:txBody>
          <a:bodyPr wrap="square" lIns="0" tIns="0" rIns="0" bIns="0" rtlCol="0" anchor="ctr"/>
          <a:lstStyle/>
          <a:p>
            <a:pPr indent="0" marL="0">
              <a:buNone/>
            </a:pPr>
            <a:r>
              <a:rPr lang="en-US" sz="1200" b="1" dirty="0">
                <a:solidFill>
                  <a:srgbClr val="50E6FF"/>
                </a:solidFill>
              </a:rPr>
              <a:t>❓  QUESTION 6  ·  Azure Policy</a:t>
            </a:r>
            <a:endParaRPr lang="en-US" sz="1200" dirty="0"/>
          </a:p>
        </p:txBody>
      </p:sp>
      <p:sp>
        <p:nvSpPr>
          <p:cNvPr id="5" name="Text 3"/>
          <p:cNvSpPr/>
          <p:nvPr/>
        </p:nvSpPr>
        <p:spPr>
          <a:xfrm>
            <a:off x="7498080" y="0"/>
            <a:ext cx="1499616" cy="594360"/>
          </a:xfrm>
          <a:prstGeom prst="rect">
            <a:avLst/>
          </a:prstGeom>
          <a:noFill/>
          <a:ln/>
        </p:spPr>
        <p:txBody>
          <a:bodyPr wrap="square" lIns="0" tIns="0" rIns="0" bIns="0" rtlCol="0" anchor="ctr"/>
          <a:lstStyle/>
          <a:p>
            <a:pPr algn="r" indent="0" marL="0">
              <a:buNone/>
            </a:pPr>
            <a:r>
              <a:rPr lang="en-US" sz="1200" b="1" dirty="0">
                <a:solidFill>
                  <a:srgbClr val="6C8EAD"/>
                </a:solidFill>
              </a:rPr>
              <a:t>6 / 20</a:t>
            </a:r>
            <a:endParaRPr lang="en-US" sz="1200" dirty="0"/>
          </a:p>
        </p:txBody>
      </p:sp>
      <p:sp>
        <p:nvSpPr>
          <p:cNvPr id="6" name="Shape 4"/>
          <p:cNvSpPr/>
          <p:nvPr/>
        </p:nvSpPr>
        <p:spPr>
          <a:xfrm>
            <a:off x="292608" y="685800"/>
            <a:ext cx="1097280" cy="256032"/>
          </a:xfrm>
          <a:prstGeom prst="rect">
            <a:avLst/>
          </a:prstGeom>
          <a:solidFill>
            <a:srgbClr val="0078D4"/>
          </a:solidFill>
          <a:ln w="12700">
            <a:solidFill>
              <a:srgbClr val="0078D4"/>
            </a:solidFill>
            <a:prstDash val="solid"/>
          </a:ln>
        </p:spPr>
      </p:sp>
      <p:sp>
        <p:nvSpPr>
          <p:cNvPr id="7" name="Text 5"/>
          <p:cNvSpPr/>
          <p:nvPr/>
        </p:nvSpPr>
        <p:spPr>
          <a:xfrm>
            <a:off x="292608" y="685800"/>
            <a:ext cx="1097280" cy="256032"/>
          </a:xfrm>
          <a:prstGeom prst="rect">
            <a:avLst/>
          </a:prstGeom>
          <a:noFill/>
          <a:ln/>
        </p:spPr>
        <p:txBody>
          <a:bodyPr wrap="square" rtlCol="0" anchor="ctr"/>
          <a:lstStyle/>
          <a:p>
            <a:pPr algn="ctr" indent="0" marL="0">
              <a:buNone/>
            </a:pPr>
            <a:r>
              <a:rPr lang="en-US" sz="800" b="1" dirty="0">
                <a:solidFill>
                  <a:srgbClr val="FFFFFF"/>
                </a:solidFill>
              </a:rPr>
              <a:t>SCENARIO</a:t>
            </a:r>
            <a:endParaRPr lang="en-US" sz="800" dirty="0"/>
          </a:p>
        </p:txBody>
      </p:sp>
      <p:sp>
        <p:nvSpPr>
          <p:cNvPr id="8" name="Shape 6"/>
          <p:cNvSpPr/>
          <p:nvPr/>
        </p:nvSpPr>
        <p:spPr>
          <a:xfrm>
            <a:off x="292608" y="978408"/>
            <a:ext cx="8558784" cy="960120"/>
          </a:xfrm>
          <a:prstGeom prst="rect">
            <a:avLst/>
          </a:prstGeom>
          <a:solidFill>
            <a:srgbClr val="EBF4FF"/>
          </a:solidFill>
          <a:ln w="12700">
            <a:solidFill>
              <a:srgbClr val="0078D4"/>
            </a:solidFill>
            <a:prstDash val="solid"/>
          </a:ln>
        </p:spPr>
      </p:sp>
      <p:sp>
        <p:nvSpPr>
          <p:cNvPr id="9" name="Text 7"/>
          <p:cNvSpPr/>
          <p:nvPr/>
        </p:nvSpPr>
        <p:spPr>
          <a:xfrm>
            <a:off x="420624" y="1024128"/>
            <a:ext cx="8321040" cy="868680"/>
          </a:xfrm>
          <a:prstGeom prst="rect">
            <a:avLst/>
          </a:prstGeom>
          <a:noFill/>
          <a:ln/>
        </p:spPr>
        <p:txBody>
          <a:bodyPr wrap="square" rtlCol="0" anchor="t"/>
          <a:lstStyle/>
          <a:p>
            <a:pPr indent="0" marL="0">
              <a:buNone/>
            </a:pPr>
            <a:r>
              <a:rPr lang="en-US" sz="1250" dirty="0">
                <a:solidFill>
                  <a:srgbClr val="1B2A3B"/>
                </a:solidFill>
              </a:rPr>
              <a:t>The security team at Woodgrove Bank wants to ensure that no new Azure Storage Accounts are created without HTTPS-only access enabled. Existing non-compliant resources should be flagged but not blocked.</a:t>
            </a:r>
            <a:endParaRPr lang="en-US" sz="1250" dirty="0"/>
          </a:p>
        </p:txBody>
      </p:sp>
      <p:sp>
        <p:nvSpPr>
          <p:cNvPr id="10" name="Text 8"/>
          <p:cNvSpPr/>
          <p:nvPr/>
        </p:nvSpPr>
        <p:spPr>
          <a:xfrm>
            <a:off x="292608" y="2048256"/>
            <a:ext cx="8558784" cy="420624"/>
          </a:xfrm>
          <a:prstGeom prst="rect">
            <a:avLst/>
          </a:prstGeom>
          <a:noFill/>
          <a:ln/>
        </p:spPr>
        <p:txBody>
          <a:bodyPr wrap="square" rtlCol="0" anchor="ctr"/>
          <a:lstStyle/>
          <a:p>
            <a:pPr indent="0" marL="0">
              <a:buNone/>
            </a:pPr>
            <a:r>
              <a:rPr lang="en-US" sz="1350" b="1" dirty="0">
                <a:solidFill>
                  <a:srgbClr val="0A1628"/>
                </a:solidFill>
              </a:rPr>
              <a:t>Which Azure Policy effect combination should be used?</a:t>
            </a:r>
            <a:endParaRPr lang="en-US" sz="1350" dirty="0"/>
          </a:p>
        </p:txBody>
      </p:sp>
      <p:sp>
        <p:nvSpPr>
          <p:cNvPr id="11" name="Shape 9"/>
          <p:cNvSpPr/>
          <p:nvPr/>
        </p:nvSpPr>
        <p:spPr>
          <a:xfrm>
            <a:off x="292608" y="2523744"/>
            <a:ext cx="8558784" cy="539496"/>
          </a:xfrm>
          <a:prstGeom prst="rect">
            <a:avLst/>
          </a:prstGeom>
          <a:solidFill>
            <a:srgbClr val="FFFFFF"/>
          </a:solidFill>
          <a:ln w="12700">
            <a:solidFill>
              <a:srgbClr val="C5D8EE"/>
            </a:solidFill>
            <a:prstDash val="solid"/>
          </a:ln>
        </p:spPr>
      </p:sp>
      <p:sp>
        <p:nvSpPr>
          <p:cNvPr id="12" name="Shape 10"/>
          <p:cNvSpPr/>
          <p:nvPr/>
        </p:nvSpPr>
        <p:spPr>
          <a:xfrm>
            <a:off x="384048" y="2633472"/>
            <a:ext cx="329184" cy="329184"/>
          </a:xfrm>
          <a:prstGeom prst="ellipse">
            <a:avLst/>
          </a:prstGeom>
          <a:solidFill>
            <a:srgbClr val="1B3A5C"/>
          </a:solidFill>
          <a:ln w="12700">
            <a:solidFill>
              <a:srgbClr val="1B3A5C"/>
            </a:solidFill>
            <a:prstDash val="solid"/>
          </a:ln>
        </p:spPr>
      </p:sp>
      <p:sp>
        <p:nvSpPr>
          <p:cNvPr id="13" name="Text 11"/>
          <p:cNvSpPr/>
          <p:nvPr/>
        </p:nvSpPr>
        <p:spPr>
          <a:xfrm>
            <a:off x="384048" y="2633472"/>
            <a:ext cx="329184" cy="329184"/>
          </a:xfrm>
          <a:prstGeom prst="rect">
            <a:avLst/>
          </a:prstGeom>
          <a:noFill/>
          <a:ln/>
        </p:spPr>
        <p:txBody>
          <a:bodyPr wrap="square" rtlCol="0" anchor="ctr"/>
          <a:lstStyle/>
          <a:p>
            <a:pPr algn="ctr" indent="0" marL="0">
              <a:buNone/>
            </a:pPr>
            <a:r>
              <a:rPr lang="en-US" sz="1100" b="1" dirty="0">
                <a:solidFill>
                  <a:srgbClr val="FFFFFF"/>
                </a:solidFill>
              </a:rPr>
              <a:t>A</a:t>
            </a:r>
            <a:endParaRPr lang="en-US" sz="1100" dirty="0"/>
          </a:p>
        </p:txBody>
      </p:sp>
      <p:sp>
        <p:nvSpPr>
          <p:cNvPr id="14" name="Text 12"/>
          <p:cNvSpPr/>
          <p:nvPr/>
        </p:nvSpPr>
        <p:spPr>
          <a:xfrm>
            <a:off x="786384" y="2615184"/>
            <a:ext cx="7991856" cy="365760"/>
          </a:xfrm>
          <a:prstGeom prst="rect">
            <a:avLst/>
          </a:prstGeom>
          <a:noFill/>
          <a:ln/>
        </p:spPr>
        <p:txBody>
          <a:bodyPr wrap="square" rtlCol="0" anchor="ctr"/>
          <a:lstStyle/>
          <a:p>
            <a:pPr indent="0" marL="0">
              <a:buNone/>
            </a:pPr>
            <a:r>
              <a:rPr lang="en-US" sz="1250" dirty="0">
                <a:solidFill>
                  <a:srgbClr val="1B2A3B"/>
                </a:solidFill>
              </a:rPr>
              <a:t>Deny for new resources; Audit for existing resources</a:t>
            </a:r>
            <a:endParaRPr lang="en-US" sz="1250" dirty="0"/>
          </a:p>
        </p:txBody>
      </p:sp>
      <p:sp>
        <p:nvSpPr>
          <p:cNvPr id="15" name="Shape 13"/>
          <p:cNvSpPr/>
          <p:nvPr/>
        </p:nvSpPr>
        <p:spPr>
          <a:xfrm>
            <a:off x="292608" y="3154680"/>
            <a:ext cx="8558784" cy="539496"/>
          </a:xfrm>
          <a:prstGeom prst="rect">
            <a:avLst/>
          </a:prstGeom>
          <a:solidFill>
            <a:srgbClr val="FFFFFF"/>
          </a:solidFill>
          <a:ln w="12700">
            <a:solidFill>
              <a:srgbClr val="C5D8EE"/>
            </a:solidFill>
            <a:prstDash val="solid"/>
          </a:ln>
        </p:spPr>
      </p:sp>
      <p:sp>
        <p:nvSpPr>
          <p:cNvPr id="16" name="Shape 14"/>
          <p:cNvSpPr/>
          <p:nvPr/>
        </p:nvSpPr>
        <p:spPr>
          <a:xfrm>
            <a:off x="384048" y="3264408"/>
            <a:ext cx="329184" cy="329184"/>
          </a:xfrm>
          <a:prstGeom prst="ellipse">
            <a:avLst/>
          </a:prstGeom>
          <a:solidFill>
            <a:srgbClr val="1B3A5C"/>
          </a:solidFill>
          <a:ln w="12700">
            <a:solidFill>
              <a:srgbClr val="1B3A5C"/>
            </a:solidFill>
            <a:prstDash val="solid"/>
          </a:ln>
        </p:spPr>
      </p:sp>
      <p:sp>
        <p:nvSpPr>
          <p:cNvPr id="17" name="Text 15"/>
          <p:cNvSpPr/>
          <p:nvPr/>
        </p:nvSpPr>
        <p:spPr>
          <a:xfrm>
            <a:off x="384048" y="3264408"/>
            <a:ext cx="329184" cy="329184"/>
          </a:xfrm>
          <a:prstGeom prst="rect">
            <a:avLst/>
          </a:prstGeom>
          <a:noFill/>
          <a:ln/>
        </p:spPr>
        <p:txBody>
          <a:bodyPr wrap="square" rtlCol="0" anchor="ctr"/>
          <a:lstStyle/>
          <a:p>
            <a:pPr algn="ctr" indent="0" marL="0">
              <a:buNone/>
            </a:pPr>
            <a:r>
              <a:rPr lang="en-US" sz="1100" b="1" dirty="0">
                <a:solidFill>
                  <a:srgbClr val="FFFFFF"/>
                </a:solidFill>
              </a:rPr>
              <a:t>B</a:t>
            </a:r>
            <a:endParaRPr lang="en-US" sz="1100" dirty="0"/>
          </a:p>
        </p:txBody>
      </p:sp>
      <p:sp>
        <p:nvSpPr>
          <p:cNvPr id="18" name="Text 16"/>
          <p:cNvSpPr/>
          <p:nvPr/>
        </p:nvSpPr>
        <p:spPr>
          <a:xfrm>
            <a:off x="786384" y="3246120"/>
            <a:ext cx="7991856" cy="365760"/>
          </a:xfrm>
          <a:prstGeom prst="rect">
            <a:avLst/>
          </a:prstGeom>
          <a:noFill/>
          <a:ln/>
        </p:spPr>
        <p:txBody>
          <a:bodyPr wrap="square" rtlCol="0" anchor="ctr"/>
          <a:lstStyle/>
          <a:p>
            <a:pPr indent="0" marL="0">
              <a:buNone/>
            </a:pPr>
            <a:r>
              <a:rPr lang="en-US" sz="1250" dirty="0">
                <a:solidFill>
                  <a:srgbClr val="1B2A3B"/>
                </a:solidFill>
              </a:rPr>
              <a:t>Append for new resources; Modify for existing resources</a:t>
            </a:r>
            <a:endParaRPr lang="en-US" sz="1250" dirty="0"/>
          </a:p>
        </p:txBody>
      </p:sp>
      <p:sp>
        <p:nvSpPr>
          <p:cNvPr id="19" name="Shape 17"/>
          <p:cNvSpPr/>
          <p:nvPr/>
        </p:nvSpPr>
        <p:spPr>
          <a:xfrm>
            <a:off x="292608" y="3785616"/>
            <a:ext cx="8558784" cy="539496"/>
          </a:xfrm>
          <a:prstGeom prst="rect">
            <a:avLst/>
          </a:prstGeom>
          <a:solidFill>
            <a:srgbClr val="FFFFFF"/>
          </a:solidFill>
          <a:ln w="12700">
            <a:solidFill>
              <a:srgbClr val="C5D8EE"/>
            </a:solidFill>
            <a:prstDash val="solid"/>
          </a:ln>
        </p:spPr>
      </p:sp>
      <p:sp>
        <p:nvSpPr>
          <p:cNvPr id="20" name="Shape 18"/>
          <p:cNvSpPr/>
          <p:nvPr/>
        </p:nvSpPr>
        <p:spPr>
          <a:xfrm>
            <a:off x="384048" y="3895344"/>
            <a:ext cx="329184" cy="329184"/>
          </a:xfrm>
          <a:prstGeom prst="ellipse">
            <a:avLst/>
          </a:prstGeom>
          <a:solidFill>
            <a:srgbClr val="1B3A5C"/>
          </a:solidFill>
          <a:ln w="12700">
            <a:solidFill>
              <a:srgbClr val="1B3A5C"/>
            </a:solidFill>
            <a:prstDash val="solid"/>
          </a:ln>
        </p:spPr>
      </p:sp>
      <p:sp>
        <p:nvSpPr>
          <p:cNvPr id="21" name="Text 19"/>
          <p:cNvSpPr/>
          <p:nvPr/>
        </p:nvSpPr>
        <p:spPr>
          <a:xfrm>
            <a:off x="384048" y="3895344"/>
            <a:ext cx="329184" cy="329184"/>
          </a:xfrm>
          <a:prstGeom prst="rect">
            <a:avLst/>
          </a:prstGeom>
          <a:noFill/>
          <a:ln/>
        </p:spPr>
        <p:txBody>
          <a:bodyPr wrap="square" rtlCol="0" anchor="ctr"/>
          <a:lstStyle/>
          <a:p>
            <a:pPr algn="ctr" indent="0" marL="0">
              <a:buNone/>
            </a:pPr>
            <a:r>
              <a:rPr lang="en-US" sz="1100" b="1" dirty="0">
                <a:solidFill>
                  <a:srgbClr val="FFFFFF"/>
                </a:solidFill>
              </a:rPr>
              <a:t>C</a:t>
            </a:r>
            <a:endParaRPr lang="en-US" sz="1100" dirty="0"/>
          </a:p>
        </p:txBody>
      </p:sp>
      <p:sp>
        <p:nvSpPr>
          <p:cNvPr id="22" name="Text 20"/>
          <p:cNvSpPr/>
          <p:nvPr/>
        </p:nvSpPr>
        <p:spPr>
          <a:xfrm>
            <a:off x="786384" y="3877056"/>
            <a:ext cx="7991856" cy="365760"/>
          </a:xfrm>
          <a:prstGeom prst="rect">
            <a:avLst/>
          </a:prstGeom>
          <a:noFill/>
          <a:ln/>
        </p:spPr>
        <p:txBody>
          <a:bodyPr wrap="square" rtlCol="0" anchor="ctr"/>
          <a:lstStyle/>
          <a:p>
            <a:pPr indent="0" marL="0">
              <a:buNone/>
            </a:pPr>
            <a:r>
              <a:rPr lang="en-US" sz="1250" dirty="0">
                <a:solidFill>
                  <a:srgbClr val="1B2A3B"/>
                </a:solidFill>
              </a:rPr>
              <a:t>Audit for both new and existing resources</a:t>
            </a:r>
            <a:endParaRPr lang="en-US" sz="1250" dirty="0"/>
          </a:p>
        </p:txBody>
      </p:sp>
      <p:sp>
        <p:nvSpPr>
          <p:cNvPr id="23" name="Shape 21"/>
          <p:cNvSpPr/>
          <p:nvPr/>
        </p:nvSpPr>
        <p:spPr>
          <a:xfrm>
            <a:off x="292608" y="4416552"/>
            <a:ext cx="8558784" cy="539496"/>
          </a:xfrm>
          <a:prstGeom prst="rect">
            <a:avLst/>
          </a:prstGeom>
          <a:solidFill>
            <a:srgbClr val="FFFFFF"/>
          </a:solidFill>
          <a:ln w="12700">
            <a:solidFill>
              <a:srgbClr val="C5D8EE"/>
            </a:solidFill>
            <a:prstDash val="solid"/>
          </a:ln>
        </p:spPr>
      </p:sp>
      <p:sp>
        <p:nvSpPr>
          <p:cNvPr id="24" name="Shape 22"/>
          <p:cNvSpPr/>
          <p:nvPr/>
        </p:nvSpPr>
        <p:spPr>
          <a:xfrm>
            <a:off x="384048" y="4526280"/>
            <a:ext cx="329184" cy="329184"/>
          </a:xfrm>
          <a:prstGeom prst="ellipse">
            <a:avLst/>
          </a:prstGeom>
          <a:solidFill>
            <a:srgbClr val="1B3A5C"/>
          </a:solidFill>
          <a:ln w="12700">
            <a:solidFill>
              <a:srgbClr val="1B3A5C"/>
            </a:solidFill>
            <a:prstDash val="solid"/>
          </a:ln>
        </p:spPr>
      </p:sp>
      <p:sp>
        <p:nvSpPr>
          <p:cNvPr id="25" name="Text 23"/>
          <p:cNvSpPr/>
          <p:nvPr/>
        </p:nvSpPr>
        <p:spPr>
          <a:xfrm>
            <a:off x="384048" y="4526280"/>
            <a:ext cx="329184" cy="329184"/>
          </a:xfrm>
          <a:prstGeom prst="rect">
            <a:avLst/>
          </a:prstGeom>
          <a:noFill/>
          <a:ln/>
        </p:spPr>
        <p:txBody>
          <a:bodyPr wrap="square" rtlCol="0" anchor="ctr"/>
          <a:lstStyle/>
          <a:p>
            <a:pPr algn="ctr" indent="0" marL="0">
              <a:buNone/>
            </a:pPr>
            <a:r>
              <a:rPr lang="en-US" sz="1100" b="1" dirty="0">
                <a:solidFill>
                  <a:srgbClr val="FFFFFF"/>
                </a:solidFill>
              </a:rPr>
              <a:t>D</a:t>
            </a:r>
            <a:endParaRPr lang="en-US" sz="1100" dirty="0"/>
          </a:p>
        </p:txBody>
      </p:sp>
      <p:sp>
        <p:nvSpPr>
          <p:cNvPr id="26" name="Text 24"/>
          <p:cNvSpPr/>
          <p:nvPr/>
        </p:nvSpPr>
        <p:spPr>
          <a:xfrm>
            <a:off x="786384" y="4507992"/>
            <a:ext cx="7991856" cy="365760"/>
          </a:xfrm>
          <a:prstGeom prst="rect">
            <a:avLst/>
          </a:prstGeom>
          <a:noFill/>
          <a:ln/>
        </p:spPr>
        <p:txBody>
          <a:bodyPr wrap="square" rtlCol="0" anchor="ctr"/>
          <a:lstStyle/>
          <a:p>
            <a:pPr indent="0" marL="0">
              <a:buNone/>
            </a:pPr>
            <a:r>
              <a:rPr lang="en-US" sz="1250" dirty="0">
                <a:solidFill>
                  <a:srgbClr val="1B2A3B"/>
                </a:solidFill>
              </a:rPr>
              <a:t>DeployIfNotExists for new resources; Deny for existing resources</a:t>
            </a:r>
            <a:endParaRPr lang="en-US" sz="12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4F8FD"/>
        </a:solidFill>
      </p:bgPr>
    </p:bg>
    <p:spTree>
      <p:nvGrpSpPr>
        <p:cNvPr id="1" name=""/>
        <p:cNvGrpSpPr/>
        <p:nvPr/>
      </p:nvGrpSpPr>
      <p:grpSpPr>
        <a:xfrm>
          <a:off x="0" y="0"/>
          <a:ext cx="0" cy="0"/>
          <a:chOff x="0" y="0"/>
          <a:chExt cx="0" cy="0"/>
        </a:xfrm>
      </p:grpSpPr>
      <p:sp>
        <p:nvSpPr>
          <p:cNvPr id="2" name="Shape 0"/>
          <p:cNvSpPr/>
          <p:nvPr/>
        </p:nvSpPr>
        <p:spPr>
          <a:xfrm>
            <a:off x="0" y="0"/>
            <a:ext cx="146304" cy="5143500"/>
          </a:xfrm>
          <a:prstGeom prst="rect">
            <a:avLst/>
          </a:prstGeom>
          <a:solidFill>
            <a:srgbClr val="107C10"/>
          </a:solidFill>
          <a:ln w="12700">
            <a:solidFill>
              <a:srgbClr val="107C10"/>
            </a:solidFill>
            <a:prstDash val="solid"/>
          </a:ln>
        </p:spPr>
      </p:sp>
      <p:sp>
        <p:nvSpPr>
          <p:cNvPr id="3" name="Shape 1"/>
          <p:cNvSpPr/>
          <p:nvPr/>
        </p:nvSpPr>
        <p:spPr>
          <a:xfrm>
            <a:off x="146304" y="0"/>
            <a:ext cx="8997696" cy="594360"/>
          </a:xfrm>
          <a:prstGeom prst="rect">
            <a:avLst/>
          </a:prstGeom>
          <a:solidFill>
            <a:srgbClr val="0A1628"/>
          </a:solidFill>
          <a:ln w="12700">
            <a:solidFill>
              <a:srgbClr val="0A1628"/>
            </a:solidFill>
            <a:prstDash val="solid"/>
          </a:ln>
        </p:spPr>
      </p:sp>
      <p:sp>
        <p:nvSpPr>
          <p:cNvPr id="4" name="Text 2"/>
          <p:cNvSpPr/>
          <p:nvPr/>
        </p:nvSpPr>
        <p:spPr>
          <a:xfrm>
            <a:off x="292608" y="0"/>
            <a:ext cx="6583680" cy="594360"/>
          </a:xfrm>
          <a:prstGeom prst="rect">
            <a:avLst/>
          </a:prstGeom>
          <a:noFill/>
          <a:ln/>
        </p:spPr>
        <p:txBody>
          <a:bodyPr wrap="square" lIns="0" tIns="0" rIns="0" bIns="0" rtlCol="0" anchor="ctr"/>
          <a:lstStyle/>
          <a:p>
            <a:pPr indent="0" marL="0">
              <a:buNone/>
            </a:pPr>
            <a:r>
              <a:rPr lang="en-US" sz="1200" b="1" dirty="0">
                <a:solidFill>
                  <a:srgbClr val="00FF90"/>
                </a:solidFill>
              </a:rPr>
              <a:t>✅  ANSWER 6  ·  Azure Policy</a:t>
            </a:r>
            <a:endParaRPr lang="en-US" sz="1200" dirty="0"/>
          </a:p>
        </p:txBody>
      </p:sp>
      <p:sp>
        <p:nvSpPr>
          <p:cNvPr id="5" name="Text 3"/>
          <p:cNvSpPr/>
          <p:nvPr/>
        </p:nvSpPr>
        <p:spPr>
          <a:xfrm>
            <a:off x="7498080" y="0"/>
            <a:ext cx="1499616" cy="594360"/>
          </a:xfrm>
          <a:prstGeom prst="rect">
            <a:avLst/>
          </a:prstGeom>
          <a:noFill/>
          <a:ln/>
        </p:spPr>
        <p:txBody>
          <a:bodyPr wrap="square" lIns="0" tIns="0" rIns="0" bIns="0" rtlCol="0" anchor="ctr"/>
          <a:lstStyle/>
          <a:p>
            <a:pPr algn="r" indent="0" marL="0">
              <a:buNone/>
            </a:pPr>
            <a:r>
              <a:rPr lang="en-US" sz="1200" b="1" dirty="0">
                <a:solidFill>
                  <a:srgbClr val="6C8EAD"/>
                </a:solidFill>
              </a:rPr>
              <a:t>6 / 20</a:t>
            </a:r>
            <a:endParaRPr lang="en-US" sz="1200" dirty="0"/>
          </a:p>
        </p:txBody>
      </p:sp>
      <p:sp>
        <p:nvSpPr>
          <p:cNvPr id="6" name="Shape 4"/>
          <p:cNvSpPr/>
          <p:nvPr/>
        </p:nvSpPr>
        <p:spPr>
          <a:xfrm>
            <a:off x="292608" y="658368"/>
            <a:ext cx="8558784" cy="475488"/>
          </a:xfrm>
          <a:prstGeom prst="rect">
            <a:avLst/>
          </a:prstGeom>
          <a:solidFill>
            <a:srgbClr val="E6F3E6"/>
          </a:solidFill>
          <a:ln w="25400">
            <a:solidFill>
              <a:srgbClr val="107C10"/>
            </a:solidFill>
            <a:prstDash val="solid"/>
          </a:ln>
        </p:spPr>
      </p:sp>
      <p:sp>
        <p:nvSpPr>
          <p:cNvPr id="7" name="Text 5"/>
          <p:cNvSpPr/>
          <p:nvPr/>
        </p:nvSpPr>
        <p:spPr>
          <a:xfrm>
            <a:off x="420624" y="658368"/>
            <a:ext cx="8321040" cy="475488"/>
          </a:xfrm>
          <a:prstGeom prst="rect">
            <a:avLst/>
          </a:prstGeom>
          <a:noFill/>
          <a:ln/>
        </p:spPr>
        <p:txBody>
          <a:bodyPr wrap="square" rtlCol="0" anchor="ctr"/>
          <a:lstStyle/>
          <a:p>
            <a:pPr indent="0" marL="0">
              <a:buNone/>
            </a:pPr>
            <a:r>
              <a:rPr lang="en-US" sz="1300" b="1" dirty="0">
                <a:solidFill>
                  <a:srgbClr val="107C10"/>
                </a:solidFill>
              </a:rPr>
              <a:t>✔  Correct: A — Deny for new resources; Audit for existing resources</a:t>
            </a:r>
            <a:endParaRPr lang="en-US" sz="1300" dirty="0"/>
          </a:p>
        </p:txBody>
      </p:sp>
      <p:sp>
        <p:nvSpPr>
          <p:cNvPr id="8" name="Text 6"/>
          <p:cNvSpPr/>
          <p:nvPr/>
        </p:nvSpPr>
        <p:spPr>
          <a:xfrm>
            <a:off x="292608" y="1216152"/>
            <a:ext cx="8558784" cy="292608"/>
          </a:xfrm>
          <a:prstGeom prst="rect">
            <a:avLst/>
          </a:prstGeom>
          <a:noFill/>
          <a:ln/>
        </p:spPr>
        <p:txBody>
          <a:bodyPr wrap="square" rtlCol="0" anchor="ctr"/>
          <a:lstStyle/>
          <a:p>
            <a:pPr indent="0" marL="0">
              <a:buNone/>
            </a:pPr>
            <a:r>
              <a:rPr lang="en-US" sz="1200" b="1" dirty="0">
                <a:solidFill>
                  <a:srgbClr val="0A1628"/>
                </a:solidFill>
              </a:rPr>
              <a:t>Why this is correct</a:t>
            </a:r>
            <a:endParaRPr lang="en-US" sz="1200" dirty="0"/>
          </a:p>
        </p:txBody>
      </p:sp>
      <p:sp>
        <p:nvSpPr>
          <p:cNvPr id="9" name="Shape 7"/>
          <p:cNvSpPr/>
          <p:nvPr/>
        </p:nvSpPr>
        <p:spPr>
          <a:xfrm>
            <a:off x="292608" y="1517904"/>
            <a:ext cx="8558784" cy="1097280"/>
          </a:xfrm>
          <a:prstGeom prst="rect">
            <a:avLst/>
          </a:prstGeom>
          <a:solidFill>
            <a:srgbClr val="FFFFFF"/>
          </a:solidFill>
          <a:ln w="12700">
            <a:solidFill>
              <a:srgbClr val="C5D8EE"/>
            </a:solidFill>
            <a:prstDash val="solid"/>
          </a:ln>
        </p:spPr>
      </p:sp>
      <p:sp>
        <p:nvSpPr>
          <p:cNvPr id="10" name="Text 8"/>
          <p:cNvSpPr/>
          <p:nvPr/>
        </p:nvSpPr>
        <p:spPr>
          <a:xfrm>
            <a:off x="420624" y="1563624"/>
            <a:ext cx="8321040" cy="1005840"/>
          </a:xfrm>
          <a:prstGeom prst="rect">
            <a:avLst/>
          </a:prstGeom>
          <a:noFill/>
          <a:ln/>
        </p:spPr>
        <p:txBody>
          <a:bodyPr wrap="square" rtlCol="0" anchor="t"/>
          <a:lstStyle/>
          <a:p>
            <a:pPr indent="0" marL="0">
              <a:buNone/>
            </a:pPr>
            <a:r>
              <a:rPr lang="en-US" sz="1150" dirty="0">
                <a:solidFill>
                  <a:srgbClr val="1B2A3B"/>
                </a:solidFill>
              </a:rPr>
              <a:t>The Deny effect prevents non-compliant new resources from being created. The Audit effect evaluates existing resources and marks them non-compliant in the compliance dashboard without blocking them. This matches the requirement: block new violations, flag existing ones. Append adds properties but doesn't enforce HTTPS. Modify remediates but was not required for existing resources here.</a:t>
            </a:r>
            <a:endParaRPr lang="en-US" sz="1150" dirty="0"/>
          </a:p>
        </p:txBody>
      </p:sp>
      <p:sp>
        <p:nvSpPr>
          <p:cNvPr id="11" name="Text 9"/>
          <p:cNvSpPr/>
          <p:nvPr/>
        </p:nvSpPr>
        <p:spPr>
          <a:xfrm>
            <a:off x="292608" y="2697480"/>
            <a:ext cx="8558784" cy="292608"/>
          </a:xfrm>
          <a:prstGeom prst="rect">
            <a:avLst/>
          </a:prstGeom>
          <a:noFill/>
          <a:ln/>
        </p:spPr>
        <p:txBody>
          <a:bodyPr wrap="square" rtlCol="0" anchor="ctr"/>
          <a:lstStyle/>
          <a:p>
            <a:pPr indent="0" marL="0">
              <a:buNone/>
            </a:pPr>
            <a:r>
              <a:rPr lang="en-US" sz="1200" b="1" dirty="0">
                <a:solidFill>
                  <a:srgbClr val="0A1628"/>
                </a:solidFill>
              </a:rPr>
              <a:t>Why the other options are incorrect</a:t>
            </a:r>
            <a:endParaRPr lang="en-US" sz="1200" dirty="0"/>
          </a:p>
        </p:txBody>
      </p:sp>
      <p:sp>
        <p:nvSpPr>
          <p:cNvPr id="12" name="Shape 10"/>
          <p:cNvSpPr/>
          <p:nvPr/>
        </p:nvSpPr>
        <p:spPr>
          <a:xfrm>
            <a:off x="292608" y="3035808"/>
            <a:ext cx="8558784" cy="603504"/>
          </a:xfrm>
          <a:prstGeom prst="rect">
            <a:avLst/>
          </a:prstGeom>
          <a:solidFill>
            <a:srgbClr val="FAEAEA"/>
          </a:solidFill>
          <a:ln w="12700">
            <a:solidFill>
              <a:srgbClr val="F4AAAA"/>
            </a:solidFill>
            <a:prstDash val="solid"/>
          </a:ln>
        </p:spPr>
      </p:sp>
      <p:sp>
        <p:nvSpPr>
          <p:cNvPr id="13" name="Shape 11"/>
          <p:cNvSpPr/>
          <p:nvPr/>
        </p:nvSpPr>
        <p:spPr>
          <a:xfrm>
            <a:off x="384048" y="3172968"/>
            <a:ext cx="301752" cy="301752"/>
          </a:xfrm>
          <a:prstGeom prst="ellipse">
            <a:avLst/>
          </a:prstGeom>
          <a:solidFill>
            <a:srgbClr val="A80000"/>
          </a:solidFill>
          <a:ln w="12700">
            <a:solidFill>
              <a:srgbClr val="A80000"/>
            </a:solidFill>
            <a:prstDash val="solid"/>
          </a:ln>
        </p:spPr>
      </p:sp>
      <p:sp>
        <p:nvSpPr>
          <p:cNvPr id="14" name="Text 12"/>
          <p:cNvSpPr/>
          <p:nvPr/>
        </p:nvSpPr>
        <p:spPr>
          <a:xfrm>
            <a:off x="384048" y="3172968"/>
            <a:ext cx="301752" cy="301752"/>
          </a:xfrm>
          <a:prstGeom prst="rect">
            <a:avLst/>
          </a:prstGeom>
          <a:noFill/>
          <a:ln/>
        </p:spPr>
        <p:txBody>
          <a:bodyPr wrap="square" rtlCol="0" anchor="ctr"/>
          <a:lstStyle/>
          <a:p>
            <a:pPr algn="ctr" indent="0" marL="0">
              <a:buNone/>
            </a:pPr>
            <a:r>
              <a:rPr lang="en-US" sz="1100" b="1" dirty="0">
                <a:solidFill>
                  <a:srgbClr val="FFFFFF"/>
                </a:solidFill>
              </a:rPr>
              <a:t>B</a:t>
            </a:r>
            <a:endParaRPr lang="en-US" sz="1100" dirty="0"/>
          </a:p>
        </p:txBody>
      </p:sp>
      <p:sp>
        <p:nvSpPr>
          <p:cNvPr id="15" name="Text 13"/>
          <p:cNvSpPr/>
          <p:nvPr/>
        </p:nvSpPr>
        <p:spPr>
          <a:xfrm>
            <a:off x="768096" y="3090672"/>
            <a:ext cx="8010144" cy="493776"/>
          </a:xfrm>
          <a:prstGeom prst="rect">
            <a:avLst/>
          </a:prstGeom>
          <a:noFill/>
          <a:ln/>
        </p:spPr>
        <p:txBody>
          <a:bodyPr wrap="square" rtlCol="0" anchor="ctr"/>
          <a:lstStyle/>
          <a:p>
            <a:pPr indent="0" marL="0">
              <a:buNone/>
            </a:pPr>
            <a:r>
              <a:rPr lang="en-US" sz="1150" dirty="0">
                <a:solidFill>
                  <a:srgbClr val="1B2A3B"/>
                </a:solidFill>
              </a:rPr>
              <a:t>Append adds fields/tags to resources but cannot enforce HTTPS-only — it doesn't prevent creation of non-compliant resources.</a:t>
            </a:r>
            <a:endParaRPr lang="en-US" sz="1150" dirty="0"/>
          </a:p>
        </p:txBody>
      </p:sp>
      <p:sp>
        <p:nvSpPr>
          <p:cNvPr id="16" name="Shape 14"/>
          <p:cNvSpPr/>
          <p:nvPr/>
        </p:nvSpPr>
        <p:spPr>
          <a:xfrm>
            <a:off x="292608" y="3712464"/>
            <a:ext cx="8558784" cy="603504"/>
          </a:xfrm>
          <a:prstGeom prst="rect">
            <a:avLst/>
          </a:prstGeom>
          <a:solidFill>
            <a:srgbClr val="FAEAEA"/>
          </a:solidFill>
          <a:ln w="12700">
            <a:solidFill>
              <a:srgbClr val="F4AAAA"/>
            </a:solidFill>
            <a:prstDash val="solid"/>
          </a:ln>
        </p:spPr>
      </p:sp>
      <p:sp>
        <p:nvSpPr>
          <p:cNvPr id="17" name="Shape 15"/>
          <p:cNvSpPr/>
          <p:nvPr/>
        </p:nvSpPr>
        <p:spPr>
          <a:xfrm>
            <a:off x="384048" y="3849624"/>
            <a:ext cx="301752" cy="301752"/>
          </a:xfrm>
          <a:prstGeom prst="ellipse">
            <a:avLst/>
          </a:prstGeom>
          <a:solidFill>
            <a:srgbClr val="A80000"/>
          </a:solidFill>
          <a:ln w="12700">
            <a:solidFill>
              <a:srgbClr val="A80000"/>
            </a:solidFill>
            <a:prstDash val="solid"/>
          </a:ln>
        </p:spPr>
      </p:sp>
      <p:sp>
        <p:nvSpPr>
          <p:cNvPr id="18" name="Text 16"/>
          <p:cNvSpPr/>
          <p:nvPr/>
        </p:nvSpPr>
        <p:spPr>
          <a:xfrm>
            <a:off x="384048" y="3849624"/>
            <a:ext cx="301752" cy="301752"/>
          </a:xfrm>
          <a:prstGeom prst="rect">
            <a:avLst/>
          </a:prstGeom>
          <a:noFill/>
          <a:ln/>
        </p:spPr>
        <p:txBody>
          <a:bodyPr wrap="square" rtlCol="0" anchor="ctr"/>
          <a:lstStyle/>
          <a:p>
            <a:pPr algn="ctr" indent="0" marL="0">
              <a:buNone/>
            </a:pPr>
            <a:r>
              <a:rPr lang="en-US" sz="1100" b="1" dirty="0">
                <a:solidFill>
                  <a:srgbClr val="FFFFFF"/>
                </a:solidFill>
              </a:rPr>
              <a:t>C</a:t>
            </a:r>
            <a:endParaRPr lang="en-US" sz="1100" dirty="0"/>
          </a:p>
        </p:txBody>
      </p:sp>
      <p:sp>
        <p:nvSpPr>
          <p:cNvPr id="19" name="Text 17"/>
          <p:cNvSpPr/>
          <p:nvPr/>
        </p:nvSpPr>
        <p:spPr>
          <a:xfrm>
            <a:off x="768096" y="3767328"/>
            <a:ext cx="8010144" cy="493776"/>
          </a:xfrm>
          <a:prstGeom prst="rect">
            <a:avLst/>
          </a:prstGeom>
          <a:noFill/>
          <a:ln/>
        </p:spPr>
        <p:txBody>
          <a:bodyPr wrap="square" rtlCol="0" anchor="ctr"/>
          <a:lstStyle/>
          <a:p>
            <a:pPr indent="0" marL="0">
              <a:buNone/>
            </a:pPr>
            <a:r>
              <a:rPr lang="en-US" sz="1150" dirty="0">
                <a:solidFill>
                  <a:srgbClr val="1B2A3B"/>
                </a:solidFill>
              </a:rPr>
              <a:t>Audit for both would allow non-compliant new storage accounts to be created — violating the 'no new accounts without HTTPS' requirement.</a:t>
            </a:r>
            <a:endParaRPr lang="en-US" sz="1150" dirty="0"/>
          </a:p>
        </p:txBody>
      </p:sp>
      <p:sp>
        <p:nvSpPr>
          <p:cNvPr id="20" name="Shape 18"/>
          <p:cNvSpPr/>
          <p:nvPr/>
        </p:nvSpPr>
        <p:spPr>
          <a:xfrm>
            <a:off x="292608" y="4389120"/>
            <a:ext cx="8558784" cy="603504"/>
          </a:xfrm>
          <a:prstGeom prst="rect">
            <a:avLst/>
          </a:prstGeom>
          <a:solidFill>
            <a:srgbClr val="FAEAEA"/>
          </a:solidFill>
          <a:ln w="12700">
            <a:solidFill>
              <a:srgbClr val="F4AAAA"/>
            </a:solidFill>
            <a:prstDash val="solid"/>
          </a:ln>
        </p:spPr>
      </p:sp>
      <p:sp>
        <p:nvSpPr>
          <p:cNvPr id="21" name="Shape 19"/>
          <p:cNvSpPr/>
          <p:nvPr/>
        </p:nvSpPr>
        <p:spPr>
          <a:xfrm>
            <a:off x="384048" y="4526280"/>
            <a:ext cx="301752" cy="301752"/>
          </a:xfrm>
          <a:prstGeom prst="ellipse">
            <a:avLst/>
          </a:prstGeom>
          <a:solidFill>
            <a:srgbClr val="A80000"/>
          </a:solidFill>
          <a:ln w="12700">
            <a:solidFill>
              <a:srgbClr val="A80000"/>
            </a:solidFill>
            <a:prstDash val="solid"/>
          </a:ln>
        </p:spPr>
      </p:sp>
      <p:sp>
        <p:nvSpPr>
          <p:cNvPr id="22" name="Text 20"/>
          <p:cNvSpPr/>
          <p:nvPr/>
        </p:nvSpPr>
        <p:spPr>
          <a:xfrm>
            <a:off x="384048" y="4526280"/>
            <a:ext cx="301752" cy="301752"/>
          </a:xfrm>
          <a:prstGeom prst="rect">
            <a:avLst/>
          </a:prstGeom>
          <a:noFill/>
          <a:ln/>
        </p:spPr>
        <p:txBody>
          <a:bodyPr wrap="square" rtlCol="0" anchor="ctr"/>
          <a:lstStyle/>
          <a:p>
            <a:pPr algn="ctr" indent="0" marL="0">
              <a:buNone/>
            </a:pPr>
            <a:r>
              <a:rPr lang="en-US" sz="1100" b="1" dirty="0">
                <a:solidFill>
                  <a:srgbClr val="FFFFFF"/>
                </a:solidFill>
              </a:rPr>
              <a:t>D</a:t>
            </a:r>
            <a:endParaRPr lang="en-US" sz="1100" dirty="0"/>
          </a:p>
        </p:txBody>
      </p:sp>
      <p:sp>
        <p:nvSpPr>
          <p:cNvPr id="23" name="Text 21"/>
          <p:cNvSpPr/>
          <p:nvPr/>
        </p:nvSpPr>
        <p:spPr>
          <a:xfrm>
            <a:off x="768096" y="4443984"/>
            <a:ext cx="8010144" cy="493776"/>
          </a:xfrm>
          <a:prstGeom prst="rect">
            <a:avLst/>
          </a:prstGeom>
          <a:noFill/>
          <a:ln/>
        </p:spPr>
        <p:txBody>
          <a:bodyPr wrap="square" rtlCol="0" anchor="ctr"/>
          <a:lstStyle/>
          <a:p>
            <a:pPr indent="0" marL="0">
              <a:buNone/>
            </a:pPr>
            <a:r>
              <a:rPr lang="en-US" sz="1150" dirty="0">
                <a:solidFill>
                  <a:srgbClr val="1B2A3B"/>
                </a:solidFill>
              </a:rPr>
              <a:t>DeployIfNotExists triggers a deployment if a condition isn't met — not appropriate for blocking creation. Deny on existing would block access to already-deployed resources.</a:t>
            </a:r>
            <a:endParaRPr lang="en-US" sz="11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4F8FD"/>
        </a:solidFill>
      </p:bgPr>
    </p:bg>
    <p:spTree>
      <p:nvGrpSpPr>
        <p:cNvPr id="1" name=""/>
        <p:cNvGrpSpPr/>
        <p:nvPr/>
      </p:nvGrpSpPr>
      <p:grpSpPr>
        <a:xfrm>
          <a:off x="0" y="0"/>
          <a:ext cx="0" cy="0"/>
          <a:chOff x="0" y="0"/>
          <a:chExt cx="0" cy="0"/>
        </a:xfrm>
      </p:grpSpPr>
      <p:sp>
        <p:nvSpPr>
          <p:cNvPr id="2" name="Shape 0"/>
          <p:cNvSpPr/>
          <p:nvPr/>
        </p:nvSpPr>
        <p:spPr>
          <a:xfrm>
            <a:off x="0" y="0"/>
            <a:ext cx="146304" cy="5143500"/>
          </a:xfrm>
          <a:prstGeom prst="rect">
            <a:avLst/>
          </a:prstGeom>
          <a:solidFill>
            <a:srgbClr val="0078D4"/>
          </a:solidFill>
          <a:ln w="12700">
            <a:solidFill>
              <a:srgbClr val="0078D4"/>
            </a:solidFill>
            <a:prstDash val="solid"/>
          </a:ln>
        </p:spPr>
      </p:sp>
      <p:sp>
        <p:nvSpPr>
          <p:cNvPr id="3" name="Shape 1"/>
          <p:cNvSpPr/>
          <p:nvPr/>
        </p:nvSpPr>
        <p:spPr>
          <a:xfrm>
            <a:off x="146304" y="0"/>
            <a:ext cx="8997696" cy="594360"/>
          </a:xfrm>
          <a:prstGeom prst="rect">
            <a:avLst/>
          </a:prstGeom>
          <a:solidFill>
            <a:srgbClr val="0A1628"/>
          </a:solidFill>
          <a:ln w="12700">
            <a:solidFill>
              <a:srgbClr val="0A1628"/>
            </a:solidFill>
            <a:prstDash val="solid"/>
          </a:ln>
        </p:spPr>
      </p:sp>
      <p:sp>
        <p:nvSpPr>
          <p:cNvPr id="4" name="Text 2"/>
          <p:cNvSpPr/>
          <p:nvPr/>
        </p:nvSpPr>
        <p:spPr>
          <a:xfrm>
            <a:off x="292608" y="0"/>
            <a:ext cx="6583680" cy="594360"/>
          </a:xfrm>
          <a:prstGeom prst="rect">
            <a:avLst/>
          </a:prstGeom>
          <a:noFill/>
          <a:ln/>
        </p:spPr>
        <p:txBody>
          <a:bodyPr wrap="square" lIns="0" tIns="0" rIns="0" bIns="0" rtlCol="0" anchor="ctr"/>
          <a:lstStyle/>
          <a:p>
            <a:pPr indent="0" marL="0">
              <a:buNone/>
            </a:pPr>
            <a:r>
              <a:rPr lang="en-US" sz="1200" b="1" dirty="0">
                <a:solidFill>
                  <a:srgbClr val="50E6FF"/>
                </a:solidFill>
              </a:rPr>
              <a:t>❓  QUESTION 7  ·  Resource Locks</a:t>
            </a:r>
            <a:endParaRPr lang="en-US" sz="1200" dirty="0"/>
          </a:p>
        </p:txBody>
      </p:sp>
      <p:sp>
        <p:nvSpPr>
          <p:cNvPr id="5" name="Text 3"/>
          <p:cNvSpPr/>
          <p:nvPr/>
        </p:nvSpPr>
        <p:spPr>
          <a:xfrm>
            <a:off x="7498080" y="0"/>
            <a:ext cx="1499616" cy="594360"/>
          </a:xfrm>
          <a:prstGeom prst="rect">
            <a:avLst/>
          </a:prstGeom>
          <a:noFill/>
          <a:ln/>
        </p:spPr>
        <p:txBody>
          <a:bodyPr wrap="square" lIns="0" tIns="0" rIns="0" bIns="0" rtlCol="0" anchor="ctr"/>
          <a:lstStyle/>
          <a:p>
            <a:pPr algn="r" indent="0" marL="0">
              <a:buNone/>
            </a:pPr>
            <a:r>
              <a:rPr lang="en-US" sz="1200" b="1" dirty="0">
                <a:solidFill>
                  <a:srgbClr val="6C8EAD"/>
                </a:solidFill>
              </a:rPr>
              <a:t>7 / 20</a:t>
            </a:r>
            <a:endParaRPr lang="en-US" sz="1200" dirty="0"/>
          </a:p>
        </p:txBody>
      </p:sp>
      <p:sp>
        <p:nvSpPr>
          <p:cNvPr id="6" name="Shape 4"/>
          <p:cNvSpPr/>
          <p:nvPr/>
        </p:nvSpPr>
        <p:spPr>
          <a:xfrm>
            <a:off x="292608" y="685800"/>
            <a:ext cx="1097280" cy="256032"/>
          </a:xfrm>
          <a:prstGeom prst="rect">
            <a:avLst/>
          </a:prstGeom>
          <a:solidFill>
            <a:srgbClr val="0078D4"/>
          </a:solidFill>
          <a:ln w="12700">
            <a:solidFill>
              <a:srgbClr val="0078D4"/>
            </a:solidFill>
            <a:prstDash val="solid"/>
          </a:ln>
        </p:spPr>
      </p:sp>
      <p:sp>
        <p:nvSpPr>
          <p:cNvPr id="7" name="Text 5"/>
          <p:cNvSpPr/>
          <p:nvPr/>
        </p:nvSpPr>
        <p:spPr>
          <a:xfrm>
            <a:off x="292608" y="685800"/>
            <a:ext cx="1097280" cy="256032"/>
          </a:xfrm>
          <a:prstGeom prst="rect">
            <a:avLst/>
          </a:prstGeom>
          <a:noFill/>
          <a:ln/>
        </p:spPr>
        <p:txBody>
          <a:bodyPr wrap="square" rtlCol="0" anchor="ctr"/>
          <a:lstStyle/>
          <a:p>
            <a:pPr algn="ctr" indent="0" marL="0">
              <a:buNone/>
            </a:pPr>
            <a:r>
              <a:rPr lang="en-US" sz="800" b="1" dirty="0">
                <a:solidFill>
                  <a:srgbClr val="FFFFFF"/>
                </a:solidFill>
              </a:rPr>
              <a:t>SCENARIO</a:t>
            </a:r>
            <a:endParaRPr lang="en-US" sz="800" dirty="0"/>
          </a:p>
        </p:txBody>
      </p:sp>
      <p:sp>
        <p:nvSpPr>
          <p:cNvPr id="8" name="Shape 6"/>
          <p:cNvSpPr/>
          <p:nvPr/>
        </p:nvSpPr>
        <p:spPr>
          <a:xfrm>
            <a:off x="292608" y="978408"/>
            <a:ext cx="8558784" cy="960120"/>
          </a:xfrm>
          <a:prstGeom prst="rect">
            <a:avLst/>
          </a:prstGeom>
          <a:solidFill>
            <a:srgbClr val="EBF4FF"/>
          </a:solidFill>
          <a:ln w="12700">
            <a:solidFill>
              <a:srgbClr val="0078D4"/>
            </a:solidFill>
            <a:prstDash val="solid"/>
          </a:ln>
        </p:spPr>
      </p:sp>
      <p:sp>
        <p:nvSpPr>
          <p:cNvPr id="9" name="Text 7"/>
          <p:cNvSpPr/>
          <p:nvPr/>
        </p:nvSpPr>
        <p:spPr>
          <a:xfrm>
            <a:off x="420624" y="1024128"/>
            <a:ext cx="8321040" cy="868680"/>
          </a:xfrm>
          <a:prstGeom prst="rect">
            <a:avLst/>
          </a:prstGeom>
          <a:noFill/>
          <a:ln/>
        </p:spPr>
        <p:txBody>
          <a:bodyPr wrap="square" rtlCol="0" anchor="t"/>
          <a:lstStyle/>
          <a:p>
            <a:pPr indent="0" marL="0">
              <a:buNone/>
            </a:pPr>
            <a:r>
              <a:rPr lang="en-US" sz="1250" dirty="0">
                <a:solidFill>
                  <a:srgbClr val="1B2A3B"/>
                </a:solidFill>
              </a:rPr>
              <a:t>A production SQL Database on Azure hosts critical financial data. The infrastructure team wants to ensure the database cannot be deleted — even by administrators — without an explicit multi-step process.</a:t>
            </a:r>
            <a:endParaRPr lang="en-US" sz="1250" dirty="0"/>
          </a:p>
        </p:txBody>
      </p:sp>
      <p:sp>
        <p:nvSpPr>
          <p:cNvPr id="10" name="Text 8"/>
          <p:cNvSpPr/>
          <p:nvPr/>
        </p:nvSpPr>
        <p:spPr>
          <a:xfrm>
            <a:off x="292608" y="2048256"/>
            <a:ext cx="8558784" cy="420624"/>
          </a:xfrm>
          <a:prstGeom prst="rect">
            <a:avLst/>
          </a:prstGeom>
          <a:noFill/>
          <a:ln/>
        </p:spPr>
        <p:txBody>
          <a:bodyPr wrap="square" rtlCol="0" anchor="ctr"/>
          <a:lstStyle/>
          <a:p>
            <a:pPr indent="0" marL="0">
              <a:buNone/>
            </a:pPr>
            <a:r>
              <a:rPr lang="en-US" sz="1350" b="1" dirty="0">
                <a:solidFill>
                  <a:srgbClr val="0A1628"/>
                </a:solidFill>
              </a:rPr>
              <a:t>Which Resource Lock type should be applied, and at what scope?</a:t>
            </a:r>
            <a:endParaRPr lang="en-US" sz="1350" dirty="0"/>
          </a:p>
        </p:txBody>
      </p:sp>
      <p:sp>
        <p:nvSpPr>
          <p:cNvPr id="11" name="Shape 9"/>
          <p:cNvSpPr/>
          <p:nvPr/>
        </p:nvSpPr>
        <p:spPr>
          <a:xfrm>
            <a:off x="292608" y="2523744"/>
            <a:ext cx="8558784" cy="539496"/>
          </a:xfrm>
          <a:prstGeom prst="rect">
            <a:avLst/>
          </a:prstGeom>
          <a:solidFill>
            <a:srgbClr val="FFFFFF"/>
          </a:solidFill>
          <a:ln w="12700">
            <a:solidFill>
              <a:srgbClr val="C5D8EE"/>
            </a:solidFill>
            <a:prstDash val="solid"/>
          </a:ln>
        </p:spPr>
      </p:sp>
      <p:sp>
        <p:nvSpPr>
          <p:cNvPr id="12" name="Shape 10"/>
          <p:cNvSpPr/>
          <p:nvPr/>
        </p:nvSpPr>
        <p:spPr>
          <a:xfrm>
            <a:off x="384048" y="2633472"/>
            <a:ext cx="329184" cy="329184"/>
          </a:xfrm>
          <a:prstGeom prst="ellipse">
            <a:avLst/>
          </a:prstGeom>
          <a:solidFill>
            <a:srgbClr val="1B3A5C"/>
          </a:solidFill>
          <a:ln w="12700">
            <a:solidFill>
              <a:srgbClr val="1B3A5C"/>
            </a:solidFill>
            <a:prstDash val="solid"/>
          </a:ln>
        </p:spPr>
      </p:sp>
      <p:sp>
        <p:nvSpPr>
          <p:cNvPr id="13" name="Text 11"/>
          <p:cNvSpPr/>
          <p:nvPr/>
        </p:nvSpPr>
        <p:spPr>
          <a:xfrm>
            <a:off x="384048" y="2633472"/>
            <a:ext cx="329184" cy="329184"/>
          </a:xfrm>
          <a:prstGeom prst="rect">
            <a:avLst/>
          </a:prstGeom>
          <a:noFill/>
          <a:ln/>
        </p:spPr>
        <p:txBody>
          <a:bodyPr wrap="square" rtlCol="0" anchor="ctr"/>
          <a:lstStyle/>
          <a:p>
            <a:pPr algn="ctr" indent="0" marL="0">
              <a:buNone/>
            </a:pPr>
            <a:r>
              <a:rPr lang="en-US" sz="1100" b="1" dirty="0">
                <a:solidFill>
                  <a:srgbClr val="FFFFFF"/>
                </a:solidFill>
              </a:rPr>
              <a:t>A</a:t>
            </a:r>
            <a:endParaRPr lang="en-US" sz="1100" dirty="0"/>
          </a:p>
        </p:txBody>
      </p:sp>
      <p:sp>
        <p:nvSpPr>
          <p:cNvPr id="14" name="Text 12"/>
          <p:cNvSpPr/>
          <p:nvPr/>
        </p:nvSpPr>
        <p:spPr>
          <a:xfrm>
            <a:off x="786384" y="2615184"/>
            <a:ext cx="7991856" cy="365760"/>
          </a:xfrm>
          <a:prstGeom prst="rect">
            <a:avLst/>
          </a:prstGeom>
          <a:noFill/>
          <a:ln/>
        </p:spPr>
        <p:txBody>
          <a:bodyPr wrap="square" rtlCol="0" anchor="ctr"/>
          <a:lstStyle/>
          <a:p>
            <a:pPr indent="0" marL="0">
              <a:buNone/>
            </a:pPr>
            <a:r>
              <a:rPr lang="en-US" sz="1250" dirty="0">
                <a:solidFill>
                  <a:srgbClr val="1B2A3B"/>
                </a:solidFill>
              </a:rPr>
              <a:t>ReadOnly lock at the Subscription level</a:t>
            </a:r>
            <a:endParaRPr lang="en-US" sz="1250" dirty="0"/>
          </a:p>
        </p:txBody>
      </p:sp>
      <p:sp>
        <p:nvSpPr>
          <p:cNvPr id="15" name="Shape 13"/>
          <p:cNvSpPr/>
          <p:nvPr/>
        </p:nvSpPr>
        <p:spPr>
          <a:xfrm>
            <a:off x="292608" y="3154680"/>
            <a:ext cx="8558784" cy="539496"/>
          </a:xfrm>
          <a:prstGeom prst="rect">
            <a:avLst/>
          </a:prstGeom>
          <a:solidFill>
            <a:srgbClr val="FFFFFF"/>
          </a:solidFill>
          <a:ln w="12700">
            <a:solidFill>
              <a:srgbClr val="C5D8EE"/>
            </a:solidFill>
            <a:prstDash val="solid"/>
          </a:ln>
        </p:spPr>
      </p:sp>
      <p:sp>
        <p:nvSpPr>
          <p:cNvPr id="16" name="Shape 14"/>
          <p:cNvSpPr/>
          <p:nvPr/>
        </p:nvSpPr>
        <p:spPr>
          <a:xfrm>
            <a:off x="384048" y="3264408"/>
            <a:ext cx="329184" cy="329184"/>
          </a:xfrm>
          <a:prstGeom prst="ellipse">
            <a:avLst/>
          </a:prstGeom>
          <a:solidFill>
            <a:srgbClr val="1B3A5C"/>
          </a:solidFill>
          <a:ln w="12700">
            <a:solidFill>
              <a:srgbClr val="1B3A5C"/>
            </a:solidFill>
            <a:prstDash val="solid"/>
          </a:ln>
        </p:spPr>
      </p:sp>
      <p:sp>
        <p:nvSpPr>
          <p:cNvPr id="17" name="Text 15"/>
          <p:cNvSpPr/>
          <p:nvPr/>
        </p:nvSpPr>
        <p:spPr>
          <a:xfrm>
            <a:off x="384048" y="3264408"/>
            <a:ext cx="329184" cy="329184"/>
          </a:xfrm>
          <a:prstGeom prst="rect">
            <a:avLst/>
          </a:prstGeom>
          <a:noFill/>
          <a:ln/>
        </p:spPr>
        <p:txBody>
          <a:bodyPr wrap="square" rtlCol="0" anchor="ctr"/>
          <a:lstStyle/>
          <a:p>
            <a:pPr algn="ctr" indent="0" marL="0">
              <a:buNone/>
            </a:pPr>
            <a:r>
              <a:rPr lang="en-US" sz="1100" b="1" dirty="0">
                <a:solidFill>
                  <a:srgbClr val="FFFFFF"/>
                </a:solidFill>
              </a:rPr>
              <a:t>B</a:t>
            </a:r>
            <a:endParaRPr lang="en-US" sz="1100" dirty="0"/>
          </a:p>
        </p:txBody>
      </p:sp>
      <p:sp>
        <p:nvSpPr>
          <p:cNvPr id="18" name="Text 16"/>
          <p:cNvSpPr/>
          <p:nvPr/>
        </p:nvSpPr>
        <p:spPr>
          <a:xfrm>
            <a:off x="786384" y="3246120"/>
            <a:ext cx="7991856" cy="365760"/>
          </a:xfrm>
          <a:prstGeom prst="rect">
            <a:avLst/>
          </a:prstGeom>
          <a:noFill/>
          <a:ln/>
        </p:spPr>
        <p:txBody>
          <a:bodyPr wrap="square" rtlCol="0" anchor="ctr"/>
          <a:lstStyle/>
          <a:p>
            <a:pPr indent="0" marL="0">
              <a:buNone/>
            </a:pPr>
            <a:r>
              <a:rPr lang="en-US" sz="1250" dirty="0">
                <a:solidFill>
                  <a:srgbClr val="1B2A3B"/>
                </a:solidFill>
              </a:rPr>
              <a:t>CanNotDelete lock directly on the SQL Database resource</a:t>
            </a:r>
            <a:endParaRPr lang="en-US" sz="1250" dirty="0"/>
          </a:p>
        </p:txBody>
      </p:sp>
      <p:sp>
        <p:nvSpPr>
          <p:cNvPr id="19" name="Shape 17"/>
          <p:cNvSpPr/>
          <p:nvPr/>
        </p:nvSpPr>
        <p:spPr>
          <a:xfrm>
            <a:off x="292608" y="3785616"/>
            <a:ext cx="8558784" cy="539496"/>
          </a:xfrm>
          <a:prstGeom prst="rect">
            <a:avLst/>
          </a:prstGeom>
          <a:solidFill>
            <a:srgbClr val="FFFFFF"/>
          </a:solidFill>
          <a:ln w="12700">
            <a:solidFill>
              <a:srgbClr val="C5D8EE"/>
            </a:solidFill>
            <a:prstDash val="solid"/>
          </a:ln>
        </p:spPr>
      </p:sp>
      <p:sp>
        <p:nvSpPr>
          <p:cNvPr id="20" name="Shape 18"/>
          <p:cNvSpPr/>
          <p:nvPr/>
        </p:nvSpPr>
        <p:spPr>
          <a:xfrm>
            <a:off x="384048" y="3895344"/>
            <a:ext cx="329184" cy="329184"/>
          </a:xfrm>
          <a:prstGeom prst="ellipse">
            <a:avLst/>
          </a:prstGeom>
          <a:solidFill>
            <a:srgbClr val="1B3A5C"/>
          </a:solidFill>
          <a:ln w="12700">
            <a:solidFill>
              <a:srgbClr val="1B3A5C"/>
            </a:solidFill>
            <a:prstDash val="solid"/>
          </a:ln>
        </p:spPr>
      </p:sp>
      <p:sp>
        <p:nvSpPr>
          <p:cNvPr id="21" name="Text 19"/>
          <p:cNvSpPr/>
          <p:nvPr/>
        </p:nvSpPr>
        <p:spPr>
          <a:xfrm>
            <a:off x="384048" y="3895344"/>
            <a:ext cx="329184" cy="329184"/>
          </a:xfrm>
          <a:prstGeom prst="rect">
            <a:avLst/>
          </a:prstGeom>
          <a:noFill/>
          <a:ln/>
        </p:spPr>
        <p:txBody>
          <a:bodyPr wrap="square" rtlCol="0" anchor="ctr"/>
          <a:lstStyle/>
          <a:p>
            <a:pPr algn="ctr" indent="0" marL="0">
              <a:buNone/>
            </a:pPr>
            <a:r>
              <a:rPr lang="en-US" sz="1100" b="1" dirty="0">
                <a:solidFill>
                  <a:srgbClr val="FFFFFF"/>
                </a:solidFill>
              </a:rPr>
              <a:t>C</a:t>
            </a:r>
            <a:endParaRPr lang="en-US" sz="1100" dirty="0"/>
          </a:p>
        </p:txBody>
      </p:sp>
      <p:sp>
        <p:nvSpPr>
          <p:cNvPr id="22" name="Text 20"/>
          <p:cNvSpPr/>
          <p:nvPr/>
        </p:nvSpPr>
        <p:spPr>
          <a:xfrm>
            <a:off x="786384" y="3877056"/>
            <a:ext cx="7991856" cy="365760"/>
          </a:xfrm>
          <a:prstGeom prst="rect">
            <a:avLst/>
          </a:prstGeom>
          <a:noFill/>
          <a:ln/>
        </p:spPr>
        <p:txBody>
          <a:bodyPr wrap="square" rtlCol="0" anchor="ctr"/>
          <a:lstStyle/>
          <a:p>
            <a:pPr indent="0" marL="0">
              <a:buNone/>
            </a:pPr>
            <a:r>
              <a:rPr lang="en-US" sz="1250" dirty="0">
                <a:solidFill>
                  <a:srgbClr val="1B2A3B"/>
                </a:solidFill>
              </a:rPr>
              <a:t>CanNotDelete lock at the Resource Group level</a:t>
            </a:r>
            <a:endParaRPr lang="en-US" sz="1250" dirty="0"/>
          </a:p>
        </p:txBody>
      </p:sp>
      <p:sp>
        <p:nvSpPr>
          <p:cNvPr id="23" name="Shape 21"/>
          <p:cNvSpPr/>
          <p:nvPr/>
        </p:nvSpPr>
        <p:spPr>
          <a:xfrm>
            <a:off x="292608" y="4416552"/>
            <a:ext cx="8558784" cy="539496"/>
          </a:xfrm>
          <a:prstGeom prst="rect">
            <a:avLst/>
          </a:prstGeom>
          <a:solidFill>
            <a:srgbClr val="FFFFFF"/>
          </a:solidFill>
          <a:ln w="12700">
            <a:solidFill>
              <a:srgbClr val="C5D8EE"/>
            </a:solidFill>
            <a:prstDash val="solid"/>
          </a:ln>
        </p:spPr>
      </p:sp>
      <p:sp>
        <p:nvSpPr>
          <p:cNvPr id="24" name="Shape 22"/>
          <p:cNvSpPr/>
          <p:nvPr/>
        </p:nvSpPr>
        <p:spPr>
          <a:xfrm>
            <a:off x="384048" y="4526280"/>
            <a:ext cx="329184" cy="329184"/>
          </a:xfrm>
          <a:prstGeom prst="ellipse">
            <a:avLst/>
          </a:prstGeom>
          <a:solidFill>
            <a:srgbClr val="1B3A5C"/>
          </a:solidFill>
          <a:ln w="12700">
            <a:solidFill>
              <a:srgbClr val="1B3A5C"/>
            </a:solidFill>
            <a:prstDash val="solid"/>
          </a:ln>
        </p:spPr>
      </p:sp>
      <p:sp>
        <p:nvSpPr>
          <p:cNvPr id="25" name="Text 23"/>
          <p:cNvSpPr/>
          <p:nvPr/>
        </p:nvSpPr>
        <p:spPr>
          <a:xfrm>
            <a:off x="384048" y="4526280"/>
            <a:ext cx="329184" cy="329184"/>
          </a:xfrm>
          <a:prstGeom prst="rect">
            <a:avLst/>
          </a:prstGeom>
          <a:noFill/>
          <a:ln/>
        </p:spPr>
        <p:txBody>
          <a:bodyPr wrap="square" rtlCol="0" anchor="ctr"/>
          <a:lstStyle/>
          <a:p>
            <a:pPr algn="ctr" indent="0" marL="0">
              <a:buNone/>
            </a:pPr>
            <a:r>
              <a:rPr lang="en-US" sz="1100" b="1" dirty="0">
                <a:solidFill>
                  <a:srgbClr val="FFFFFF"/>
                </a:solidFill>
              </a:rPr>
              <a:t>D</a:t>
            </a:r>
            <a:endParaRPr lang="en-US" sz="1100" dirty="0"/>
          </a:p>
        </p:txBody>
      </p:sp>
      <p:sp>
        <p:nvSpPr>
          <p:cNvPr id="26" name="Text 24"/>
          <p:cNvSpPr/>
          <p:nvPr/>
        </p:nvSpPr>
        <p:spPr>
          <a:xfrm>
            <a:off x="786384" y="4507992"/>
            <a:ext cx="7991856" cy="365760"/>
          </a:xfrm>
          <a:prstGeom prst="rect">
            <a:avLst/>
          </a:prstGeom>
          <a:noFill/>
          <a:ln/>
        </p:spPr>
        <p:txBody>
          <a:bodyPr wrap="square" rtlCol="0" anchor="ctr"/>
          <a:lstStyle/>
          <a:p>
            <a:pPr indent="0" marL="0">
              <a:buNone/>
            </a:pPr>
            <a:r>
              <a:rPr lang="en-US" sz="1250" dirty="0">
                <a:solidFill>
                  <a:srgbClr val="1B2A3B"/>
                </a:solidFill>
              </a:rPr>
              <a:t>ReadOnly lock directly on the SQL Database resource</a:t>
            </a:r>
            <a:endParaRPr lang="en-US" sz="12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4F8FD"/>
        </a:solidFill>
      </p:bgPr>
    </p:bg>
    <p:spTree>
      <p:nvGrpSpPr>
        <p:cNvPr id="1" name=""/>
        <p:cNvGrpSpPr/>
        <p:nvPr/>
      </p:nvGrpSpPr>
      <p:grpSpPr>
        <a:xfrm>
          <a:off x="0" y="0"/>
          <a:ext cx="0" cy="0"/>
          <a:chOff x="0" y="0"/>
          <a:chExt cx="0" cy="0"/>
        </a:xfrm>
      </p:grpSpPr>
      <p:sp>
        <p:nvSpPr>
          <p:cNvPr id="2" name="Shape 0"/>
          <p:cNvSpPr/>
          <p:nvPr/>
        </p:nvSpPr>
        <p:spPr>
          <a:xfrm>
            <a:off x="0" y="0"/>
            <a:ext cx="146304" cy="5143500"/>
          </a:xfrm>
          <a:prstGeom prst="rect">
            <a:avLst/>
          </a:prstGeom>
          <a:solidFill>
            <a:srgbClr val="107C10"/>
          </a:solidFill>
          <a:ln w="12700">
            <a:solidFill>
              <a:srgbClr val="107C10"/>
            </a:solidFill>
            <a:prstDash val="solid"/>
          </a:ln>
        </p:spPr>
      </p:sp>
      <p:sp>
        <p:nvSpPr>
          <p:cNvPr id="3" name="Shape 1"/>
          <p:cNvSpPr/>
          <p:nvPr/>
        </p:nvSpPr>
        <p:spPr>
          <a:xfrm>
            <a:off x="146304" y="0"/>
            <a:ext cx="8997696" cy="594360"/>
          </a:xfrm>
          <a:prstGeom prst="rect">
            <a:avLst/>
          </a:prstGeom>
          <a:solidFill>
            <a:srgbClr val="0A1628"/>
          </a:solidFill>
          <a:ln w="12700">
            <a:solidFill>
              <a:srgbClr val="0A1628"/>
            </a:solidFill>
            <a:prstDash val="solid"/>
          </a:ln>
        </p:spPr>
      </p:sp>
      <p:sp>
        <p:nvSpPr>
          <p:cNvPr id="4" name="Text 2"/>
          <p:cNvSpPr/>
          <p:nvPr/>
        </p:nvSpPr>
        <p:spPr>
          <a:xfrm>
            <a:off x="292608" y="0"/>
            <a:ext cx="6583680" cy="594360"/>
          </a:xfrm>
          <a:prstGeom prst="rect">
            <a:avLst/>
          </a:prstGeom>
          <a:noFill/>
          <a:ln/>
        </p:spPr>
        <p:txBody>
          <a:bodyPr wrap="square" lIns="0" tIns="0" rIns="0" bIns="0" rtlCol="0" anchor="ctr"/>
          <a:lstStyle/>
          <a:p>
            <a:pPr indent="0" marL="0">
              <a:buNone/>
            </a:pPr>
            <a:r>
              <a:rPr lang="en-US" sz="1200" b="1" dirty="0">
                <a:solidFill>
                  <a:srgbClr val="00FF90"/>
                </a:solidFill>
              </a:rPr>
              <a:t>✅  ANSWER 7  ·  Resource Locks</a:t>
            </a:r>
            <a:endParaRPr lang="en-US" sz="1200" dirty="0"/>
          </a:p>
        </p:txBody>
      </p:sp>
      <p:sp>
        <p:nvSpPr>
          <p:cNvPr id="5" name="Text 3"/>
          <p:cNvSpPr/>
          <p:nvPr/>
        </p:nvSpPr>
        <p:spPr>
          <a:xfrm>
            <a:off x="7498080" y="0"/>
            <a:ext cx="1499616" cy="594360"/>
          </a:xfrm>
          <a:prstGeom prst="rect">
            <a:avLst/>
          </a:prstGeom>
          <a:noFill/>
          <a:ln/>
        </p:spPr>
        <p:txBody>
          <a:bodyPr wrap="square" lIns="0" tIns="0" rIns="0" bIns="0" rtlCol="0" anchor="ctr"/>
          <a:lstStyle/>
          <a:p>
            <a:pPr algn="r" indent="0" marL="0">
              <a:buNone/>
            </a:pPr>
            <a:r>
              <a:rPr lang="en-US" sz="1200" b="1" dirty="0">
                <a:solidFill>
                  <a:srgbClr val="6C8EAD"/>
                </a:solidFill>
              </a:rPr>
              <a:t>7 / 20</a:t>
            </a:r>
            <a:endParaRPr lang="en-US" sz="1200" dirty="0"/>
          </a:p>
        </p:txBody>
      </p:sp>
      <p:sp>
        <p:nvSpPr>
          <p:cNvPr id="6" name="Shape 4"/>
          <p:cNvSpPr/>
          <p:nvPr/>
        </p:nvSpPr>
        <p:spPr>
          <a:xfrm>
            <a:off x="292608" y="658368"/>
            <a:ext cx="8558784" cy="475488"/>
          </a:xfrm>
          <a:prstGeom prst="rect">
            <a:avLst/>
          </a:prstGeom>
          <a:solidFill>
            <a:srgbClr val="E6F3E6"/>
          </a:solidFill>
          <a:ln w="25400">
            <a:solidFill>
              <a:srgbClr val="107C10"/>
            </a:solidFill>
            <a:prstDash val="solid"/>
          </a:ln>
        </p:spPr>
      </p:sp>
      <p:sp>
        <p:nvSpPr>
          <p:cNvPr id="7" name="Text 5"/>
          <p:cNvSpPr/>
          <p:nvPr/>
        </p:nvSpPr>
        <p:spPr>
          <a:xfrm>
            <a:off x="420624" y="658368"/>
            <a:ext cx="8321040" cy="475488"/>
          </a:xfrm>
          <a:prstGeom prst="rect">
            <a:avLst/>
          </a:prstGeom>
          <a:noFill/>
          <a:ln/>
        </p:spPr>
        <p:txBody>
          <a:bodyPr wrap="square" rtlCol="0" anchor="ctr"/>
          <a:lstStyle/>
          <a:p>
            <a:pPr indent="0" marL="0">
              <a:buNone/>
            </a:pPr>
            <a:r>
              <a:rPr lang="en-US" sz="1300" b="1" dirty="0">
                <a:solidFill>
                  <a:srgbClr val="107C10"/>
                </a:solidFill>
              </a:rPr>
              <a:t>✔  Correct: B — CanNotDelete lock directly on the SQL Database resource</a:t>
            </a:r>
            <a:endParaRPr lang="en-US" sz="1300" dirty="0"/>
          </a:p>
        </p:txBody>
      </p:sp>
      <p:sp>
        <p:nvSpPr>
          <p:cNvPr id="8" name="Text 6"/>
          <p:cNvSpPr/>
          <p:nvPr/>
        </p:nvSpPr>
        <p:spPr>
          <a:xfrm>
            <a:off x="292608" y="1216152"/>
            <a:ext cx="8558784" cy="292608"/>
          </a:xfrm>
          <a:prstGeom prst="rect">
            <a:avLst/>
          </a:prstGeom>
          <a:noFill/>
          <a:ln/>
        </p:spPr>
        <p:txBody>
          <a:bodyPr wrap="square" rtlCol="0" anchor="ctr"/>
          <a:lstStyle/>
          <a:p>
            <a:pPr indent="0" marL="0">
              <a:buNone/>
            </a:pPr>
            <a:r>
              <a:rPr lang="en-US" sz="1200" b="1" dirty="0">
                <a:solidFill>
                  <a:srgbClr val="0A1628"/>
                </a:solidFill>
              </a:rPr>
              <a:t>Why this is correct</a:t>
            </a:r>
            <a:endParaRPr lang="en-US" sz="1200" dirty="0"/>
          </a:p>
        </p:txBody>
      </p:sp>
      <p:sp>
        <p:nvSpPr>
          <p:cNvPr id="9" name="Shape 7"/>
          <p:cNvSpPr/>
          <p:nvPr/>
        </p:nvSpPr>
        <p:spPr>
          <a:xfrm>
            <a:off x="292608" y="1517904"/>
            <a:ext cx="8558784" cy="1097280"/>
          </a:xfrm>
          <a:prstGeom prst="rect">
            <a:avLst/>
          </a:prstGeom>
          <a:solidFill>
            <a:srgbClr val="FFFFFF"/>
          </a:solidFill>
          <a:ln w="12700">
            <a:solidFill>
              <a:srgbClr val="C5D8EE"/>
            </a:solidFill>
            <a:prstDash val="solid"/>
          </a:ln>
        </p:spPr>
      </p:sp>
      <p:sp>
        <p:nvSpPr>
          <p:cNvPr id="10" name="Text 8"/>
          <p:cNvSpPr/>
          <p:nvPr/>
        </p:nvSpPr>
        <p:spPr>
          <a:xfrm>
            <a:off x="420624" y="1563624"/>
            <a:ext cx="8321040" cy="1005840"/>
          </a:xfrm>
          <a:prstGeom prst="rect">
            <a:avLst/>
          </a:prstGeom>
          <a:noFill/>
          <a:ln/>
        </p:spPr>
        <p:txBody>
          <a:bodyPr wrap="square" rtlCol="0" anchor="t"/>
          <a:lstStyle/>
          <a:p>
            <a:pPr indent="0" marL="0">
              <a:buNone/>
            </a:pPr>
            <a:r>
              <a:rPr lang="en-US" sz="1150" dirty="0">
                <a:solidFill>
                  <a:srgbClr val="1B2A3B"/>
                </a:solidFill>
              </a:rPr>
              <a:t>A CanNotDelete lock on the SQL Database resource prevents deletion by anyone — including Owners — unless the lock is explicitly removed first. Applying it directly to the resource is precise and least disruptive. A ReadOnly lock would also block updates/writes to the DB, causing operational issues. Subscription-level locks affect all resources. RG-level locks affect all resources in the group.</a:t>
            </a:r>
            <a:endParaRPr lang="en-US" sz="1150" dirty="0"/>
          </a:p>
        </p:txBody>
      </p:sp>
      <p:sp>
        <p:nvSpPr>
          <p:cNvPr id="11" name="Text 9"/>
          <p:cNvSpPr/>
          <p:nvPr/>
        </p:nvSpPr>
        <p:spPr>
          <a:xfrm>
            <a:off x="292608" y="2697480"/>
            <a:ext cx="8558784" cy="292608"/>
          </a:xfrm>
          <a:prstGeom prst="rect">
            <a:avLst/>
          </a:prstGeom>
          <a:noFill/>
          <a:ln/>
        </p:spPr>
        <p:txBody>
          <a:bodyPr wrap="square" rtlCol="0" anchor="ctr"/>
          <a:lstStyle/>
          <a:p>
            <a:pPr indent="0" marL="0">
              <a:buNone/>
            </a:pPr>
            <a:r>
              <a:rPr lang="en-US" sz="1200" b="1" dirty="0">
                <a:solidFill>
                  <a:srgbClr val="0A1628"/>
                </a:solidFill>
              </a:rPr>
              <a:t>Why the other options are incorrect</a:t>
            </a:r>
            <a:endParaRPr lang="en-US" sz="1200" dirty="0"/>
          </a:p>
        </p:txBody>
      </p:sp>
      <p:sp>
        <p:nvSpPr>
          <p:cNvPr id="12" name="Shape 10"/>
          <p:cNvSpPr/>
          <p:nvPr/>
        </p:nvSpPr>
        <p:spPr>
          <a:xfrm>
            <a:off x="292608" y="3035808"/>
            <a:ext cx="8558784" cy="603504"/>
          </a:xfrm>
          <a:prstGeom prst="rect">
            <a:avLst/>
          </a:prstGeom>
          <a:solidFill>
            <a:srgbClr val="FAEAEA"/>
          </a:solidFill>
          <a:ln w="12700">
            <a:solidFill>
              <a:srgbClr val="F4AAAA"/>
            </a:solidFill>
            <a:prstDash val="solid"/>
          </a:ln>
        </p:spPr>
      </p:sp>
      <p:sp>
        <p:nvSpPr>
          <p:cNvPr id="13" name="Shape 11"/>
          <p:cNvSpPr/>
          <p:nvPr/>
        </p:nvSpPr>
        <p:spPr>
          <a:xfrm>
            <a:off x="384048" y="3172968"/>
            <a:ext cx="301752" cy="301752"/>
          </a:xfrm>
          <a:prstGeom prst="ellipse">
            <a:avLst/>
          </a:prstGeom>
          <a:solidFill>
            <a:srgbClr val="A80000"/>
          </a:solidFill>
          <a:ln w="12700">
            <a:solidFill>
              <a:srgbClr val="A80000"/>
            </a:solidFill>
            <a:prstDash val="solid"/>
          </a:ln>
        </p:spPr>
      </p:sp>
      <p:sp>
        <p:nvSpPr>
          <p:cNvPr id="14" name="Text 12"/>
          <p:cNvSpPr/>
          <p:nvPr/>
        </p:nvSpPr>
        <p:spPr>
          <a:xfrm>
            <a:off x="384048" y="3172968"/>
            <a:ext cx="301752" cy="301752"/>
          </a:xfrm>
          <a:prstGeom prst="rect">
            <a:avLst/>
          </a:prstGeom>
          <a:noFill/>
          <a:ln/>
        </p:spPr>
        <p:txBody>
          <a:bodyPr wrap="square" rtlCol="0" anchor="ctr"/>
          <a:lstStyle/>
          <a:p>
            <a:pPr algn="ctr" indent="0" marL="0">
              <a:buNone/>
            </a:pPr>
            <a:r>
              <a:rPr lang="en-US" sz="1100" b="1" dirty="0">
                <a:solidFill>
                  <a:srgbClr val="FFFFFF"/>
                </a:solidFill>
              </a:rPr>
              <a:t>A</a:t>
            </a:r>
            <a:endParaRPr lang="en-US" sz="1100" dirty="0"/>
          </a:p>
        </p:txBody>
      </p:sp>
      <p:sp>
        <p:nvSpPr>
          <p:cNvPr id="15" name="Text 13"/>
          <p:cNvSpPr/>
          <p:nvPr/>
        </p:nvSpPr>
        <p:spPr>
          <a:xfrm>
            <a:off x="768096" y="3090672"/>
            <a:ext cx="8010144" cy="493776"/>
          </a:xfrm>
          <a:prstGeom prst="rect">
            <a:avLst/>
          </a:prstGeom>
          <a:noFill/>
          <a:ln/>
        </p:spPr>
        <p:txBody>
          <a:bodyPr wrap="square" rtlCol="0" anchor="ctr"/>
          <a:lstStyle/>
          <a:p>
            <a:pPr indent="0" marL="0">
              <a:buNone/>
            </a:pPr>
            <a:r>
              <a:rPr lang="en-US" sz="1150" dirty="0">
                <a:solidFill>
                  <a:srgbClr val="1B2A3B"/>
                </a:solidFill>
              </a:rPr>
              <a:t>ReadOnly at the Subscription level blocks all write operations across every resource in the subscription — far too broad and disruptive.</a:t>
            </a:r>
            <a:endParaRPr lang="en-US" sz="1150" dirty="0"/>
          </a:p>
        </p:txBody>
      </p:sp>
      <p:sp>
        <p:nvSpPr>
          <p:cNvPr id="16" name="Shape 14"/>
          <p:cNvSpPr/>
          <p:nvPr/>
        </p:nvSpPr>
        <p:spPr>
          <a:xfrm>
            <a:off x="292608" y="3712464"/>
            <a:ext cx="8558784" cy="603504"/>
          </a:xfrm>
          <a:prstGeom prst="rect">
            <a:avLst/>
          </a:prstGeom>
          <a:solidFill>
            <a:srgbClr val="FAEAEA"/>
          </a:solidFill>
          <a:ln w="12700">
            <a:solidFill>
              <a:srgbClr val="F4AAAA"/>
            </a:solidFill>
            <a:prstDash val="solid"/>
          </a:ln>
        </p:spPr>
      </p:sp>
      <p:sp>
        <p:nvSpPr>
          <p:cNvPr id="17" name="Shape 15"/>
          <p:cNvSpPr/>
          <p:nvPr/>
        </p:nvSpPr>
        <p:spPr>
          <a:xfrm>
            <a:off x="384048" y="3849624"/>
            <a:ext cx="301752" cy="301752"/>
          </a:xfrm>
          <a:prstGeom prst="ellipse">
            <a:avLst/>
          </a:prstGeom>
          <a:solidFill>
            <a:srgbClr val="A80000"/>
          </a:solidFill>
          <a:ln w="12700">
            <a:solidFill>
              <a:srgbClr val="A80000"/>
            </a:solidFill>
            <a:prstDash val="solid"/>
          </a:ln>
        </p:spPr>
      </p:sp>
      <p:sp>
        <p:nvSpPr>
          <p:cNvPr id="18" name="Text 16"/>
          <p:cNvSpPr/>
          <p:nvPr/>
        </p:nvSpPr>
        <p:spPr>
          <a:xfrm>
            <a:off x="384048" y="3849624"/>
            <a:ext cx="301752" cy="301752"/>
          </a:xfrm>
          <a:prstGeom prst="rect">
            <a:avLst/>
          </a:prstGeom>
          <a:noFill/>
          <a:ln/>
        </p:spPr>
        <p:txBody>
          <a:bodyPr wrap="square" rtlCol="0" anchor="ctr"/>
          <a:lstStyle/>
          <a:p>
            <a:pPr algn="ctr" indent="0" marL="0">
              <a:buNone/>
            </a:pPr>
            <a:r>
              <a:rPr lang="en-US" sz="1100" b="1" dirty="0">
                <a:solidFill>
                  <a:srgbClr val="FFFFFF"/>
                </a:solidFill>
              </a:rPr>
              <a:t>C</a:t>
            </a:r>
            <a:endParaRPr lang="en-US" sz="1100" dirty="0"/>
          </a:p>
        </p:txBody>
      </p:sp>
      <p:sp>
        <p:nvSpPr>
          <p:cNvPr id="19" name="Text 17"/>
          <p:cNvSpPr/>
          <p:nvPr/>
        </p:nvSpPr>
        <p:spPr>
          <a:xfrm>
            <a:off x="768096" y="3767328"/>
            <a:ext cx="8010144" cy="493776"/>
          </a:xfrm>
          <a:prstGeom prst="rect">
            <a:avLst/>
          </a:prstGeom>
          <a:noFill/>
          <a:ln/>
        </p:spPr>
        <p:txBody>
          <a:bodyPr wrap="square" rtlCol="0" anchor="ctr"/>
          <a:lstStyle/>
          <a:p>
            <a:pPr indent="0" marL="0">
              <a:buNone/>
            </a:pPr>
            <a:r>
              <a:rPr lang="en-US" sz="1150" dirty="0">
                <a:solidFill>
                  <a:srgbClr val="1B2A3B"/>
                </a:solidFill>
              </a:rPr>
              <a:t>CanNotDelete at the Resource Group level prevents deletion of the entire RG and all resources in it, which may be unintended for other resources.</a:t>
            </a:r>
            <a:endParaRPr lang="en-US" sz="1150" dirty="0"/>
          </a:p>
        </p:txBody>
      </p:sp>
      <p:sp>
        <p:nvSpPr>
          <p:cNvPr id="20" name="Shape 18"/>
          <p:cNvSpPr/>
          <p:nvPr/>
        </p:nvSpPr>
        <p:spPr>
          <a:xfrm>
            <a:off x="292608" y="4389120"/>
            <a:ext cx="8558784" cy="603504"/>
          </a:xfrm>
          <a:prstGeom prst="rect">
            <a:avLst/>
          </a:prstGeom>
          <a:solidFill>
            <a:srgbClr val="FAEAEA"/>
          </a:solidFill>
          <a:ln w="12700">
            <a:solidFill>
              <a:srgbClr val="F4AAAA"/>
            </a:solidFill>
            <a:prstDash val="solid"/>
          </a:ln>
        </p:spPr>
      </p:sp>
      <p:sp>
        <p:nvSpPr>
          <p:cNvPr id="21" name="Shape 19"/>
          <p:cNvSpPr/>
          <p:nvPr/>
        </p:nvSpPr>
        <p:spPr>
          <a:xfrm>
            <a:off x="384048" y="4526280"/>
            <a:ext cx="301752" cy="301752"/>
          </a:xfrm>
          <a:prstGeom prst="ellipse">
            <a:avLst/>
          </a:prstGeom>
          <a:solidFill>
            <a:srgbClr val="A80000"/>
          </a:solidFill>
          <a:ln w="12700">
            <a:solidFill>
              <a:srgbClr val="A80000"/>
            </a:solidFill>
            <a:prstDash val="solid"/>
          </a:ln>
        </p:spPr>
      </p:sp>
      <p:sp>
        <p:nvSpPr>
          <p:cNvPr id="22" name="Text 20"/>
          <p:cNvSpPr/>
          <p:nvPr/>
        </p:nvSpPr>
        <p:spPr>
          <a:xfrm>
            <a:off x="384048" y="4526280"/>
            <a:ext cx="301752" cy="301752"/>
          </a:xfrm>
          <a:prstGeom prst="rect">
            <a:avLst/>
          </a:prstGeom>
          <a:noFill/>
          <a:ln/>
        </p:spPr>
        <p:txBody>
          <a:bodyPr wrap="square" rtlCol="0" anchor="ctr"/>
          <a:lstStyle/>
          <a:p>
            <a:pPr algn="ctr" indent="0" marL="0">
              <a:buNone/>
            </a:pPr>
            <a:r>
              <a:rPr lang="en-US" sz="1100" b="1" dirty="0">
                <a:solidFill>
                  <a:srgbClr val="FFFFFF"/>
                </a:solidFill>
              </a:rPr>
              <a:t>D</a:t>
            </a:r>
            <a:endParaRPr lang="en-US" sz="1100" dirty="0"/>
          </a:p>
        </p:txBody>
      </p:sp>
      <p:sp>
        <p:nvSpPr>
          <p:cNvPr id="23" name="Text 21"/>
          <p:cNvSpPr/>
          <p:nvPr/>
        </p:nvSpPr>
        <p:spPr>
          <a:xfrm>
            <a:off x="768096" y="4443984"/>
            <a:ext cx="8010144" cy="493776"/>
          </a:xfrm>
          <a:prstGeom prst="rect">
            <a:avLst/>
          </a:prstGeom>
          <a:noFill/>
          <a:ln/>
        </p:spPr>
        <p:txBody>
          <a:bodyPr wrap="square" rtlCol="0" anchor="ctr"/>
          <a:lstStyle/>
          <a:p>
            <a:pPr indent="0" marL="0">
              <a:buNone/>
            </a:pPr>
            <a:r>
              <a:rPr lang="en-US" sz="1150" dirty="0">
                <a:solidFill>
                  <a:srgbClr val="1B2A3B"/>
                </a:solidFill>
              </a:rPr>
              <a:t>ReadOnly directly on the SQL DB would prevent any data writes or configuration changes, making the database unusable for its purpose.</a:t>
            </a:r>
            <a:endParaRPr lang="en-US" sz="11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4F8FD"/>
        </a:solidFill>
      </p:bgPr>
    </p:bg>
    <p:spTree>
      <p:nvGrpSpPr>
        <p:cNvPr id="1" name=""/>
        <p:cNvGrpSpPr/>
        <p:nvPr/>
      </p:nvGrpSpPr>
      <p:grpSpPr>
        <a:xfrm>
          <a:off x="0" y="0"/>
          <a:ext cx="0" cy="0"/>
          <a:chOff x="0" y="0"/>
          <a:chExt cx="0" cy="0"/>
        </a:xfrm>
      </p:grpSpPr>
      <p:sp>
        <p:nvSpPr>
          <p:cNvPr id="2" name="Shape 0"/>
          <p:cNvSpPr/>
          <p:nvPr/>
        </p:nvSpPr>
        <p:spPr>
          <a:xfrm>
            <a:off x="0" y="0"/>
            <a:ext cx="146304" cy="5143500"/>
          </a:xfrm>
          <a:prstGeom prst="rect">
            <a:avLst/>
          </a:prstGeom>
          <a:solidFill>
            <a:srgbClr val="0078D4"/>
          </a:solidFill>
          <a:ln w="12700">
            <a:solidFill>
              <a:srgbClr val="0078D4"/>
            </a:solidFill>
            <a:prstDash val="solid"/>
          </a:ln>
        </p:spPr>
      </p:sp>
      <p:sp>
        <p:nvSpPr>
          <p:cNvPr id="3" name="Shape 1"/>
          <p:cNvSpPr/>
          <p:nvPr/>
        </p:nvSpPr>
        <p:spPr>
          <a:xfrm>
            <a:off x="146304" y="0"/>
            <a:ext cx="8997696" cy="594360"/>
          </a:xfrm>
          <a:prstGeom prst="rect">
            <a:avLst/>
          </a:prstGeom>
          <a:solidFill>
            <a:srgbClr val="0A1628"/>
          </a:solidFill>
          <a:ln w="12700">
            <a:solidFill>
              <a:srgbClr val="0A1628"/>
            </a:solidFill>
            <a:prstDash val="solid"/>
          </a:ln>
        </p:spPr>
      </p:sp>
      <p:sp>
        <p:nvSpPr>
          <p:cNvPr id="4" name="Text 2"/>
          <p:cNvSpPr/>
          <p:nvPr/>
        </p:nvSpPr>
        <p:spPr>
          <a:xfrm>
            <a:off x="292608" y="0"/>
            <a:ext cx="6583680" cy="594360"/>
          </a:xfrm>
          <a:prstGeom prst="rect">
            <a:avLst/>
          </a:prstGeom>
          <a:noFill/>
          <a:ln/>
        </p:spPr>
        <p:txBody>
          <a:bodyPr wrap="square" lIns="0" tIns="0" rIns="0" bIns="0" rtlCol="0" anchor="ctr"/>
          <a:lstStyle/>
          <a:p>
            <a:pPr indent="0" marL="0">
              <a:buNone/>
            </a:pPr>
            <a:r>
              <a:rPr lang="en-US" sz="1200" b="1" dirty="0">
                <a:solidFill>
                  <a:srgbClr val="50E6FF"/>
                </a:solidFill>
              </a:rPr>
              <a:t>❓  QUESTION 8  ·  Azure Tags</a:t>
            </a:r>
            <a:endParaRPr lang="en-US" sz="1200" dirty="0"/>
          </a:p>
        </p:txBody>
      </p:sp>
      <p:sp>
        <p:nvSpPr>
          <p:cNvPr id="5" name="Text 3"/>
          <p:cNvSpPr/>
          <p:nvPr/>
        </p:nvSpPr>
        <p:spPr>
          <a:xfrm>
            <a:off x="7498080" y="0"/>
            <a:ext cx="1499616" cy="594360"/>
          </a:xfrm>
          <a:prstGeom prst="rect">
            <a:avLst/>
          </a:prstGeom>
          <a:noFill/>
          <a:ln/>
        </p:spPr>
        <p:txBody>
          <a:bodyPr wrap="square" lIns="0" tIns="0" rIns="0" bIns="0" rtlCol="0" anchor="ctr"/>
          <a:lstStyle/>
          <a:p>
            <a:pPr algn="r" indent="0" marL="0">
              <a:buNone/>
            </a:pPr>
            <a:r>
              <a:rPr lang="en-US" sz="1200" b="1" dirty="0">
                <a:solidFill>
                  <a:srgbClr val="6C8EAD"/>
                </a:solidFill>
              </a:rPr>
              <a:t>8 / 20</a:t>
            </a:r>
            <a:endParaRPr lang="en-US" sz="1200" dirty="0"/>
          </a:p>
        </p:txBody>
      </p:sp>
      <p:sp>
        <p:nvSpPr>
          <p:cNvPr id="6" name="Shape 4"/>
          <p:cNvSpPr/>
          <p:nvPr/>
        </p:nvSpPr>
        <p:spPr>
          <a:xfrm>
            <a:off x="292608" y="685800"/>
            <a:ext cx="1097280" cy="256032"/>
          </a:xfrm>
          <a:prstGeom prst="rect">
            <a:avLst/>
          </a:prstGeom>
          <a:solidFill>
            <a:srgbClr val="0078D4"/>
          </a:solidFill>
          <a:ln w="12700">
            <a:solidFill>
              <a:srgbClr val="0078D4"/>
            </a:solidFill>
            <a:prstDash val="solid"/>
          </a:ln>
        </p:spPr>
      </p:sp>
      <p:sp>
        <p:nvSpPr>
          <p:cNvPr id="7" name="Text 5"/>
          <p:cNvSpPr/>
          <p:nvPr/>
        </p:nvSpPr>
        <p:spPr>
          <a:xfrm>
            <a:off x="292608" y="685800"/>
            <a:ext cx="1097280" cy="256032"/>
          </a:xfrm>
          <a:prstGeom prst="rect">
            <a:avLst/>
          </a:prstGeom>
          <a:noFill/>
          <a:ln/>
        </p:spPr>
        <p:txBody>
          <a:bodyPr wrap="square" rtlCol="0" anchor="ctr"/>
          <a:lstStyle/>
          <a:p>
            <a:pPr algn="ctr" indent="0" marL="0">
              <a:buNone/>
            </a:pPr>
            <a:r>
              <a:rPr lang="en-US" sz="800" b="1" dirty="0">
                <a:solidFill>
                  <a:srgbClr val="FFFFFF"/>
                </a:solidFill>
              </a:rPr>
              <a:t>SCENARIO</a:t>
            </a:r>
            <a:endParaRPr lang="en-US" sz="800" dirty="0"/>
          </a:p>
        </p:txBody>
      </p:sp>
      <p:sp>
        <p:nvSpPr>
          <p:cNvPr id="8" name="Shape 6"/>
          <p:cNvSpPr/>
          <p:nvPr/>
        </p:nvSpPr>
        <p:spPr>
          <a:xfrm>
            <a:off x="292608" y="978408"/>
            <a:ext cx="8558784" cy="960120"/>
          </a:xfrm>
          <a:prstGeom prst="rect">
            <a:avLst/>
          </a:prstGeom>
          <a:solidFill>
            <a:srgbClr val="EBF4FF"/>
          </a:solidFill>
          <a:ln w="12700">
            <a:solidFill>
              <a:srgbClr val="0078D4"/>
            </a:solidFill>
            <a:prstDash val="solid"/>
          </a:ln>
        </p:spPr>
      </p:sp>
      <p:sp>
        <p:nvSpPr>
          <p:cNvPr id="9" name="Text 7"/>
          <p:cNvSpPr/>
          <p:nvPr/>
        </p:nvSpPr>
        <p:spPr>
          <a:xfrm>
            <a:off x="420624" y="1024128"/>
            <a:ext cx="8321040" cy="868680"/>
          </a:xfrm>
          <a:prstGeom prst="rect">
            <a:avLst/>
          </a:prstGeom>
          <a:noFill/>
          <a:ln/>
        </p:spPr>
        <p:txBody>
          <a:bodyPr wrap="square" rtlCol="0" anchor="t"/>
          <a:lstStyle/>
          <a:p>
            <a:pPr indent="0" marL="0">
              <a:buNone/>
            </a:pPr>
            <a:r>
              <a:rPr lang="en-US" sz="1250" dirty="0">
                <a:solidFill>
                  <a:srgbClr val="1B2A3B"/>
                </a:solidFill>
              </a:rPr>
              <a:t>Wingtip Toys uses Azure across multiple departments. Finance needs to generate a monthly cost report broken down by department and environment (Production vs Dev). Currently, there is no consistent tagging on resources.</a:t>
            </a:r>
            <a:endParaRPr lang="en-US" sz="1250" dirty="0"/>
          </a:p>
        </p:txBody>
      </p:sp>
      <p:sp>
        <p:nvSpPr>
          <p:cNvPr id="10" name="Text 8"/>
          <p:cNvSpPr/>
          <p:nvPr/>
        </p:nvSpPr>
        <p:spPr>
          <a:xfrm>
            <a:off x="292608" y="2048256"/>
            <a:ext cx="8558784" cy="420624"/>
          </a:xfrm>
          <a:prstGeom prst="rect">
            <a:avLst/>
          </a:prstGeom>
          <a:noFill/>
          <a:ln/>
        </p:spPr>
        <p:txBody>
          <a:bodyPr wrap="square" rtlCol="0" anchor="ctr"/>
          <a:lstStyle/>
          <a:p>
            <a:pPr indent="0" marL="0">
              <a:buNone/>
            </a:pPr>
            <a:r>
              <a:rPr lang="en-US" sz="1350" b="1" dirty="0">
                <a:solidFill>
                  <a:srgbClr val="0A1628"/>
                </a:solidFill>
              </a:rPr>
              <a:t>What is the best approach to enforce consistent tagging on all new resources?</a:t>
            </a:r>
            <a:endParaRPr lang="en-US" sz="1350" dirty="0"/>
          </a:p>
        </p:txBody>
      </p:sp>
      <p:sp>
        <p:nvSpPr>
          <p:cNvPr id="11" name="Shape 9"/>
          <p:cNvSpPr/>
          <p:nvPr/>
        </p:nvSpPr>
        <p:spPr>
          <a:xfrm>
            <a:off x="292608" y="2523744"/>
            <a:ext cx="8558784" cy="539496"/>
          </a:xfrm>
          <a:prstGeom prst="rect">
            <a:avLst/>
          </a:prstGeom>
          <a:solidFill>
            <a:srgbClr val="FFFFFF"/>
          </a:solidFill>
          <a:ln w="12700">
            <a:solidFill>
              <a:srgbClr val="C5D8EE"/>
            </a:solidFill>
            <a:prstDash val="solid"/>
          </a:ln>
        </p:spPr>
      </p:sp>
      <p:sp>
        <p:nvSpPr>
          <p:cNvPr id="12" name="Shape 10"/>
          <p:cNvSpPr/>
          <p:nvPr/>
        </p:nvSpPr>
        <p:spPr>
          <a:xfrm>
            <a:off x="384048" y="2633472"/>
            <a:ext cx="329184" cy="329184"/>
          </a:xfrm>
          <a:prstGeom prst="ellipse">
            <a:avLst/>
          </a:prstGeom>
          <a:solidFill>
            <a:srgbClr val="1B3A5C"/>
          </a:solidFill>
          <a:ln w="12700">
            <a:solidFill>
              <a:srgbClr val="1B3A5C"/>
            </a:solidFill>
            <a:prstDash val="solid"/>
          </a:ln>
        </p:spPr>
      </p:sp>
      <p:sp>
        <p:nvSpPr>
          <p:cNvPr id="13" name="Text 11"/>
          <p:cNvSpPr/>
          <p:nvPr/>
        </p:nvSpPr>
        <p:spPr>
          <a:xfrm>
            <a:off x="384048" y="2633472"/>
            <a:ext cx="329184" cy="329184"/>
          </a:xfrm>
          <a:prstGeom prst="rect">
            <a:avLst/>
          </a:prstGeom>
          <a:noFill/>
          <a:ln/>
        </p:spPr>
        <p:txBody>
          <a:bodyPr wrap="square" rtlCol="0" anchor="ctr"/>
          <a:lstStyle/>
          <a:p>
            <a:pPr algn="ctr" indent="0" marL="0">
              <a:buNone/>
            </a:pPr>
            <a:r>
              <a:rPr lang="en-US" sz="1100" b="1" dirty="0">
                <a:solidFill>
                  <a:srgbClr val="FFFFFF"/>
                </a:solidFill>
              </a:rPr>
              <a:t>A</a:t>
            </a:r>
            <a:endParaRPr lang="en-US" sz="1100" dirty="0"/>
          </a:p>
        </p:txBody>
      </p:sp>
      <p:sp>
        <p:nvSpPr>
          <p:cNvPr id="14" name="Text 12"/>
          <p:cNvSpPr/>
          <p:nvPr/>
        </p:nvSpPr>
        <p:spPr>
          <a:xfrm>
            <a:off x="786384" y="2615184"/>
            <a:ext cx="7991856" cy="365760"/>
          </a:xfrm>
          <a:prstGeom prst="rect">
            <a:avLst/>
          </a:prstGeom>
          <a:noFill/>
          <a:ln/>
        </p:spPr>
        <p:txBody>
          <a:bodyPr wrap="square" rtlCol="0" anchor="ctr"/>
          <a:lstStyle/>
          <a:p>
            <a:pPr indent="0" marL="0">
              <a:buNone/>
            </a:pPr>
            <a:r>
              <a:rPr lang="en-US" sz="1250" dirty="0">
                <a:solidFill>
                  <a:srgbClr val="1B2A3B"/>
                </a:solidFill>
              </a:rPr>
              <a:t>Ask each team to manually add tags when creating resources</a:t>
            </a:r>
            <a:endParaRPr lang="en-US" sz="1250" dirty="0"/>
          </a:p>
        </p:txBody>
      </p:sp>
      <p:sp>
        <p:nvSpPr>
          <p:cNvPr id="15" name="Shape 13"/>
          <p:cNvSpPr/>
          <p:nvPr/>
        </p:nvSpPr>
        <p:spPr>
          <a:xfrm>
            <a:off x="292608" y="3154680"/>
            <a:ext cx="8558784" cy="539496"/>
          </a:xfrm>
          <a:prstGeom prst="rect">
            <a:avLst/>
          </a:prstGeom>
          <a:solidFill>
            <a:srgbClr val="FFFFFF"/>
          </a:solidFill>
          <a:ln w="12700">
            <a:solidFill>
              <a:srgbClr val="C5D8EE"/>
            </a:solidFill>
            <a:prstDash val="solid"/>
          </a:ln>
        </p:spPr>
      </p:sp>
      <p:sp>
        <p:nvSpPr>
          <p:cNvPr id="16" name="Shape 14"/>
          <p:cNvSpPr/>
          <p:nvPr/>
        </p:nvSpPr>
        <p:spPr>
          <a:xfrm>
            <a:off x="384048" y="3264408"/>
            <a:ext cx="329184" cy="329184"/>
          </a:xfrm>
          <a:prstGeom prst="ellipse">
            <a:avLst/>
          </a:prstGeom>
          <a:solidFill>
            <a:srgbClr val="1B3A5C"/>
          </a:solidFill>
          <a:ln w="12700">
            <a:solidFill>
              <a:srgbClr val="1B3A5C"/>
            </a:solidFill>
            <a:prstDash val="solid"/>
          </a:ln>
        </p:spPr>
      </p:sp>
      <p:sp>
        <p:nvSpPr>
          <p:cNvPr id="17" name="Text 15"/>
          <p:cNvSpPr/>
          <p:nvPr/>
        </p:nvSpPr>
        <p:spPr>
          <a:xfrm>
            <a:off x="384048" y="3264408"/>
            <a:ext cx="329184" cy="329184"/>
          </a:xfrm>
          <a:prstGeom prst="rect">
            <a:avLst/>
          </a:prstGeom>
          <a:noFill/>
          <a:ln/>
        </p:spPr>
        <p:txBody>
          <a:bodyPr wrap="square" rtlCol="0" anchor="ctr"/>
          <a:lstStyle/>
          <a:p>
            <a:pPr algn="ctr" indent="0" marL="0">
              <a:buNone/>
            </a:pPr>
            <a:r>
              <a:rPr lang="en-US" sz="1100" b="1" dirty="0">
                <a:solidFill>
                  <a:srgbClr val="FFFFFF"/>
                </a:solidFill>
              </a:rPr>
              <a:t>B</a:t>
            </a:r>
            <a:endParaRPr lang="en-US" sz="1100" dirty="0"/>
          </a:p>
        </p:txBody>
      </p:sp>
      <p:sp>
        <p:nvSpPr>
          <p:cNvPr id="18" name="Text 16"/>
          <p:cNvSpPr/>
          <p:nvPr/>
        </p:nvSpPr>
        <p:spPr>
          <a:xfrm>
            <a:off x="786384" y="3246120"/>
            <a:ext cx="7991856" cy="365760"/>
          </a:xfrm>
          <a:prstGeom prst="rect">
            <a:avLst/>
          </a:prstGeom>
          <a:noFill/>
          <a:ln/>
        </p:spPr>
        <p:txBody>
          <a:bodyPr wrap="square" rtlCol="0" anchor="ctr"/>
          <a:lstStyle/>
          <a:p>
            <a:pPr indent="0" marL="0">
              <a:buNone/>
            </a:pPr>
            <a:r>
              <a:rPr lang="en-US" sz="1250" dirty="0">
                <a:solidFill>
                  <a:srgbClr val="1B2A3B"/>
                </a:solidFill>
              </a:rPr>
              <a:t>Use Azure Policy with the Require a tag and its value effect</a:t>
            </a:r>
            <a:endParaRPr lang="en-US" sz="1250" dirty="0"/>
          </a:p>
        </p:txBody>
      </p:sp>
      <p:sp>
        <p:nvSpPr>
          <p:cNvPr id="19" name="Shape 17"/>
          <p:cNvSpPr/>
          <p:nvPr/>
        </p:nvSpPr>
        <p:spPr>
          <a:xfrm>
            <a:off x="292608" y="3785616"/>
            <a:ext cx="8558784" cy="539496"/>
          </a:xfrm>
          <a:prstGeom prst="rect">
            <a:avLst/>
          </a:prstGeom>
          <a:solidFill>
            <a:srgbClr val="FFFFFF"/>
          </a:solidFill>
          <a:ln w="12700">
            <a:solidFill>
              <a:srgbClr val="C5D8EE"/>
            </a:solidFill>
            <a:prstDash val="solid"/>
          </a:ln>
        </p:spPr>
      </p:sp>
      <p:sp>
        <p:nvSpPr>
          <p:cNvPr id="20" name="Shape 18"/>
          <p:cNvSpPr/>
          <p:nvPr/>
        </p:nvSpPr>
        <p:spPr>
          <a:xfrm>
            <a:off x="384048" y="3895344"/>
            <a:ext cx="329184" cy="329184"/>
          </a:xfrm>
          <a:prstGeom prst="ellipse">
            <a:avLst/>
          </a:prstGeom>
          <a:solidFill>
            <a:srgbClr val="1B3A5C"/>
          </a:solidFill>
          <a:ln w="12700">
            <a:solidFill>
              <a:srgbClr val="1B3A5C"/>
            </a:solidFill>
            <a:prstDash val="solid"/>
          </a:ln>
        </p:spPr>
      </p:sp>
      <p:sp>
        <p:nvSpPr>
          <p:cNvPr id="21" name="Text 19"/>
          <p:cNvSpPr/>
          <p:nvPr/>
        </p:nvSpPr>
        <p:spPr>
          <a:xfrm>
            <a:off x="384048" y="3895344"/>
            <a:ext cx="329184" cy="329184"/>
          </a:xfrm>
          <a:prstGeom prst="rect">
            <a:avLst/>
          </a:prstGeom>
          <a:noFill/>
          <a:ln/>
        </p:spPr>
        <p:txBody>
          <a:bodyPr wrap="square" rtlCol="0" anchor="ctr"/>
          <a:lstStyle/>
          <a:p>
            <a:pPr algn="ctr" indent="0" marL="0">
              <a:buNone/>
            </a:pPr>
            <a:r>
              <a:rPr lang="en-US" sz="1100" b="1" dirty="0">
                <a:solidFill>
                  <a:srgbClr val="FFFFFF"/>
                </a:solidFill>
              </a:rPr>
              <a:t>C</a:t>
            </a:r>
            <a:endParaRPr lang="en-US" sz="1100" dirty="0"/>
          </a:p>
        </p:txBody>
      </p:sp>
      <p:sp>
        <p:nvSpPr>
          <p:cNvPr id="22" name="Text 20"/>
          <p:cNvSpPr/>
          <p:nvPr/>
        </p:nvSpPr>
        <p:spPr>
          <a:xfrm>
            <a:off x="786384" y="3877056"/>
            <a:ext cx="7991856" cy="365760"/>
          </a:xfrm>
          <a:prstGeom prst="rect">
            <a:avLst/>
          </a:prstGeom>
          <a:noFill/>
          <a:ln/>
        </p:spPr>
        <p:txBody>
          <a:bodyPr wrap="square" rtlCol="0" anchor="ctr"/>
          <a:lstStyle/>
          <a:p>
            <a:pPr indent="0" marL="0">
              <a:buNone/>
            </a:pPr>
            <a:r>
              <a:rPr lang="en-US" sz="1250" dirty="0">
                <a:solidFill>
                  <a:srgbClr val="1B2A3B"/>
                </a:solidFill>
              </a:rPr>
              <a:t>Apply a ReadOnly Resource Lock to prevent tag removal</a:t>
            </a:r>
            <a:endParaRPr lang="en-US" sz="1250" dirty="0"/>
          </a:p>
        </p:txBody>
      </p:sp>
      <p:sp>
        <p:nvSpPr>
          <p:cNvPr id="23" name="Shape 21"/>
          <p:cNvSpPr/>
          <p:nvPr/>
        </p:nvSpPr>
        <p:spPr>
          <a:xfrm>
            <a:off x="292608" y="4416552"/>
            <a:ext cx="8558784" cy="539496"/>
          </a:xfrm>
          <a:prstGeom prst="rect">
            <a:avLst/>
          </a:prstGeom>
          <a:solidFill>
            <a:srgbClr val="FFFFFF"/>
          </a:solidFill>
          <a:ln w="12700">
            <a:solidFill>
              <a:srgbClr val="C5D8EE"/>
            </a:solidFill>
            <a:prstDash val="solid"/>
          </a:ln>
        </p:spPr>
      </p:sp>
      <p:sp>
        <p:nvSpPr>
          <p:cNvPr id="24" name="Shape 22"/>
          <p:cNvSpPr/>
          <p:nvPr/>
        </p:nvSpPr>
        <p:spPr>
          <a:xfrm>
            <a:off x="384048" y="4526280"/>
            <a:ext cx="329184" cy="329184"/>
          </a:xfrm>
          <a:prstGeom prst="ellipse">
            <a:avLst/>
          </a:prstGeom>
          <a:solidFill>
            <a:srgbClr val="1B3A5C"/>
          </a:solidFill>
          <a:ln w="12700">
            <a:solidFill>
              <a:srgbClr val="1B3A5C"/>
            </a:solidFill>
            <a:prstDash val="solid"/>
          </a:ln>
        </p:spPr>
      </p:sp>
      <p:sp>
        <p:nvSpPr>
          <p:cNvPr id="25" name="Text 23"/>
          <p:cNvSpPr/>
          <p:nvPr/>
        </p:nvSpPr>
        <p:spPr>
          <a:xfrm>
            <a:off x="384048" y="4526280"/>
            <a:ext cx="329184" cy="329184"/>
          </a:xfrm>
          <a:prstGeom prst="rect">
            <a:avLst/>
          </a:prstGeom>
          <a:noFill/>
          <a:ln/>
        </p:spPr>
        <p:txBody>
          <a:bodyPr wrap="square" rtlCol="0" anchor="ctr"/>
          <a:lstStyle/>
          <a:p>
            <a:pPr algn="ctr" indent="0" marL="0">
              <a:buNone/>
            </a:pPr>
            <a:r>
              <a:rPr lang="en-US" sz="1100" b="1" dirty="0">
                <a:solidFill>
                  <a:srgbClr val="FFFFFF"/>
                </a:solidFill>
              </a:rPr>
              <a:t>D</a:t>
            </a:r>
            <a:endParaRPr lang="en-US" sz="1100" dirty="0"/>
          </a:p>
        </p:txBody>
      </p:sp>
      <p:sp>
        <p:nvSpPr>
          <p:cNvPr id="26" name="Text 24"/>
          <p:cNvSpPr/>
          <p:nvPr/>
        </p:nvSpPr>
        <p:spPr>
          <a:xfrm>
            <a:off x="786384" y="4507992"/>
            <a:ext cx="7991856" cy="365760"/>
          </a:xfrm>
          <a:prstGeom prst="rect">
            <a:avLst/>
          </a:prstGeom>
          <a:noFill/>
          <a:ln/>
        </p:spPr>
        <p:txBody>
          <a:bodyPr wrap="square" rtlCol="0" anchor="ctr"/>
          <a:lstStyle/>
          <a:p>
            <a:pPr indent="0" marL="0">
              <a:buNone/>
            </a:pPr>
            <a:r>
              <a:rPr lang="en-US" sz="1250" dirty="0">
                <a:solidFill>
                  <a:srgbClr val="1B2A3B"/>
                </a:solidFill>
              </a:rPr>
              <a:t>Use Azure Cost Management filters based on resource type</a:t>
            </a:r>
            <a:endParaRPr lang="en-US" sz="12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4F8FD"/>
        </a:solidFill>
      </p:bgPr>
    </p:bg>
    <p:spTree>
      <p:nvGrpSpPr>
        <p:cNvPr id="1" name=""/>
        <p:cNvGrpSpPr/>
        <p:nvPr/>
      </p:nvGrpSpPr>
      <p:grpSpPr>
        <a:xfrm>
          <a:off x="0" y="0"/>
          <a:ext cx="0" cy="0"/>
          <a:chOff x="0" y="0"/>
          <a:chExt cx="0" cy="0"/>
        </a:xfrm>
      </p:grpSpPr>
      <p:sp>
        <p:nvSpPr>
          <p:cNvPr id="2" name="Shape 0"/>
          <p:cNvSpPr/>
          <p:nvPr/>
        </p:nvSpPr>
        <p:spPr>
          <a:xfrm>
            <a:off x="0" y="0"/>
            <a:ext cx="146304" cy="5143500"/>
          </a:xfrm>
          <a:prstGeom prst="rect">
            <a:avLst/>
          </a:prstGeom>
          <a:solidFill>
            <a:srgbClr val="107C10"/>
          </a:solidFill>
          <a:ln w="12700">
            <a:solidFill>
              <a:srgbClr val="107C10"/>
            </a:solidFill>
            <a:prstDash val="solid"/>
          </a:ln>
        </p:spPr>
      </p:sp>
      <p:sp>
        <p:nvSpPr>
          <p:cNvPr id="3" name="Shape 1"/>
          <p:cNvSpPr/>
          <p:nvPr/>
        </p:nvSpPr>
        <p:spPr>
          <a:xfrm>
            <a:off x="146304" y="0"/>
            <a:ext cx="8997696" cy="594360"/>
          </a:xfrm>
          <a:prstGeom prst="rect">
            <a:avLst/>
          </a:prstGeom>
          <a:solidFill>
            <a:srgbClr val="0A1628"/>
          </a:solidFill>
          <a:ln w="12700">
            <a:solidFill>
              <a:srgbClr val="0A1628"/>
            </a:solidFill>
            <a:prstDash val="solid"/>
          </a:ln>
        </p:spPr>
      </p:sp>
      <p:sp>
        <p:nvSpPr>
          <p:cNvPr id="4" name="Text 2"/>
          <p:cNvSpPr/>
          <p:nvPr/>
        </p:nvSpPr>
        <p:spPr>
          <a:xfrm>
            <a:off x="292608" y="0"/>
            <a:ext cx="6583680" cy="594360"/>
          </a:xfrm>
          <a:prstGeom prst="rect">
            <a:avLst/>
          </a:prstGeom>
          <a:noFill/>
          <a:ln/>
        </p:spPr>
        <p:txBody>
          <a:bodyPr wrap="square" lIns="0" tIns="0" rIns="0" bIns="0" rtlCol="0" anchor="ctr"/>
          <a:lstStyle/>
          <a:p>
            <a:pPr indent="0" marL="0">
              <a:buNone/>
            </a:pPr>
            <a:r>
              <a:rPr lang="en-US" sz="1200" b="1" dirty="0">
                <a:solidFill>
                  <a:srgbClr val="00FF90"/>
                </a:solidFill>
              </a:rPr>
              <a:t>✅  ANSWER 8  ·  Azure Tags</a:t>
            </a:r>
            <a:endParaRPr lang="en-US" sz="1200" dirty="0"/>
          </a:p>
        </p:txBody>
      </p:sp>
      <p:sp>
        <p:nvSpPr>
          <p:cNvPr id="5" name="Text 3"/>
          <p:cNvSpPr/>
          <p:nvPr/>
        </p:nvSpPr>
        <p:spPr>
          <a:xfrm>
            <a:off x="7498080" y="0"/>
            <a:ext cx="1499616" cy="594360"/>
          </a:xfrm>
          <a:prstGeom prst="rect">
            <a:avLst/>
          </a:prstGeom>
          <a:noFill/>
          <a:ln/>
        </p:spPr>
        <p:txBody>
          <a:bodyPr wrap="square" lIns="0" tIns="0" rIns="0" bIns="0" rtlCol="0" anchor="ctr"/>
          <a:lstStyle/>
          <a:p>
            <a:pPr algn="r" indent="0" marL="0">
              <a:buNone/>
            </a:pPr>
            <a:r>
              <a:rPr lang="en-US" sz="1200" b="1" dirty="0">
                <a:solidFill>
                  <a:srgbClr val="6C8EAD"/>
                </a:solidFill>
              </a:rPr>
              <a:t>8 / 20</a:t>
            </a:r>
            <a:endParaRPr lang="en-US" sz="1200" dirty="0"/>
          </a:p>
        </p:txBody>
      </p:sp>
      <p:sp>
        <p:nvSpPr>
          <p:cNvPr id="6" name="Shape 4"/>
          <p:cNvSpPr/>
          <p:nvPr/>
        </p:nvSpPr>
        <p:spPr>
          <a:xfrm>
            <a:off x="292608" y="658368"/>
            <a:ext cx="8558784" cy="475488"/>
          </a:xfrm>
          <a:prstGeom prst="rect">
            <a:avLst/>
          </a:prstGeom>
          <a:solidFill>
            <a:srgbClr val="E6F3E6"/>
          </a:solidFill>
          <a:ln w="25400">
            <a:solidFill>
              <a:srgbClr val="107C10"/>
            </a:solidFill>
            <a:prstDash val="solid"/>
          </a:ln>
        </p:spPr>
      </p:sp>
      <p:sp>
        <p:nvSpPr>
          <p:cNvPr id="7" name="Text 5"/>
          <p:cNvSpPr/>
          <p:nvPr/>
        </p:nvSpPr>
        <p:spPr>
          <a:xfrm>
            <a:off x="420624" y="658368"/>
            <a:ext cx="8321040" cy="475488"/>
          </a:xfrm>
          <a:prstGeom prst="rect">
            <a:avLst/>
          </a:prstGeom>
          <a:noFill/>
          <a:ln/>
        </p:spPr>
        <p:txBody>
          <a:bodyPr wrap="square" rtlCol="0" anchor="ctr"/>
          <a:lstStyle/>
          <a:p>
            <a:pPr indent="0" marL="0">
              <a:buNone/>
            </a:pPr>
            <a:r>
              <a:rPr lang="en-US" sz="1300" b="1" dirty="0">
                <a:solidFill>
                  <a:srgbClr val="107C10"/>
                </a:solidFill>
              </a:rPr>
              <a:t>✔  Correct: B — Use Azure Policy with the Require a tag and its value effect</a:t>
            </a:r>
            <a:endParaRPr lang="en-US" sz="1300" dirty="0"/>
          </a:p>
        </p:txBody>
      </p:sp>
      <p:sp>
        <p:nvSpPr>
          <p:cNvPr id="8" name="Text 6"/>
          <p:cNvSpPr/>
          <p:nvPr/>
        </p:nvSpPr>
        <p:spPr>
          <a:xfrm>
            <a:off x="292608" y="1216152"/>
            <a:ext cx="8558784" cy="292608"/>
          </a:xfrm>
          <a:prstGeom prst="rect">
            <a:avLst/>
          </a:prstGeom>
          <a:noFill/>
          <a:ln/>
        </p:spPr>
        <p:txBody>
          <a:bodyPr wrap="square" rtlCol="0" anchor="ctr"/>
          <a:lstStyle/>
          <a:p>
            <a:pPr indent="0" marL="0">
              <a:buNone/>
            </a:pPr>
            <a:r>
              <a:rPr lang="en-US" sz="1200" b="1" dirty="0">
                <a:solidFill>
                  <a:srgbClr val="0A1628"/>
                </a:solidFill>
              </a:rPr>
              <a:t>Why this is correct</a:t>
            </a:r>
            <a:endParaRPr lang="en-US" sz="1200" dirty="0"/>
          </a:p>
        </p:txBody>
      </p:sp>
      <p:sp>
        <p:nvSpPr>
          <p:cNvPr id="9" name="Shape 7"/>
          <p:cNvSpPr/>
          <p:nvPr/>
        </p:nvSpPr>
        <p:spPr>
          <a:xfrm>
            <a:off x="292608" y="1517904"/>
            <a:ext cx="8558784" cy="1097280"/>
          </a:xfrm>
          <a:prstGeom prst="rect">
            <a:avLst/>
          </a:prstGeom>
          <a:solidFill>
            <a:srgbClr val="FFFFFF"/>
          </a:solidFill>
          <a:ln w="12700">
            <a:solidFill>
              <a:srgbClr val="C5D8EE"/>
            </a:solidFill>
            <a:prstDash val="solid"/>
          </a:ln>
        </p:spPr>
      </p:sp>
      <p:sp>
        <p:nvSpPr>
          <p:cNvPr id="10" name="Text 8"/>
          <p:cNvSpPr/>
          <p:nvPr/>
        </p:nvSpPr>
        <p:spPr>
          <a:xfrm>
            <a:off x="420624" y="1563624"/>
            <a:ext cx="8321040" cy="1005840"/>
          </a:xfrm>
          <a:prstGeom prst="rect">
            <a:avLst/>
          </a:prstGeom>
          <a:noFill/>
          <a:ln/>
        </p:spPr>
        <p:txBody>
          <a:bodyPr wrap="square" rtlCol="0" anchor="t"/>
          <a:lstStyle/>
          <a:p>
            <a:pPr indent="0" marL="0">
              <a:buNone/>
            </a:pPr>
            <a:r>
              <a:rPr lang="en-US" sz="1150" dirty="0">
                <a:solidFill>
                  <a:srgbClr val="1B2A3B"/>
                </a:solidFill>
              </a:rPr>
              <a:t>Azure Policy with the 'Require a tag and its value' (or 'Require a tag on resources') effect enforces that specific tags — like Department and Environment — must be present on all new resources. Without this policy, teams often forget to tag. Manual tagging is unreliable. Resource Locks don't enforce tags. Cost Management filters work on existing data but cannot enforce future tagging.</a:t>
            </a:r>
            <a:endParaRPr lang="en-US" sz="1150" dirty="0"/>
          </a:p>
        </p:txBody>
      </p:sp>
      <p:sp>
        <p:nvSpPr>
          <p:cNvPr id="11" name="Text 9"/>
          <p:cNvSpPr/>
          <p:nvPr/>
        </p:nvSpPr>
        <p:spPr>
          <a:xfrm>
            <a:off x="292608" y="2697480"/>
            <a:ext cx="8558784" cy="292608"/>
          </a:xfrm>
          <a:prstGeom prst="rect">
            <a:avLst/>
          </a:prstGeom>
          <a:noFill/>
          <a:ln/>
        </p:spPr>
        <p:txBody>
          <a:bodyPr wrap="square" rtlCol="0" anchor="ctr"/>
          <a:lstStyle/>
          <a:p>
            <a:pPr indent="0" marL="0">
              <a:buNone/>
            </a:pPr>
            <a:r>
              <a:rPr lang="en-US" sz="1200" b="1" dirty="0">
                <a:solidFill>
                  <a:srgbClr val="0A1628"/>
                </a:solidFill>
              </a:rPr>
              <a:t>Why the other options are incorrect</a:t>
            </a:r>
            <a:endParaRPr lang="en-US" sz="1200" dirty="0"/>
          </a:p>
        </p:txBody>
      </p:sp>
      <p:sp>
        <p:nvSpPr>
          <p:cNvPr id="12" name="Shape 10"/>
          <p:cNvSpPr/>
          <p:nvPr/>
        </p:nvSpPr>
        <p:spPr>
          <a:xfrm>
            <a:off x="292608" y="3035808"/>
            <a:ext cx="8558784" cy="603504"/>
          </a:xfrm>
          <a:prstGeom prst="rect">
            <a:avLst/>
          </a:prstGeom>
          <a:solidFill>
            <a:srgbClr val="FAEAEA"/>
          </a:solidFill>
          <a:ln w="12700">
            <a:solidFill>
              <a:srgbClr val="F4AAAA"/>
            </a:solidFill>
            <a:prstDash val="solid"/>
          </a:ln>
        </p:spPr>
      </p:sp>
      <p:sp>
        <p:nvSpPr>
          <p:cNvPr id="13" name="Shape 11"/>
          <p:cNvSpPr/>
          <p:nvPr/>
        </p:nvSpPr>
        <p:spPr>
          <a:xfrm>
            <a:off x="384048" y="3172968"/>
            <a:ext cx="301752" cy="301752"/>
          </a:xfrm>
          <a:prstGeom prst="ellipse">
            <a:avLst/>
          </a:prstGeom>
          <a:solidFill>
            <a:srgbClr val="A80000"/>
          </a:solidFill>
          <a:ln w="12700">
            <a:solidFill>
              <a:srgbClr val="A80000"/>
            </a:solidFill>
            <a:prstDash val="solid"/>
          </a:ln>
        </p:spPr>
      </p:sp>
      <p:sp>
        <p:nvSpPr>
          <p:cNvPr id="14" name="Text 12"/>
          <p:cNvSpPr/>
          <p:nvPr/>
        </p:nvSpPr>
        <p:spPr>
          <a:xfrm>
            <a:off x="384048" y="3172968"/>
            <a:ext cx="301752" cy="301752"/>
          </a:xfrm>
          <a:prstGeom prst="rect">
            <a:avLst/>
          </a:prstGeom>
          <a:noFill/>
          <a:ln/>
        </p:spPr>
        <p:txBody>
          <a:bodyPr wrap="square" rtlCol="0" anchor="ctr"/>
          <a:lstStyle/>
          <a:p>
            <a:pPr algn="ctr" indent="0" marL="0">
              <a:buNone/>
            </a:pPr>
            <a:r>
              <a:rPr lang="en-US" sz="1100" b="1" dirty="0">
                <a:solidFill>
                  <a:srgbClr val="FFFFFF"/>
                </a:solidFill>
              </a:rPr>
              <a:t>A</a:t>
            </a:r>
            <a:endParaRPr lang="en-US" sz="1100" dirty="0"/>
          </a:p>
        </p:txBody>
      </p:sp>
      <p:sp>
        <p:nvSpPr>
          <p:cNvPr id="15" name="Text 13"/>
          <p:cNvSpPr/>
          <p:nvPr/>
        </p:nvSpPr>
        <p:spPr>
          <a:xfrm>
            <a:off x="768096" y="3090672"/>
            <a:ext cx="8010144" cy="493776"/>
          </a:xfrm>
          <a:prstGeom prst="rect">
            <a:avLst/>
          </a:prstGeom>
          <a:noFill/>
          <a:ln/>
        </p:spPr>
        <p:txBody>
          <a:bodyPr wrap="square" rtlCol="0" anchor="ctr"/>
          <a:lstStyle/>
          <a:p>
            <a:pPr indent="0" marL="0">
              <a:buNone/>
            </a:pPr>
            <a:r>
              <a:rPr lang="en-US" sz="1150" dirty="0">
                <a:solidFill>
                  <a:srgbClr val="1B2A3B"/>
                </a:solidFill>
              </a:rPr>
              <a:t>Manual tagging relies on human discipline and is inconsistent at scale — exactly the problem this scenario describes.</a:t>
            </a:r>
            <a:endParaRPr lang="en-US" sz="1150" dirty="0"/>
          </a:p>
        </p:txBody>
      </p:sp>
      <p:sp>
        <p:nvSpPr>
          <p:cNvPr id="16" name="Shape 14"/>
          <p:cNvSpPr/>
          <p:nvPr/>
        </p:nvSpPr>
        <p:spPr>
          <a:xfrm>
            <a:off x="292608" y="3712464"/>
            <a:ext cx="8558784" cy="603504"/>
          </a:xfrm>
          <a:prstGeom prst="rect">
            <a:avLst/>
          </a:prstGeom>
          <a:solidFill>
            <a:srgbClr val="FAEAEA"/>
          </a:solidFill>
          <a:ln w="12700">
            <a:solidFill>
              <a:srgbClr val="F4AAAA"/>
            </a:solidFill>
            <a:prstDash val="solid"/>
          </a:ln>
        </p:spPr>
      </p:sp>
      <p:sp>
        <p:nvSpPr>
          <p:cNvPr id="17" name="Shape 15"/>
          <p:cNvSpPr/>
          <p:nvPr/>
        </p:nvSpPr>
        <p:spPr>
          <a:xfrm>
            <a:off x="384048" y="3849624"/>
            <a:ext cx="301752" cy="301752"/>
          </a:xfrm>
          <a:prstGeom prst="ellipse">
            <a:avLst/>
          </a:prstGeom>
          <a:solidFill>
            <a:srgbClr val="A80000"/>
          </a:solidFill>
          <a:ln w="12700">
            <a:solidFill>
              <a:srgbClr val="A80000"/>
            </a:solidFill>
            <a:prstDash val="solid"/>
          </a:ln>
        </p:spPr>
      </p:sp>
      <p:sp>
        <p:nvSpPr>
          <p:cNvPr id="18" name="Text 16"/>
          <p:cNvSpPr/>
          <p:nvPr/>
        </p:nvSpPr>
        <p:spPr>
          <a:xfrm>
            <a:off x="384048" y="3849624"/>
            <a:ext cx="301752" cy="301752"/>
          </a:xfrm>
          <a:prstGeom prst="rect">
            <a:avLst/>
          </a:prstGeom>
          <a:noFill/>
          <a:ln/>
        </p:spPr>
        <p:txBody>
          <a:bodyPr wrap="square" rtlCol="0" anchor="ctr"/>
          <a:lstStyle/>
          <a:p>
            <a:pPr algn="ctr" indent="0" marL="0">
              <a:buNone/>
            </a:pPr>
            <a:r>
              <a:rPr lang="en-US" sz="1100" b="1" dirty="0">
                <a:solidFill>
                  <a:srgbClr val="FFFFFF"/>
                </a:solidFill>
              </a:rPr>
              <a:t>C</a:t>
            </a:r>
            <a:endParaRPr lang="en-US" sz="1100" dirty="0"/>
          </a:p>
        </p:txBody>
      </p:sp>
      <p:sp>
        <p:nvSpPr>
          <p:cNvPr id="19" name="Text 17"/>
          <p:cNvSpPr/>
          <p:nvPr/>
        </p:nvSpPr>
        <p:spPr>
          <a:xfrm>
            <a:off x="768096" y="3767328"/>
            <a:ext cx="8010144" cy="493776"/>
          </a:xfrm>
          <a:prstGeom prst="rect">
            <a:avLst/>
          </a:prstGeom>
          <a:noFill/>
          <a:ln/>
        </p:spPr>
        <p:txBody>
          <a:bodyPr wrap="square" rtlCol="0" anchor="ctr"/>
          <a:lstStyle/>
          <a:p>
            <a:pPr indent="0" marL="0">
              <a:buNone/>
            </a:pPr>
            <a:r>
              <a:rPr lang="en-US" sz="1150" dirty="0">
                <a:solidFill>
                  <a:srgbClr val="1B2A3B"/>
                </a:solidFill>
              </a:rPr>
              <a:t>Resource Locks (ReadOnly/CanNotDelete) manage deletion and modification of resources, not the presence of metadata tags.</a:t>
            </a:r>
            <a:endParaRPr lang="en-US" sz="1150" dirty="0"/>
          </a:p>
        </p:txBody>
      </p:sp>
      <p:sp>
        <p:nvSpPr>
          <p:cNvPr id="20" name="Shape 18"/>
          <p:cNvSpPr/>
          <p:nvPr/>
        </p:nvSpPr>
        <p:spPr>
          <a:xfrm>
            <a:off x="292608" y="4389120"/>
            <a:ext cx="8558784" cy="603504"/>
          </a:xfrm>
          <a:prstGeom prst="rect">
            <a:avLst/>
          </a:prstGeom>
          <a:solidFill>
            <a:srgbClr val="FAEAEA"/>
          </a:solidFill>
          <a:ln w="12700">
            <a:solidFill>
              <a:srgbClr val="F4AAAA"/>
            </a:solidFill>
            <a:prstDash val="solid"/>
          </a:ln>
        </p:spPr>
      </p:sp>
      <p:sp>
        <p:nvSpPr>
          <p:cNvPr id="21" name="Shape 19"/>
          <p:cNvSpPr/>
          <p:nvPr/>
        </p:nvSpPr>
        <p:spPr>
          <a:xfrm>
            <a:off x="384048" y="4526280"/>
            <a:ext cx="301752" cy="301752"/>
          </a:xfrm>
          <a:prstGeom prst="ellipse">
            <a:avLst/>
          </a:prstGeom>
          <a:solidFill>
            <a:srgbClr val="A80000"/>
          </a:solidFill>
          <a:ln w="12700">
            <a:solidFill>
              <a:srgbClr val="A80000"/>
            </a:solidFill>
            <a:prstDash val="solid"/>
          </a:ln>
        </p:spPr>
      </p:sp>
      <p:sp>
        <p:nvSpPr>
          <p:cNvPr id="22" name="Text 20"/>
          <p:cNvSpPr/>
          <p:nvPr/>
        </p:nvSpPr>
        <p:spPr>
          <a:xfrm>
            <a:off x="384048" y="4526280"/>
            <a:ext cx="301752" cy="301752"/>
          </a:xfrm>
          <a:prstGeom prst="rect">
            <a:avLst/>
          </a:prstGeom>
          <a:noFill/>
          <a:ln/>
        </p:spPr>
        <p:txBody>
          <a:bodyPr wrap="square" rtlCol="0" anchor="ctr"/>
          <a:lstStyle/>
          <a:p>
            <a:pPr algn="ctr" indent="0" marL="0">
              <a:buNone/>
            </a:pPr>
            <a:r>
              <a:rPr lang="en-US" sz="1100" b="1" dirty="0">
                <a:solidFill>
                  <a:srgbClr val="FFFFFF"/>
                </a:solidFill>
              </a:rPr>
              <a:t>D</a:t>
            </a:r>
            <a:endParaRPr lang="en-US" sz="1100" dirty="0"/>
          </a:p>
        </p:txBody>
      </p:sp>
      <p:sp>
        <p:nvSpPr>
          <p:cNvPr id="23" name="Text 21"/>
          <p:cNvSpPr/>
          <p:nvPr/>
        </p:nvSpPr>
        <p:spPr>
          <a:xfrm>
            <a:off x="768096" y="4443984"/>
            <a:ext cx="8010144" cy="493776"/>
          </a:xfrm>
          <a:prstGeom prst="rect">
            <a:avLst/>
          </a:prstGeom>
          <a:noFill/>
          <a:ln/>
        </p:spPr>
        <p:txBody>
          <a:bodyPr wrap="square" rtlCol="0" anchor="ctr"/>
          <a:lstStyle/>
          <a:p>
            <a:pPr indent="0" marL="0">
              <a:buNone/>
            </a:pPr>
            <a:r>
              <a:rPr lang="en-US" sz="1150" dirty="0">
                <a:solidFill>
                  <a:srgbClr val="1B2A3B"/>
                </a:solidFill>
              </a:rPr>
              <a:t>Cost Management filters help analyse existing tagged data but cannot prevent untagged resources from being created.</a:t>
            </a:r>
            <a:endParaRPr lang="en-US" sz="11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4F8FD"/>
        </a:solidFill>
      </p:bgPr>
    </p:bg>
    <p:spTree>
      <p:nvGrpSpPr>
        <p:cNvPr id="1" name=""/>
        <p:cNvGrpSpPr/>
        <p:nvPr/>
      </p:nvGrpSpPr>
      <p:grpSpPr>
        <a:xfrm>
          <a:off x="0" y="0"/>
          <a:ext cx="0" cy="0"/>
          <a:chOff x="0" y="0"/>
          <a:chExt cx="0" cy="0"/>
        </a:xfrm>
      </p:grpSpPr>
      <p:sp>
        <p:nvSpPr>
          <p:cNvPr id="2" name="Shape 0"/>
          <p:cNvSpPr/>
          <p:nvPr/>
        </p:nvSpPr>
        <p:spPr>
          <a:xfrm>
            <a:off x="0" y="0"/>
            <a:ext cx="146304" cy="5143500"/>
          </a:xfrm>
          <a:prstGeom prst="rect">
            <a:avLst/>
          </a:prstGeom>
          <a:solidFill>
            <a:srgbClr val="0078D4"/>
          </a:solidFill>
          <a:ln w="12700">
            <a:solidFill>
              <a:srgbClr val="0078D4"/>
            </a:solidFill>
            <a:prstDash val="solid"/>
          </a:ln>
        </p:spPr>
      </p:sp>
      <p:sp>
        <p:nvSpPr>
          <p:cNvPr id="3" name="Shape 1"/>
          <p:cNvSpPr/>
          <p:nvPr/>
        </p:nvSpPr>
        <p:spPr>
          <a:xfrm>
            <a:off x="146304" y="0"/>
            <a:ext cx="8997696" cy="594360"/>
          </a:xfrm>
          <a:prstGeom prst="rect">
            <a:avLst/>
          </a:prstGeom>
          <a:solidFill>
            <a:srgbClr val="0A1628"/>
          </a:solidFill>
          <a:ln w="12700">
            <a:solidFill>
              <a:srgbClr val="0A1628"/>
            </a:solidFill>
            <a:prstDash val="solid"/>
          </a:ln>
        </p:spPr>
      </p:sp>
      <p:sp>
        <p:nvSpPr>
          <p:cNvPr id="4" name="Text 2"/>
          <p:cNvSpPr/>
          <p:nvPr/>
        </p:nvSpPr>
        <p:spPr>
          <a:xfrm>
            <a:off x="292608" y="0"/>
            <a:ext cx="6583680" cy="594360"/>
          </a:xfrm>
          <a:prstGeom prst="rect">
            <a:avLst/>
          </a:prstGeom>
          <a:noFill/>
          <a:ln/>
        </p:spPr>
        <p:txBody>
          <a:bodyPr wrap="square" lIns="0" tIns="0" rIns="0" bIns="0" rtlCol="0" anchor="ctr"/>
          <a:lstStyle/>
          <a:p>
            <a:pPr indent="0" marL="0">
              <a:buNone/>
            </a:pPr>
            <a:r>
              <a:rPr lang="en-US" sz="1200" b="1" dirty="0">
                <a:solidFill>
                  <a:srgbClr val="50E6FF"/>
                </a:solidFill>
              </a:rPr>
              <a:t>❓  QUESTION 9  ·  Self-Service Password Reset</a:t>
            </a:r>
            <a:endParaRPr lang="en-US" sz="1200" dirty="0"/>
          </a:p>
        </p:txBody>
      </p:sp>
      <p:sp>
        <p:nvSpPr>
          <p:cNvPr id="5" name="Text 3"/>
          <p:cNvSpPr/>
          <p:nvPr/>
        </p:nvSpPr>
        <p:spPr>
          <a:xfrm>
            <a:off x="7498080" y="0"/>
            <a:ext cx="1499616" cy="594360"/>
          </a:xfrm>
          <a:prstGeom prst="rect">
            <a:avLst/>
          </a:prstGeom>
          <a:noFill/>
          <a:ln/>
        </p:spPr>
        <p:txBody>
          <a:bodyPr wrap="square" lIns="0" tIns="0" rIns="0" bIns="0" rtlCol="0" anchor="ctr"/>
          <a:lstStyle/>
          <a:p>
            <a:pPr algn="r" indent="0" marL="0">
              <a:buNone/>
            </a:pPr>
            <a:r>
              <a:rPr lang="en-US" sz="1200" b="1" dirty="0">
                <a:solidFill>
                  <a:srgbClr val="6C8EAD"/>
                </a:solidFill>
              </a:rPr>
              <a:t>9 / 20</a:t>
            </a:r>
            <a:endParaRPr lang="en-US" sz="1200" dirty="0"/>
          </a:p>
        </p:txBody>
      </p:sp>
      <p:sp>
        <p:nvSpPr>
          <p:cNvPr id="6" name="Shape 4"/>
          <p:cNvSpPr/>
          <p:nvPr/>
        </p:nvSpPr>
        <p:spPr>
          <a:xfrm>
            <a:off x="292608" y="685800"/>
            <a:ext cx="1097280" cy="256032"/>
          </a:xfrm>
          <a:prstGeom prst="rect">
            <a:avLst/>
          </a:prstGeom>
          <a:solidFill>
            <a:srgbClr val="0078D4"/>
          </a:solidFill>
          <a:ln w="12700">
            <a:solidFill>
              <a:srgbClr val="0078D4"/>
            </a:solidFill>
            <a:prstDash val="solid"/>
          </a:ln>
        </p:spPr>
      </p:sp>
      <p:sp>
        <p:nvSpPr>
          <p:cNvPr id="7" name="Text 5"/>
          <p:cNvSpPr/>
          <p:nvPr/>
        </p:nvSpPr>
        <p:spPr>
          <a:xfrm>
            <a:off x="292608" y="685800"/>
            <a:ext cx="1097280" cy="256032"/>
          </a:xfrm>
          <a:prstGeom prst="rect">
            <a:avLst/>
          </a:prstGeom>
          <a:noFill/>
          <a:ln/>
        </p:spPr>
        <p:txBody>
          <a:bodyPr wrap="square" rtlCol="0" anchor="ctr"/>
          <a:lstStyle/>
          <a:p>
            <a:pPr algn="ctr" indent="0" marL="0">
              <a:buNone/>
            </a:pPr>
            <a:r>
              <a:rPr lang="en-US" sz="800" b="1" dirty="0">
                <a:solidFill>
                  <a:srgbClr val="FFFFFF"/>
                </a:solidFill>
              </a:rPr>
              <a:t>SCENARIO</a:t>
            </a:r>
            <a:endParaRPr lang="en-US" sz="800" dirty="0"/>
          </a:p>
        </p:txBody>
      </p:sp>
      <p:sp>
        <p:nvSpPr>
          <p:cNvPr id="8" name="Shape 6"/>
          <p:cNvSpPr/>
          <p:nvPr/>
        </p:nvSpPr>
        <p:spPr>
          <a:xfrm>
            <a:off x="292608" y="978408"/>
            <a:ext cx="8558784" cy="960120"/>
          </a:xfrm>
          <a:prstGeom prst="rect">
            <a:avLst/>
          </a:prstGeom>
          <a:solidFill>
            <a:srgbClr val="EBF4FF"/>
          </a:solidFill>
          <a:ln w="12700">
            <a:solidFill>
              <a:srgbClr val="0078D4"/>
            </a:solidFill>
            <a:prstDash val="solid"/>
          </a:ln>
        </p:spPr>
      </p:sp>
      <p:sp>
        <p:nvSpPr>
          <p:cNvPr id="9" name="Text 7"/>
          <p:cNvSpPr/>
          <p:nvPr/>
        </p:nvSpPr>
        <p:spPr>
          <a:xfrm>
            <a:off x="420624" y="1024128"/>
            <a:ext cx="8321040" cy="868680"/>
          </a:xfrm>
          <a:prstGeom prst="rect">
            <a:avLst/>
          </a:prstGeom>
          <a:noFill/>
          <a:ln/>
        </p:spPr>
        <p:txBody>
          <a:bodyPr wrap="square" rtlCol="0" anchor="t"/>
          <a:lstStyle/>
          <a:p>
            <a:pPr indent="0" marL="0">
              <a:buNone/>
            </a:pPr>
            <a:r>
              <a:rPr lang="en-US" sz="1250" dirty="0">
                <a:solidFill>
                  <a:srgbClr val="1B2A3B"/>
                </a:solidFill>
              </a:rPr>
              <a:t>A global company with 10,000 users in Microsoft Entra ID is overwhelmed by helpdesk calls for password resets. The IT director wants employees to reset their own passwords securely, without IT involvement.</a:t>
            </a:r>
            <a:endParaRPr lang="en-US" sz="1250" dirty="0"/>
          </a:p>
        </p:txBody>
      </p:sp>
      <p:sp>
        <p:nvSpPr>
          <p:cNvPr id="10" name="Text 8"/>
          <p:cNvSpPr/>
          <p:nvPr/>
        </p:nvSpPr>
        <p:spPr>
          <a:xfrm>
            <a:off x="292608" y="2048256"/>
            <a:ext cx="8558784" cy="420624"/>
          </a:xfrm>
          <a:prstGeom prst="rect">
            <a:avLst/>
          </a:prstGeom>
          <a:noFill/>
          <a:ln/>
        </p:spPr>
        <p:txBody>
          <a:bodyPr wrap="square" rtlCol="0" anchor="ctr"/>
          <a:lstStyle/>
          <a:p>
            <a:pPr indent="0" marL="0">
              <a:buNone/>
            </a:pPr>
            <a:r>
              <a:rPr lang="en-US" sz="1350" b="1" dirty="0">
                <a:solidFill>
                  <a:srgbClr val="0A1628"/>
                </a:solidFill>
              </a:rPr>
              <a:t>Which feature should be enabled in Microsoft Entra ID?</a:t>
            </a:r>
            <a:endParaRPr lang="en-US" sz="1350" dirty="0"/>
          </a:p>
        </p:txBody>
      </p:sp>
      <p:sp>
        <p:nvSpPr>
          <p:cNvPr id="11" name="Shape 9"/>
          <p:cNvSpPr/>
          <p:nvPr/>
        </p:nvSpPr>
        <p:spPr>
          <a:xfrm>
            <a:off x="292608" y="2523744"/>
            <a:ext cx="8558784" cy="539496"/>
          </a:xfrm>
          <a:prstGeom prst="rect">
            <a:avLst/>
          </a:prstGeom>
          <a:solidFill>
            <a:srgbClr val="FFFFFF"/>
          </a:solidFill>
          <a:ln w="12700">
            <a:solidFill>
              <a:srgbClr val="C5D8EE"/>
            </a:solidFill>
            <a:prstDash val="solid"/>
          </a:ln>
        </p:spPr>
      </p:sp>
      <p:sp>
        <p:nvSpPr>
          <p:cNvPr id="12" name="Shape 10"/>
          <p:cNvSpPr/>
          <p:nvPr/>
        </p:nvSpPr>
        <p:spPr>
          <a:xfrm>
            <a:off x="384048" y="2633472"/>
            <a:ext cx="329184" cy="329184"/>
          </a:xfrm>
          <a:prstGeom prst="ellipse">
            <a:avLst/>
          </a:prstGeom>
          <a:solidFill>
            <a:srgbClr val="1B3A5C"/>
          </a:solidFill>
          <a:ln w="12700">
            <a:solidFill>
              <a:srgbClr val="1B3A5C"/>
            </a:solidFill>
            <a:prstDash val="solid"/>
          </a:ln>
        </p:spPr>
      </p:sp>
      <p:sp>
        <p:nvSpPr>
          <p:cNvPr id="13" name="Text 11"/>
          <p:cNvSpPr/>
          <p:nvPr/>
        </p:nvSpPr>
        <p:spPr>
          <a:xfrm>
            <a:off x="384048" y="2633472"/>
            <a:ext cx="329184" cy="329184"/>
          </a:xfrm>
          <a:prstGeom prst="rect">
            <a:avLst/>
          </a:prstGeom>
          <a:noFill/>
          <a:ln/>
        </p:spPr>
        <p:txBody>
          <a:bodyPr wrap="square" rtlCol="0" anchor="ctr"/>
          <a:lstStyle/>
          <a:p>
            <a:pPr algn="ctr" indent="0" marL="0">
              <a:buNone/>
            </a:pPr>
            <a:r>
              <a:rPr lang="en-US" sz="1100" b="1" dirty="0">
                <a:solidFill>
                  <a:srgbClr val="FFFFFF"/>
                </a:solidFill>
              </a:rPr>
              <a:t>A</a:t>
            </a:r>
            <a:endParaRPr lang="en-US" sz="1100" dirty="0"/>
          </a:p>
        </p:txBody>
      </p:sp>
      <p:sp>
        <p:nvSpPr>
          <p:cNvPr id="14" name="Text 12"/>
          <p:cNvSpPr/>
          <p:nvPr/>
        </p:nvSpPr>
        <p:spPr>
          <a:xfrm>
            <a:off x="786384" y="2615184"/>
            <a:ext cx="7991856" cy="365760"/>
          </a:xfrm>
          <a:prstGeom prst="rect">
            <a:avLst/>
          </a:prstGeom>
          <a:noFill/>
          <a:ln/>
        </p:spPr>
        <p:txBody>
          <a:bodyPr wrap="square" rtlCol="0" anchor="ctr"/>
          <a:lstStyle/>
          <a:p>
            <a:pPr indent="0" marL="0">
              <a:buNone/>
            </a:pPr>
            <a:r>
              <a:rPr lang="en-US" sz="1250" dirty="0">
                <a:solidFill>
                  <a:srgbClr val="1B2A3B"/>
                </a:solidFill>
              </a:rPr>
              <a:t>Privileged Identity Management (PIM)</a:t>
            </a:r>
            <a:endParaRPr lang="en-US" sz="1250" dirty="0"/>
          </a:p>
        </p:txBody>
      </p:sp>
      <p:sp>
        <p:nvSpPr>
          <p:cNvPr id="15" name="Shape 13"/>
          <p:cNvSpPr/>
          <p:nvPr/>
        </p:nvSpPr>
        <p:spPr>
          <a:xfrm>
            <a:off x="292608" y="3154680"/>
            <a:ext cx="8558784" cy="539496"/>
          </a:xfrm>
          <a:prstGeom prst="rect">
            <a:avLst/>
          </a:prstGeom>
          <a:solidFill>
            <a:srgbClr val="FFFFFF"/>
          </a:solidFill>
          <a:ln w="12700">
            <a:solidFill>
              <a:srgbClr val="C5D8EE"/>
            </a:solidFill>
            <a:prstDash val="solid"/>
          </a:ln>
        </p:spPr>
      </p:sp>
      <p:sp>
        <p:nvSpPr>
          <p:cNvPr id="16" name="Shape 14"/>
          <p:cNvSpPr/>
          <p:nvPr/>
        </p:nvSpPr>
        <p:spPr>
          <a:xfrm>
            <a:off x="384048" y="3264408"/>
            <a:ext cx="329184" cy="329184"/>
          </a:xfrm>
          <a:prstGeom prst="ellipse">
            <a:avLst/>
          </a:prstGeom>
          <a:solidFill>
            <a:srgbClr val="1B3A5C"/>
          </a:solidFill>
          <a:ln w="12700">
            <a:solidFill>
              <a:srgbClr val="1B3A5C"/>
            </a:solidFill>
            <a:prstDash val="solid"/>
          </a:ln>
        </p:spPr>
      </p:sp>
      <p:sp>
        <p:nvSpPr>
          <p:cNvPr id="17" name="Text 15"/>
          <p:cNvSpPr/>
          <p:nvPr/>
        </p:nvSpPr>
        <p:spPr>
          <a:xfrm>
            <a:off x="384048" y="3264408"/>
            <a:ext cx="329184" cy="329184"/>
          </a:xfrm>
          <a:prstGeom prst="rect">
            <a:avLst/>
          </a:prstGeom>
          <a:noFill/>
          <a:ln/>
        </p:spPr>
        <p:txBody>
          <a:bodyPr wrap="square" rtlCol="0" anchor="ctr"/>
          <a:lstStyle/>
          <a:p>
            <a:pPr algn="ctr" indent="0" marL="0">
              <a:buNone/>
            </a:pPr>
            <a:r>
              <a:rPr lang="en-US" sz="1100" b="1" dirty="0">
                <a:solidFill>
                  <a:srgbClr val="FFFFFF"/>
                </a:solidFill>
              </a:rPr>
              <a:t>B</a:t>
            </a:r>
            <a:endParaRPr lang="en-US" sz="1100" dirty="0"/>
          </a:p>
        </p:txBody>
      </p:sp>
      <p:sp>
        <p:nvSpPr>
          <p:cNvPr id="18" name="Text 16"/>
          <p:cNvSpPr/>
          <p:nvPr/>
        </p:nvSpPr>
        <p:spPr>
          <a:xfrm>
            <a:off x="786384" y="3246120"/>
            <a:ext cx="7991856" cy="365760"/>
          </a:xfrm>
          <a:prstGeom prst="rect">
            <a:avLst/>
          </a:prstGeom>
          <a:noFill/>
          <a:ln/>
        </p:spPr>
        <p:txBody>
          <a:bodyPr wrap="square" rtlCol="0" anchor="ctr"/>
          <a:lstStyle/>
          <a:p>
            <a:pPr indent="0" marL="0">
              <a:buNone/>
            </a:pPr>
            <a:r>
              <a:rPr lang="en-US" sz="1250" dirty="0">
                <a:solidFill>
                  <a:srgbClr val="1B2A3B"/>
                </a:solidFill>
              </a:rPr>
              <a:t>Self-Service Password Reset (SSPR)</a:t>
            </a:r>
            <a:endParaRPr lang="en-US" sz="1250" dirty="0"/>
          </a:p>
        </p:txBody>
      </p:sp>
      <p:sp>
        <p:nvSpPr>
          <p:cNvPr id="19" name="Shape 17"/>
          <p:cNvSpPr/>
          <p:nvPr/>
        </p:nvSpPr>
        <p:spPr>
          <a:xfrm>
            <a:off x="292608" y="3785616"/>
            <a:ext cx="8558784" cy="539496"/>
          </a:xfrm>
          <a:prstGeom prst="rect">
            <a:avLst/>
          </a:prstGeom>
          <a:solidFill>
            <a:srgbClr val="FFFFFF"/>
          </a:solidFill>
          <a:ln w="12700">
            <a:solidFill>
              <a:srgbClr val="C5D8EE"/>
            </a:solidFill>
            <a:prstDash val="solid"/>
          </a:ln>
        </p:spPr>
      </p:sp>
      <p:sp>
        <p:nvSpPr>
          <p:cNvPr id="20" name="Shape 18"/>
          <p:cNvSpPr/>
          <p:nvPr/>
        </p:nvSpPr>
        <p:spPr>
          <a:xfrm>
            <a:off x="384048" y="3895344"/>
            <a:ext cx="329184" cy="329184"/>
          </a:xfrm>
          <a:prstGeom prst="ellipse">
            <a:avLst/>
          </a:prstGeom>
          <a:solidFill>
            <a:srgbClr val="1B3A5C"/>
          </a:solidFill>
          <a:ln w="12700">
            <a:solidFill>
              <a:srgbClr val="1B3A5C"/>
            </a:solidFill>
            <a:prstDash val="solid"/>
          </a:ln>
        </p:spPr>
      </p:sp>
      <p:sp>
        <p:nvSpPr>
          <p:cNvPr id="21" name="Text 19"/>
          <p:cNvSpPr/>
          <p:nvPr/>
        </p:nvSpPr>
        <p:spPr>
          <a:xfrm>
            <a:off x="384048" y="3895344"/>
            <a:ext cx="329184" cy="329184"/>
          </a:xfrm>
          <a:prstGeom prst="rect">
            <a:avLst/>
          </a:prstGeom>
          <a:noFill/>
          <a:ln/>
        </p:spPr>
        <p:txBody>
          <a:bodyPr wrap="square" rtlCol="0" anchor="ctr"/>
          <a:lstStyle/>
          <a:p>
            <a:pPr algn="ctr" indent="0" marL="0">
              <a:buNone/>
            </a:pPr>
            <a:r>
              <a:rPr lang="en-US" sz="1100" b="1" dirty="0">
                <a:solidFill>
                  <a:srgbClr val="FFFFFF"/>
                </a:solidFill>
              </a:rPr>
              <a:t>C</a:t>
            </a:r>
            <a:endParaRPr lang="en-US" sz="1100" dirty="0"/>
          </a:p>
        </p:txBody>
      </p:sp>
      <p:sp>
        <p:nvSpPr>
          <p:cNvPr id="22" name="Text 20"/>
          <p:cNvSpPr/>
          <p:nvPr/>
        </p:nvSpPr>
        <p:spPr>
          <a:xfrm>
            <a:off x="786384" y="3877056"/>
            <a:ext cx="7991856" cy="365760"/>
          </a:xfrm>
          <a:prstGeom prst="rect">
            <a:avLst/>
          </a:prstGeom>
          <a:noFill/>
          <a:ln/>
        </p:spPr>
        <p:txBody>
          <a:bodyPr wrap="square" rtlCol="0" anchor="ctr"/>
          <a:lstStyle/>
          <a:p>
            <a:pPr indent="0" marL="0">
              <a:buNone/>
            </a:pPr>
            <a:r>
              <a:rPr lang="en-US" sz="1250" dirty="0">
                <a:solidFill>
                  <a:srgbClr val="1B2A3B"/>
                </a:solidFill>
              </a:rPr>
              <a:t>Conditional Access with MFA</a:t>
            </a:r>
            <a:endParaRPr lang="en-US" sz="1250" dirty="0"/>
          </a:p>
        </p:txBody>
      </p:sp>
      <p:sp>
        <p:nvSpPr>
          <p:cNvPr id="23" name="Shape 21"/>
          <p:cNvSpPr/>
          <p:nvPr/>
        </p:nvSpPr>
        <p:spPr>
          <a:xfrm>
            <a:off x="292608" y="4416552"/>
            <a:ext cx="8558784" cy="539496"/>
          </a:xfrm>
          <a:prstGeom prst="rect">
            <a:avLst/>
          </a:prstGeom>
          <a:solidFill>
            <a:srgbClr val="FFFFFF"/>
          </a:solidFill>
          <a:ln w="12700">
            <a:solidFill>
              <a:srgbClr val="C5D8EE"/>
            </a:solidFill>
            <a:prstDash val="solid"/>
          </a:ln>
        </p:spPr>
      </p:sp>
      <p:sp>
        <p:nvSpPr>
          <p:cNvPr id="24" name="Shape 22"/>
          <p:cNvSpPr/>
          <p:nvPr/>
        </p:nvSpPr>
        <p:spPr>
          <a:xfrm>
            <a:off x="384048" y="4526280"/>
            <a:ext cx="329184" cy="329184"/>
          </a:xfrm>
          <a:prstGeom prst="ellipse">
            <a:avLst/>
          </a:prstGeom>
          <a:solidFill>
            <a:srgbClr val="1B3A5C"/>
          </a:solidFill>
          <a:ln w="12700">
            <a:solidFill>
              <a:srgbClr val="1B3A5C"/>
            </a:solidFill>
            <a:prstDash val="solid"/>
          </a:ln>
        </p:spPr>
      </p:sp>
      <p:sp>
        <p:nvSpPr>
          <p:cNvPr id="25" name="Text 23"/>
          <p:cNvSpPr/>
          <p:nvPr/>
        </p:nvSpPr>
        <p:spPr>
          <a:xfrm>
            <a:off x="384048" y="4526280"/>
            <a:ext cx="329184" cy="329184"/>
          </a:xfrm>
          <a:prstGeom prst="rect">
            <a:avLst/>
          </a:prstGeom>
          <a:noFill/>
          <a:ln/>
        </p:spPr>
        <p:txBody>
          <a:bodyPr wrap="square" rtlCol="0" anchor="ctr"/>
          <a:lstStyle/>
          <a:p>
            <a:pPr algn="ctr" indent="0" marL="0">
              <a:buNone/>
            </a:pPr>
            <a:r>
              <a:rPr lang="en-US" sz="1100" b="1" dirty="0">
                <a:solidFill>
                  <a:srgbClr val="FFFFFF"/>
                </a:solidFill>
              </a:rPr>
              <a:t>D</a:t>
            </a:r>
            <a:endParaRPr lang="en-US" sz="1100" dirty="0"/>
          </a:p>
        </p:txBody>
      </p:sp>
      <p:sp>
        <p:nvSpPr>
          <p:cNvPr id="26" name="Text 24"/>
          <p:cNvSpPr/>
          <p:nvPr/>
        </p:nvSpPr>
        <p:spPr>
          <a:xfrm>
            <a:off x="786384" y="4507992"/>
            <a:ext cx="7991856" cy="365760"/>
          </a:xfrm>
          <a:prstGeom prst="rect">
            <a:avLst/>
          </a:prstGeom>
          <a:noFill/>
          <a:ln/>
        </p:spPr>
        <p:txBody>
          <a:bodyPr wrap="square" rtlCol="0" anchor="ctr"/>
          <a:lstStyle/>
          <a:p>
            <a:pPr indent="0" marL="0">
              <a:buNone/>
            </a:pPr>
            <a:r>
              <a:rPr lang="en-US" sz="1250" dirty="0">
                <a:solidFill>
                  <a:srgbClr val="1B2A3B"/>
                </a:solidFill>
              </a:rPr>
              <a:t>Microsoft Entra ID Protection</a:t>
            </a:r>
            <a:endParaRPr lang="en-US" sz="12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4F8FD"/>
        </a:solidFill>
      </p:bgPr>
    </p:bg>
    <p:spTree>
      <p:nvGrpSpPr>
        <p:cNvPr id="1" name=""/>
        <p:cNvGrpSpPr/>
        <p:nvPr/>
      </p:nvGrpSpPr>
      <p:grpSpPr>
        <a:xfrm>
          <a:off x="0" y="0"/>
          <a:ext cx="0" cy="0"/>
          <a:chOff x="0" y="0"/>
          <a:chExt cx="0" cy="0"/>
        </a:xfrm>
      </p:grpSpPr>
      <p:sp>
        <p:nvSpPr>
          <p:cNvPr id="2" name="Shape 0"/>
          <p:cNvSpPr/>
          <p:nvPr/>
        </p:nvSpPr>
        <p:spPr>
          <a:xfrm>
            <a:off x="0" y="0"/>
            <a:ext cx="146304" cy="5143500"/>
          </a:xfrm>
          <a:prstGeom prst="rect">
            <a:avLst/>
          </a:prstGeom>
          <a:solidFill>
            <a:srgbClr val="107C10"/>
          </a:solidFill>
          <a:ln w="12700">
            <a:solidFill>
              <a:srgbClr val="107C10"/>
            </a:solidFill>
            <a:prstDash val="solid"/>
          </a:ln>
        </p:spPr>
      </p:sp>
      <p:sp>
        <p:nvSpPr>
          <p:cNvPr id="3" name="Shape 1"/>
          <p:cNvSpPr/>
          <p:nvPr/>
        </p:nvSpPr>
        <p:spPr>
          <a:xfrm>
            <a:off x="146304" y="0"/>
            <a:ext cx="8997696" cy="594360"/>
          </a:xfrm>
          <a:prstGeom prst="rect">
            <a:avLst/>
          </a:prstGeom>
          <a:solidFill>
            <a:srgbClr val="0A1628"/>
          </a:solidFill>
          <a:ln w="12700">
            <a:solidFill>
              <a:srgbClr val="0A1628"/>
            </a:solidFill>
            <a:prstDash val="solid"/>
          </a:ln>
        </p:spPr>
      </p:sp>
      <p:sp>
        <p:nvSpPr>
          <p:cNvPr id="4" name="Text 2"/>
          <p:cNvSpPr/>
          <p:nvPr/>
        </p:nvSpPr>
        <p:spPr>
          <a:xfrm>
            <a:off x="292608" y="0"/>
            <a:ext cx="6583680" cy="594360"/>
          </a:xfrm>
          <a:prstGeom prst="rect">
            <a:avLst/>
          </a:prstGeom>
          <a:noFill/>
          <a:ln/>
        </p:spPr>
        <p:txBody>
          <a:bodyPr wrap="square" lIns="0" tIns="0" rIns="0" bIns="0" rtlCol="0" anchor="ctr"/>
          <a:lstStyle/>
          <a:p>
            <a:pPr indent="0" marL="0">
              <a:buNone/>
            </a:pPr>
            <a:r>
              <a:rPr lang="en-US" sz="1200" b="1" dirty="0">
                <a:solidFill>
                  <a:srgbClr val="00FF90"/>
                </a:solidFill>
              </a:rPr>
              <a:t>✅  ANSWER 9  ·  Self-Service Password Reset</a:t>
            </a:r>
            <a:endParaRPr lang="en-US" sz="1200" dirty="0"/>
          </a:p>
        </p:txBody>
      </p:sp>
      <p:sp>
        <p:nvSpPr>
          <p:cNvPr id="5" name="Text 3"/>
          <p:cNvSpPr/>
          <p:nvPr/>
        </p:nvSpPr>
        <p:spPr>
          <a:xfrm>
            <a:off x="7498080" y="0"/>
            <a:ext cx="1499616" cy="594360"/>
          </a:xfrm>
          <a:prstGeom prst="rect">
            <a:avLst/>
          </a:prstGeom>
          <a:noFill/>
          <a:ln/>
        </p:spPr>
        <p:txBody>
          <a:bodyPr wrap="square" lIns="0" tIns="0" rIns="0" bIns="0" rtlCol="0" anchor="ctr"/>
          <a:lstStyle/>
          <a:p>
            <a:pPr algn="r" indent="0" marL="0">
              <a:buNone/>
            </a:pPr>
            <a:r>
              <a:rPr lang="en-US" sz="1200" b="1" dirty="0">
                <a:solidFill>
                  <a:srgbClr val="6C8EAD"/>
                </a:solidFill>
              </a:rPr>
              <a:t>9 / 20</a:t>
            </a:r>
            <a:endParaRPr lang="en-US" sz="1200" dirty="0"/>
          </a:p>
        </p:txBody>
      </p:sp>
      <p:sp>
        <p:nvSpPr>
          <p:cNvPr id="6" name="Shape 4"/>
          <p:cNvSpPr/>
          <p:nvPr/>
        </p:nvSpPr>
        <p:spPr>
          <a:xfrm>
            <a:off x="292608" y="658368"/>
            <a:ext cx="8558784" cy="475488"/>
          </a:xfrm>
          <a:prstGeom prst="rect">
            <a:avLst/>
          </a:prstGeom>
          <a:solidFill>
            <a:srgbClr val="E6F3E6"/>
          </a:solidFill>
          <a:ln w="25400">
            <a:solidFill>
              <a:srgbClr val="107C10"/>
            </a:solidFill>
            <a:prstDash val="solid"/>
          </a:ln>
        </p:spPr>
      </p:sp>
      <p:sp>
        <p:nvSpPr>
          <p:cNvPr id="7" name="Text 5"/>
          <p:cNvSpPr/>
          <p:nvPr/>
        </p:nvSpPr>
        <p:spPr>
          <a:xfrm>
            <a:off x="420624" y="658368"/>
            <a:ext cx="8321040" cy="475488"/>
          </a:xfrm>
          <a:prstGeom prst="rect">
            <a:avLst/>
          </a:prstGeom>
          <a:noFill/>
          <a:ln/>
        </p:spPr>
        <p:txBody>
          <a:bodyPr wrap="square" rtlCol="0" anchor="ctr"/>
          <a:lstStyle/>
          <a:p>
            <a:pPr indent="0" marL="0">
              <a:buNone/>
            </a:pPr>
            <a:r>
              <a:rPr lang="en-US" sz="1300" b="1" dirty="0">
                <a:solidFill>
                  <a:srgbClr val="107C10"/>
                </a:solidFill>
              </a:rPr>
              <a:t>✔  Correct: B — Self-Service Password Reset (SSPR)</a:t>
            </a:r>
            <a:endParaRPr lang="en-US" sz="1300" dirty="0"/>
          </a:p>
        </p:txBody>
      </p:sp>
      <p:sp>
        <p:nvSpPr>
          <p:cNvPr id="8" name="Text 6"/>
          <p:cNvSpPr/>
          <p:nvPr/>
        </p:nvSpPr>
        <p:spPr>
          <a:xfrm>
            <a:off x="292608" y="1216152"/>
            <a:ext cx="8558784" cy="292608"/>
          </a:xfrm>
          <a:prstGeom prst="rect">
            <a:avLst/>
          </a:prstGeom>
          <a:noFill/>
          <a:ln/>
        </p:spPr>
        <p:txBody>
          <a:bodyPr wrap="square" rtlCol="0" anchor="ctr"/>
          <a:lstStyle/>
          <a:p>
            <a:pPr indent="0" marL="0">
              <a:buNone/>
            </a:pPr>
            <a:r>
              <a:rPr lang="en-US" sz="1200" b="1" dirty="0">
                <a:solidFill>
                  <a:srgbClr val="0A1628"/>
                </a:solidFill>
              </a:rPr>
              <a:t>Why this is correct</a:t>
            </a:r>
            <a:endParaRPr lang="en-US" sz="1200" dirty="0"/>
          </a:p>
        </p:txBody>
      </p:sp>
      <p:sp>
        <p:nvSpPr>
          <p:cNvPr id="9" name="Shape 7"/>
          <p:cNvSpPr/>
          <p:nvPr/>
        </p:nvSpPr>
        <p:spPr>
          <a:xfrm>
            <a:off x="292608" y="1517904"/>
            <a:ext cx="8558784" cy="1097280"/>
          </a:xfrm>
          <a:prstGeom prst="rect">
            <a:avLst/>
          </a:prstGeom>
          <a:solidFill>
            <a:srgbClr val="FFFFFF"/>
          </a:solidFill>
          <a:ln w="12700">
            <a:solidFill>
              <a:srgbClr val="C5D8EE"/>
            </a:solidFill>
            <a:prstDash val="solid"/>
          </a:ln>
        </p:spPr>
      </p:sp>
      <p:sp>
        <p:nvSpPr>
          <p:cNvPr id="10" name="Text 8"/>
          <p:cNvSpPr/>
          <p:nvPr/>
        </p:nvSpPr>
        <p:spPr>
          <a:xfrm>
            <a:off x="420624" y="1563624"/>
            <a:ext cx="8321040" cy="1005840"/>
          </a:xfrm>
          <a:prstGeom prst="rect">
            <a:avLst/>
          </a:prstGeom>
          <a:noFill/>
          <a:ln/>
        </p:spPr>
        <p:txBody>
          <a:bodyPr wrap="square" rtlCol="0" anchor="t"/>
          <a:lstStyle/>
          <a:p>
            <a:pPr indent="0" marL="0">
              <a:buNone/>
            </a:pPr>
            <a:r>
              <a:rPr lang="en-US" sz="1150" dirty="0">
                <a:solidFill>
                  <a:srgbClr val="1B2A3B"/>
                </a:solidFill>
              </a:rPr>
              <a:t>Self-Service Password Reset (SSPR) allows users to verify their identity through pre-registered methods (phone, email, authenticator app) and reset their own passwords — reducing helpdesk load dramatically. PIM is for elevating privileged roles. Conditional Access + MFA controls sign-in conditions. Entra ID Protection detects risky sign-ins and users but doesn't provide self-service reset.</a:t>
            </a:r>
            <a:endParaRPr lang="en-US" sz="1150" dirty="0"/>
          </a:p>
        </p:txBody>
      </p:sp>
      <p:sp>
        <p:nvSpPr>
          <p:cNvPr id="11" name="Text 9"/>
          <p:cNvSpPr/>
          <p:nvPr/>
        </p:nvSpPr>
        <p:spPr>
          <a:xfrm>
            <a:off x="292608" y="2697480"/>
            <a:ext cx="8558784" cy="292608"/>
          </a:xfrm>
          <a:prstGeom prst="rect">
            <a:avLst/>
          </a:prstGeom>
          <a:noFill/>
          <a:ln/>
        </p:spPr>
        <p:txBody>
          <a:bodyPr wrap="square" rtlCol="0" anchor="ctr"/>
          <a:lstStyle/>
          <a:p>
            <a:pPr indent="0" marL="0">
              <a:buNone/>
            </a:pPr>
            <a:r>
              <a:rPr lang="en-US" sz="1200" b="1" dirty="0">
                <a:solidFill>
                  <a:srgbClr val="0A1628"/>
                </a:solidFill>
              </a:rPr>
              <a:t>Why the other options are incorrect</a:t>
            </a:r>
            <a:endParaRPr lang="en-US" sz="1200" dirty="0"/>
          </a:p>
        </p:txBody>
      </p:sp>
      <p:sp>
        <p:nvSpPr>
          <p:cNvPr id="12" name="Shape 10"/>
          <p:cNvSpPr/>
          <p:nvPr/>
        </p:nvSpPr>
        <p:spPr>
          <a:xfrm>
            <a:off x="292608" y="3035808"/>
            <a:ext cx="8558784" cy="603504"/>
          </a:xfrm>
          <a:prstGeom prst="rect">
            <a:avLst/>
          </a:prstGeom>
          <a:solidFill>
            <a:srgbClr val="FAEAEA"/>
          </a:solidFill>
          <a:ln w="12700">
            <a:solidFill>
              <a:srgbClr val="F4AAAA"/>
            </a:solidFill>
            <a:prstDash val="solid"/>
          </a:ln>
        </p:spPr>
      </p:sp>
      <p:sp>
        <p:nvSpPr>
          <p:cNvPr id="13" name="Shape 11"/>
          <p:cNvSpPr/>
          <p:nvPr/>
        </p:nvSpPr>
        <p:spPr>
          <a:xfrm>
            <a:off x="384048" y="3172968"/>
            <a:ext cx="301752" cy="301752"/>
          </a:xfrm>
          <a:prstGeom prst="ellipse">
            <a:avLst/>
          </a:prstGeom>
          <a:solidFill>
            <a:srgbClr val="A80000"/>
          </a:solidFill>
          <a:ln w="12700">
            <a:solidFill>
              <a:srgbClr val="A80000"/>
            </a:solidFill>
            <a:prstDash val="solid"/>
          </a:ln>
        </p:spPr>
      </p:sp>
      <p:sp>
        <p:nvSpPr>
          <p:cNvPr id="14" name="Text 12"/>
          <p:cNvSpPr/>
          <p:nvPr/>
        </p:nvSpPr>
        <p:spPr>
          <a:xfrm>
            <a:off x="384048" y="3172968"/>
            <a:ext cx="301752" cy="301752"/>
          </a:xfrm>
          <a:prstGeom prst="rect">
            <a:avLst/>
          </a:prstGeom>
          <a:noFill/>
          <a:ln/>
        </p:spPr>
        <p:txBody>
          <a:bodyPr wrap="square" rtlCol="0" anchor="ctr"/>
          <a:lstStyle/>
          <a:p>
            <a:pPr algn="ctr" indent="0" marL="0">
              <a:buNone/>
            </a:pPr>
            <a:r>
              <a:rPr lang="en-US" sz="1100" b="1" dirty="0">
                <a:solidFill>
                  <a:srgbClr val="FFFFFF"/>
                </a:solidFill>
              </a:rPr>
              <a:t>A</a:t>
            </a:r>
            <a:endParaRPr lang="en-US" sz="1100" dirty="0"/>
          </a:p>
        </p:txBody>
      </p:sp>
      <p:sp>
        <p:nvSpPr>
          <p:cNvPr id="15" name="Text 13"/>
          <p:cNvSpPr/>
          <p:nvPr/>
        </p:nvSpPr>
        <p:spPr>
          <a:xfrm>
            <a:off x="768096" y="3090672"/>
            <a:ext cx="8010144" cy="493776"/>
          </a:xfrm>
          <a:prstGeom prst="rect">
            <a:avLst/>
          </a:prstGeom>
          <a:noFill/>
          <a:ln/>
        </p:spPr>
        <p:txBody>
          <a:bodyPr wrap="square" rtlCol="0" anchor="ctr"/>
          <a:lstStyle/>
          <a:p>
            <a:pPr indent="0" marL="0">
              <a:buNone/>
            </a:pPr>
            <a:r>
              <a:rPr lang="en-US" sz="1150" dirty="0">
                <a:solidFill>
                  <a:srgbClr val="1B2A3B"/>
                </a:solidFill>
              </a:rPr>
              <a:t>PIM allows eligible users to activate privileged roles temporarily — it has nothing to do with password resets.</a:t>
            </a:r>
            <a:endParaRPr lang="en-US" sz="1150" dirty="0"/>
          </a:p>
        </p:txBody>
      </p:sp>
      <p:sp>
        <p:nvSpPr>
          <p:cNvPr id="16" name="Shape 14"/>
          <p:cNvSpPr/>
          <p:nvPr/>
        </p:nvSpPr>
        <p:spPr>
          <a:xfrm>
            <a:off x="292608" y="3712464"/>
            <a:ext cx="8558784" cy="603504"/>
          </a:xfrm>
          <a:prstGeom prst="rect">
            <a:avLst/>
          </a:prstGeom>
          <a:solidFill>
            <a:srgbClr val="FAEAEA"/>
          </a:solidFill>
          <a:ln w="12700">
            <a:solidFill>
              <a:srgbClr val="F4AAAA"/>
            </a:solidFill>
            <a:prstDash val="solid"/>
          </a:ln>
        </p:spPr>
      </p:sp>
      <p:sp>
        <p:nvSpPr>
          <p:cNvPr id="17" name="Shape 15"/>
          <p:cNvSpPr/>
          <p:nvPr/>
        </p:nvSpPr>
        <p:spPr>
          <a:xfrm>
            <a:off x="384048" y="3849624"/>
            <a:ext cx="301752" cy="301752"/>
          </a:xfrm>
          <a:prstGeom prst="ellipse">
            <a:avLst/>
          </a:prstGeom>
          <a:solidFill>
            <a:srgbClr val="A80000"/>
          </a:solidFill>
          <a:ln w="12700">
            <a:solidFill>
              <a:srgbClr val="A80000"/>
            </a:solidFill>
            <a:prstDash val="solid"/>
          </a:ln>
        </p:spPr>
      </p:sp>
      <p:sp>
        <p:nvSpPr>
          <p:cNvPr id="18" name="Text 16"/>
          <p:cNvSpPr/>
          <p:nvPr/>
        </p:nvSpPr>
        <p:spPr>
          <a:xfrm>
            <a:off x="384048" y="3849624"/>
            <a:ext cx="301752" cy="301752"/>
          </a:xfrm>
          <a:prstGeom prst="rect">
            <a:avLst/>
          </a:prstGeom>
          <a:noFill/>
          <a:ln/>
        </p:spPr>
        <p:txBody>
          <a:bodyPr wrap="square" rtlCol="0" anchor="ctr"/>
          <a:lstStyle/>
          <a:p>
            <a:pPr algn="ctr" indent="0" marL="0">
              <a:buNone/>
            </a:pPr>
            <a:r>
              <a:rPr lang="en-US" sz="1100" b="1" dirty="0">
                <a:solidFill>
                  <a:srgbClr val="FFFFFF"/>
                </a:solidFill>
              </a:rPr>
              <a:t>C</a:t>
            </a:r>
            <a:endParaRPr lang="en-US" sz="1100" dirty="0"/>
          </a:p>
        </p:txBody>
      </p:sp>
      <p:sp>
        <p:nvSpPr>
          <p:cNvPr id="19" name="Text 17"/>
          <p:cNvSpPr/>
          <p:nvPr/>
        </p:nvSpPr>
        <p:spPr>
          <a:xfrm>
            <a:off x="768096" y="3767328"/>
            <a:ext cx="8010144" cy="493776"/>
          </a:xfrm>
          <a:prstGeom prst="rect">
            <a:avLst/>
          </a:prstGeom>
          <a:noFill/>
          <a:ln/>
        </p:spPr>
        <p:txBody>
          <a:bodyPr wrap="square" rtlCol="0" anchor="ctr"/>
          <a:lstStyle/>
          <a:p>
            <a:pPr indent="0" marL="0">
              <a:buNone/>
            </a:pPr>
            <a:r>
              <a:rPr lang="en-US" sz="1150" dirty="0">
                <a:solidFill>
                  <a:srgbClr val="1B2A3B"/>
                </a:solidFill>
              </a:rPr>
              <a:t>Conditional Access + MFA adds an extra sign-in step but doesn't give users the ability to reset forgotten passwords themselves.</a:t>
            </a:r>
            <a:endParaRPr lang="en-US" sz="1150" dirty="0"/>
          </a:p>
        </p:txBody>
      </p:sp>
      <p:sp>
        <p:nvSpPr>
          <p:cNvPr id="20" name="Shape 18"/>
          <p:cNvSpPr/>
          <p:nvPr/>
        </p:nvSpPr>
        <p:spPr>
          <a:xfrm>
            <a:off x="292608" y="4389120"/>
            <a:ext cx="8558784" cy="603504"/>
          </a:xfrm>
          <a:prstGeom prst="rect">
            <a:avLst/>
          </a:prstGeom>
          <a:solidFill>
            <a:srgbClr val="FAEAEA"/>
          </a:solidFill>
          <a:ln w="12700">
            <a:solidFill>
              <a:srgbClr val="F4AAAA"/>
            </a:solidFill>
            <a:prstDash val="solid"/>
          </a:ln>
        </p:spPr>
      </p:sp>
      <p:sp>
        <p:nvSpPr>
          <p:cNvPr id="21" name="Shape 19"/>
          <p:cNvSpPr/>
          <p:nvPr/>
        </p:nvSpPr>
        <p:spPr>
          <a:xfrm>
            <a:off x="384048" y="4526280"/>
            <a:ext cx="301752" cy="301752"/>
          </a:xfrm>
          <a:prstGeom prst="ellipse">
            <a:avLst/>
          </a:prstGeom>
          <a:solidFill>
            <a:srgbClr val="A80000"/>
          </a:solidFill>
          <a:ln w="12700">
            <a:solidFill>
              <a:srgbClr val="A80000"/>
            </a:solidFill>
            <a:prstDash val="solid"/>
          </a:ln>
        </p:spPr>
      </p:sp>
      <p:sp>
        <p:nvSpPr>
          <p:cNvPr id="22" name="Text 20"/>
          <p:cNvSpPr/>
          <p:nvPr/>
        </p:nvSpPr>
        <p:spPr>
          <a:xfrm>
            <a:off x="384048" y="4526280"/>
            <a:ext cx="301752" cy="301752"/>
          </a:xfrm>
          <a:prstGeom prst="rect">
            <a:avLst/>
          </a:prstGeom>
          <a:noFill/>
          <a:ln/>
        </p:spPr>
        <p:txBody>
          <a:bodyPr wrap="square" rtlCol="0" anchor="ctr"/>
          <a:lstStyle/>
          <a:p>
            <a:pPr algn="ctr" indent="0" marL="0">
              <a:buNone/>
            </a:pPr>
            <a:r>
              <a:rPr lang="en-US" sz="1100" b="1" dirty="0">
                <a:solidFill>
                  <a:srgbClr val="FFFFFF"/>
                </a:solidFill>
              </a:rPr>
              <a:t>D</a:t>
            </a:r>
            <a:endParaRPr lang="en-US" sz="1100" dirty="0"/>
          </a:p>
        </p:txBody>
      </p:sp>
      <p:sp>
        <p:nvSpPr>
          <p:cNvPr id="23" name="Text 21"/>
          <p:cNvSpPr/>
          <p:nvPr/>
        </p:nvSpPr>
        <p:spPr>
          <a:xfrm>
            <a:off x="768096" y="4443984"/>
            <a:ext cx="8010144" cy="493776"/>
          </a:xfrm>
          <a:prstGeom prst="rect">
            <a:avLst/>
          </a:prstGeom>
          <a:noFill/>
          <a:ln/>
        </p:spPr>
        <p:txBody>
          <a:bodyPr wrap="square" rtlCol="0" anchor="ctr"/>
          <a:lstStyle/>
          <a:p>
            <a:pPr indent="0" marL="0">
              <a:buNone/>
            </a:pPr>
            <a:r>
              <a:rPr lang="en-US" sz="1150" dirty="0">
                <a:solidFill>
                  <a:srgbClr val="1B2A3B"/>
                </a:solidFill>
              </a:rPr>
              <a:t>Entra ID Protection uses ML to detect risky sign-ins and compromised accounts, but doesn't enable self-service password resets.</a:t>
            </a:r>
            <a:endParaRPr lang="en-US" sz="11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4F8FD"/>
        </a:solidFill>
      </p:bgPr>
    </p:bg>
    <p:spTree>
      <p:nvGrpSpPr>
        <p:cNvPr id="1" name=""/>
        <p:cNvGrpSpPr/>
        <p:nvPr/>
      </p:nvGrpSpPr>
      <p:grpSpPr>
        <a:xfrm>
          <a:off x="0" y="0"/>
          <a:ext cx="0" cy="0"/>
          <a:chOff x="0" y="0"/>
          <a:chExt cx="0" cy="0"/>
        </a:xfrm>
      </p:grpSpPr>
      <p:sp>
        <p:nvSpPr>
          <p:cNvPr id="2" name="Shape 0"/>
          <p:cNvSpPr/>
          <p:nvPr/>
        </p:nvSpPr>
        <p:spPr>
          <a:xfrm>
            <a:off x="0" y="0"/>
            <a:ext cx="146304" cy="5143500"/>
          </a:xfrm>
          <a:prstGeom prst="rect">
            <a:avLst/>
          </a:prstGeom>
          <a:solidFill>
            <a:srgbClr val="0078D4"/>
          </a:solidFill>
          <a:ln w="12700">
            <a:solidFill>
              <a:srgbClr val="0078D4"/>
            </a:solidFill>
            <a:prstDash val="solid"/>
          </a:ln>
        </p:spPr>
      </p:sp>
      <p:sp>
        <p:nvSpPr>
          <p:cNvPr id="3" name="Shape 1"/>
          <p:cNvSpPr/>
          <p:nvPr/>
        </p:nvSpPr>
        <p:spPr>
          <a:xfrm>
            <a:off x="146304" y="0"/>
            <a:ext cx="8997696" cy="594360"/>
          </a:xfrm>
          <a:prstGeom prst="rect">
            <a:avLst/>
          </a:prstGeom>
          <a:solidFill>
            <a:srgbClr val="0A1628"/>
          </a:solidFill>
          <a:ln w="12700">
            <a:solidFill>
              <a:srgbClr val="0A1628"/>
            </a:solidFill>
            <a:prstDash val="solid"/>
          </a:ln>
        </p:spPr>
      </p:sp>
      <p:sp>
        <p:nvSpPr>
          <p:cNvPr id="4" name="Text 2"/>
          <p:cNvSpPr/>
          <p:nvPr/>
        </p:nvSpPr>
        <p:spPr>
          <a:xfrm>
            <a:off x="292608" y="0"/>
            <a:ext cx="6583680" cy="594360"/>
          </a:xfrm>
          <a:prstGeom prst="rect">
            <a:avLst/>
          </a:prstGeom>
          <a:noFill/>
          <a:ln/>
        </p:spPr>
        <p:txBody>
          <a:bodyPr wrap="square" lIns="0" tIns="0" rIns="0" bIns="0" rtlCol="0" anchor="ctr"/>
          <a:lstStyle/>
          <a:p>
            <a:pPr indent="0" marL="0">
              <a:buNone/>
            </a:pPr>
            <a:r>
              <a:rPr lang="en-US" sz="1200" b="1" dirty="0">
                <a:solidFill>
                  <a:srgbClr val="50E6FF"/>
                </a:solidFill>
              </a:rPr>
              <a:t>❓  QUESTION 10  ·  Conditional Access</a:t>
            </a:r>
            <a:endParaRPr lang="en-US" sz="1200" dirty="0"/>
          </a:p>
        </p:txBody>
      </p:sp>
      <p:sp>
        <p:nvSpPr>
          <p:cNvPr id="5" name="Text 3"/>
          <p:cNvSpPr/>
          <p:nvPr/>
        </p:nvSpPr>
        <p:spPr>
          <a:xfrm>
            <a:off x="7498080" y="0"/>
            <a:ext cx="1499616" cy="594360"/>
          </a:xfrm>
          <a:prstGeom prst="rect">
            <a:avLst/>
          </a:prstGeom>
          <a:noFill/>
          <a:ln/>
        </p:spPr>
        <p:txBody>
          <a:bodyPr wrap="square" lIns="0" tIns="0" rIns="0" bIns="0" rtlCol="0" anchor="ctr"/>
          <a:lstStyle/>
          <a:p>
            <a:pPr algn="r" indent="0" marL="0">
              <a:buNone/>
            </a:pPr>
            <a:r>
              <a:rPr lang="en-US" sz="1200" b="1" dirty="0">
                <a:solidFill>
                  <a:srgbClr val="6C8EAD"/>
                </a:solidFill>
              </a:rPr>
              <a:t>10 / 20</a:t>
            </a:r>
            <a:endParaRPr lang="en-US" sz="1200" dirty="0"/>
          </a:p>
        </p:txBody>
      </p:sp>
      <p:sp>
        <p:nvSpPr>
          <p:cNvPr id="6" name="Shape 4"/>
          <p:cNvSpPr/>
          <p:nvPr/>
        </p:nvSpPr>
        <p:spPr>
          <a:xfrm>
            <a:off x="292608" y="685800"/>
            <a:ext cx="1097280" cy="256032"/>
          </a:xfrm>
          <a:prstGeom prst="rect">
            <a:avLst/>
          </a:prstGeom>
          <a:solidFill>
            <a:srgbClr val="0078D4"/>
          </a:solidFill>
          <a:ln w="12700">
            <a:solidFill>
              <a:srgbClr val="0078D4"/>
            </a:solidFill>
            <a:prstDash val="solid"/>
          </a:ln>
        </p:spPr>
      </p:sp>
      <p:sp>
        <p:nvSpPr>
          <p:cNvPr id="7" name="Text 5"/>
          <p:cNvSpPr/>
          <p:nvPr/>
        </p:nvSpPr>
        <p:spPr>
          <a:xfrm>
            <a:off x="292608" y="685800"/>
            <a:ext cx="1097280" cy="256032"/>
          </a:xfrm>
          <a:prstGeom prst="rect">
            <a:avLst/>
          </a:prstGeom>
          <a:noFill/>
          <a:ln/>
        </p:spPr>
        <p:txBody>
          <a:bodyPr wrap="square" rtlCol="0" anchor="ctr"/>
          <a:lstStyle/>
          <a:p>
            <a:pPr algn="ctr" indent="0" marL="0">
              <a:buNone/>
            </a:pPr>
            <a:r>
              <a:rPr lang="en-US" sz="800" b="1" dirty="0">
                <a:solidFill>
                  <a:srgbClr val="FFFFFF"/>
                </a:solidFill>
              </a:rPr>
              <a:t>SCENARIO</a:t>
            </a:r>
            <a:endParaRPr lang="en-US" sz="800" dirty="0"/>
          </a:p>
        </p:txBody>
      </p:sp>
      <p:sp>
        <p:nvSpPr>
          <p:cNvPr id="8" name="Shape 6"/>
          <p:cNvSpPr/>
          <p:nvPr/>
        </p:nvSpPr>
        <p:spPr>
          <a:xfrm>
            <a:off x="292608" y="978408"/>
            <a:ext cx="8558784" cy="960120"/>
          </a:xfrm>
          <a:prstGeom prst="rect">
            <a:avLst/>
          </a:prstGeom>
          <a:solidFill>
            <a:srgbClr val="EBF4FF"/>
          </a:solidFill>
          <a:ln w="12700">
            <a:solidFill>
              <a:srgbClr val="0078D4"/>
            </a:solidFill>
            <a:prstDash val="solid"/>
          </a:ln>
        </p:spPr>
      </p:sp>
      <p:sp>
        <p:nvSpPr>
          <p:cNvPr id="9" name="Text 7"/>
          <p:cNvSpPr/>
          <p:nvPr/>
        </p:nvSpPr>
        <p:spPr>
          <a:xfrm>
            <a:off x="420624" y="1024128"/>
            <a:ext cx="8321040" cy="868680"/>
          </a:xfrm>
          <a:prstGeom prst="rect">
            <a:avLst/>
          </a:prstGeom>
          <a:noFill/>
          <a:ln/>
        </p:spPr>
        <p:txBody>
          <a:bodyPr wrap="square" rtlCol="0" anchor="t"/>
          <a:lstStyle/>
          <a:p>
            <a:pPr indent="0" marL="0">
              <a:buNone/>
            </a:pPr>
            <a:r>
              <a:rPr lang="en-US" sz="1250" dirty="0">
                <a:solidFill>
                  <a:srgbClr val="1B2A3B"/>
                </a:solidFill>
              </a:rPr>
              <a:t>A financial institution wants to allow access to Azure resources only when users are on compliant, corporate-managed devices. Users on personal or unmanaged devices should be blocked regardless of credentials.</a:t>
            </a:r>
            <a:endParaRPr lang="en-US" sz="1250" dirty="0"/>
          </a:p>
        </p:txBody>
      </p:sp>
      <p:sp>
        <p:nvSpPr>
          <p:cNvPr id="10" name="Text 8"/>
          <p:cNvSpPr/>
          <p:nvPr/>
        </p:nvSpPr>
        <p:spPr>
          <a:xfrm>
            <a:off x="292608" y="2048256"/>
            <a:ext cx="8558784" cy="420624"/>
          </a:xfrm>
          <a:prstGeom prst="rect">
            <a:avLst/>
          </a:prstGeom>
          <a:noFill/>
          <a:ln/>
        </p:spPr>
        <p:txBody>
          <a:bodyPr wrap="square" rtlCol="0" anchor="ctr"/>
          <a:lstStyle/>
          <a:p>
            <a:pPr indent="0" marL="0">
              <a:buNone/>
            </a:pPr>
            <a:r>
              <a:rPr lang="en-US" sz="1350" b="1" dirty="0">
                <a:solidFill>
                  <a:srgbClr val="0A1628"/>
                </a:solidFill>
              </a:rPr>
              <a:t>Which feature enforces this device-based access control in Microsoft Entra ID?</a:t>
            </a:r>
            <a:endParaRPr lang="en-US" sz="1350" dirty="0"/>
          </a:p>
        </p:txBody>
      </p:sp>
      <p:sp>
        <p:nvSpPr>
          <p:cNvPr id="11" name="Shape 9"/>
          <p:cNvSpPr/>
          <p:nvPr/>
        </p:nvSpPr>
        <p:spPr>
          <a:xfrm>
            <a:off x="292608" y="2523744"/>
            <a:ext cx="8558784" cy="539496"/>
          </a:xfrm>
          <a:prstGeom prst="rect">
            <a:avLst/>
          </a:prstGeom>
          <a:solidFill>
            <a:srgbClr val="FFFFFF"/>
          </a:solidFill>
          <a:ln w="12700">
            <a:solidFill>
              <a:srgbClr val="C5D8EE"/>
            </a:solidFill>
            <a:prstDash val="solid"/>
          </a:ln>
        </p:spPr>
      </p:sp>
      <p:sp>
        <p:nvSpPr>
          <p:cNvPr id="12" name="Shape 10"/>
          <p:cNvSpPr/>
          <p:nvPr/>
        </p:nvSpPr>
        <p:spPr>
          <a:xfrm>
            <a:off x="384048" y="2633472"/>
            <a:ext cx="329184" cy="329184"/>
          </a:xfrm>
          <a:prstGeom prst="ellipse">
            <a:avLst/>
          </a:prstGeom>
          <a:solidFill>
            <a:srgbClr val="1B3A5C"/>
          </a:solidFill>
          <a:ln w="12700">
            <a:solidFill>
              <a:srgbClr val="1B3A5C"/>
            </a:solidFill>
            <a:prstDash val="solid"/>
          </a:ln>
        </p:spPr>
      </p:sp>
      <p:sp>
        <p:nvSpPr>
          <p:cNvPr id="13" name="Text 11"/>
          <p:cNvSpPr/>
          <p:nvPr/>
        </p:nvSpPr>
        <p:spPr>
          <a:xfrm>
            <a:off x="384048" y="2633472"/>
            <a:ext cx="329184" cy="329184"/>
          </a:xfrm>
          <a:prstGeom prst="rect">
            <a:avLst/>
          </a:prstGeom>
          <a:noFill/>
          <a:ln/>
        </p:spPr>
        <p:txBody>
          <a:bodyPr wrap="square" rtlCol="0" anchor="ctr"/>
          <a:lstStyle/>
          <a:p>
            <a:pPr algn="ctr" indent="0" marL="0">
              <a:buNone/>
            </a:pPr>
            <a:r>
              <a:rPr lang="en-US" sz="1100" b="1" dirty="0">
                <a:solidFill>
                  <a:srgbClr val="FFFFFF"/>
                </a:solidFill>
              </a:rPr>
              <a:t>A</a:t>
            </a:r>
            <a:endParaRPr lang="en-US" sz="1100" dirty="0"/>
          </a:p>
        </p:txBody>
      </p:sp>
      <p:sp>
        <p:nvSpPr>
          <p:cNvPr id="14" name="Text 12"/>
          <p:cNvSpPr/>
          <p:nvPr/>
        </p:nvSpPr>
        <p:spPr>
          <a:xfrm>
            <a:off x="786384" y="2615184"/>
            <a:ext cx="7991856" cy="365760"/>
          </a:xfrm>
          <a:prstGeom prst="rect">
            <a:avLst/>
          </a:prstGeom>
          <a:noFill/>
          <a:ln/>
        </p:spPr>
        <p:txBody>
          <a:bodyPr wrap="square" rtlCol="0" anchor="ctr"/>
          <a:lstStyle/>
          <a:p>
            <a:pPr indent="0" marL="0">
              <a:buNone/>
            </a:pPr>
            <a:r>
              <a:rPr lang="en-US" sz="1250" dirty="0">
                <a:solidFill>
                  <a:srgbClr val="1B2A3B"/>
                </a:solidFill>
              </a:rPr>
              <a:t>Azure RBAC with device scope conditions</a:t>
            </a:r>
            <a:endParaRPr lang="en-US" sz="1250" dirty="0"/>
          </a:p>
        </p:txBody>
      </p:sp>
      <p:sp>
        <p:nvSpPr>
          <p:cNvPr id="15" name="Shape 13"/>
          <p:cNvSpPr/>
          <p:nvPr/>
        </p:nvSpPr>
        <p:spPr>
          <a:xfrm>
            <a:off x="292608" y="3154680"/>
            <a:ext cx="8558784" cy="539496"/>
          </a:xfrm>
          <a:prstGeom prst="rect">
            <a:avLst/>
          </a:prstGeom>
          <a:solidFill>
            <a:srgbClr val="FFFFFF"/>
          </a:solidFill>
          <a:ln w="12700">
            <a:solidFill>
              <a:srgbClr val="C5D8EE"/>
            </a:solidFill>
            <a:prstDash val="solid"/>
          </a:ln>
        </p:spPr>
      </p:sp>
      <p:sp>
        <p:nvSpPr>
          <p:cNvPr id="16" name="Shape 14"/>
          <p:cNvSpPr/>
          <p:nvPr/>
        </p:nvSpPr>
        <p:spPr>
          <a:xfrm>
            <a:off x="384048" y="3264408"/>
            <a:ext cx="329184" cy="329184"/>
          </a:xfrm>
          <a:prstGeom prst="ellipse">
            <a:avLst/>
          </a:prstGeom>
          <a:solidFill>
            <a:srgbClr val="1B3A5C"/>
          </a:solidFill>
          <a:ln w="12700">
            <a:solidFill>
              <a:srgbClr val="1B3A5C"/>
            </a:solidFill>
            <a:prstDash val="solid"/>
          </a:ln>
        </p:spPr>
      </p:sp>
      <p:sp>
        <p:nvSpPr>
          <p:cNvPr id="17" name="Text 15"/>
          <p:cNvSpPr/>
          <p:nvPr/>
        </p:nvSpPr>
        <p:spPr>
          <a:xfrm>
            <a:off x="384048" y="3264408"/>
            <a:ext cx="329184" cy="329184"/>
          </a:xfrm>
          <a:prstGeom prst="rect">
            <a:avLst/>
          </a:prstGeom>
          <a:noFill/>
          <a:ln/>
        </p:spPr>
        <p:txBody>
          <a:bodyPr wrap="square" rtlCol="0" anchor="ctr"/>
          <a:lstStyle/>
          <a:p>
            <a:pPr algn="ctr" indent="0" marL="0">
              <a:buNone/>
            </a:pPr>
            <a:r>
              <a:rPr lang="en-US" sz="1100" b="1" dirty="0">
                <a:solidFill>
                  <a:srgbClr val="FFFFFF"/>
                </a:solidFill>
              </a:rPr>
              <a:t>B</a:t>
            </a:r>
            <a:endParaRPr lang="en-US" sz="1100" dirty="0"/>
          </a:p>
        </p:txBody>
      </p:sp>
      <p:sp>
        <p:nvSpPr>
          <p:cNvPr id="18" name="Text 16"/>
          <p:cNvSpPr/>
          <p:nvPr/>
        </p:nvSpPr>
        <p:spPr>
          <a:xfrm>
            <a:off x="786384" y="3246120"/>
            <a:ext cx="7991856" cy="365760"/>
          </a:xfrm>
          <a:prstGeom prst="rect">
            <a:avLst/>
          </a:prstGeom>
          <a:noFill/>
          <a:ln/>
        </p:spPr>
        <p:txBody>
          <a:bodyPr wrap="square" rtlCol="0" anchor="ctr"/>
          <a:lstStyle/>
          <a:p>
            <a:pPr indent="0" marL="0">
              <a:buNone/>
            </a:pPr>
            <a:r>
              <a:rPr lang="en-US" sz="1250" dirty="0">
                <a:solidFill>
                  <a:srgbClr val="1B2A3B"/>
                </a:solidFill>
              </a:rPr>
              <a:t>Conditional Access Policy with a device compliance grant condition</a:t>
            </a:r>
            <a:endParaRPr lang="en-US" sz="1250" dirty="0"/>
          </a:p>
        </p:txBody>
      </p:sp>
      <p:sp>
        <p:nvSpPr>
          <p:cNvPr id="19" name="Shape 17"/>
          <p:cNvSpPr/>
          <p:nvPr/>
        </p:nvSpPr>
        <p:spPr>
          <a:xfrm>
            <a:off x="292608" y="3785616"/>
            <a:ext cx="8558784" cy="539496"/>
          </a:xfrm>
          <a:prstGeom prst="rect">
            <a:avLst/>
          </a:prstGeom>
          <a:solidFill>
            <a:srgbClr val="FFFFFF"/>
          </a:solidFill>
          <a:ln w="12700">
            <a:solidFill>
              <a:srgbClr val="C5D8EE"/>
            </a:solidFill>
            <a:prstDash val="solid"/>
          </a:ln>
        </p:spPr>
      </p:sp>
      <p:sp>
        <p:nvSpPr>
          <p:cNvPr id="20" name="Shape 18"/>
          <p:cNvSpPr/>
          <p:nvPr/>
        </p:nvSpPr>
        <p:spPr>
          <a:xfrm>
            <a:off x="384048" y="3895344"/>
            <a:ext cx="329184" cy="329184"/>
          </a:xfrm>
          <a:prstGeom prst="ellipse">
            <a:avLst/>
          </a:prstGeom>
          <a:solidFill>
            <a:srgbClr val="1B3A5C"/>
          </a:solidFill>
          <a:ln w="12700">
            <a:solidFill>
              <a:srgbClr val="1B3A5C"/>
            </a:solidFill>
            <a:prstDash val="solid"/>
          </a:ln>
        </p:spPr>
      </p:sp>
      <p:sp>
        <p:nvSpPr>
          <p:cNvPr id="21" name="Text 19"/>
          <p:cNvSpPr/>
          <p:nvPr/>
        </p:nvSpPr>
        <p:spPr>
          <a:xfrm>
            <a:off x="384048" y="3895344"/>
            <a:ext cx="329184" cy="329184"/>
          </a:xfrm>
          <a:prstGeom prst="rect">
            <a:avLst/>
          </a:prstGeom>
          <a:noFill/>
          <a:ln/>
        </p:spPr>
        <p:txBody>
          <a:bodyPr wrap="square" rtlCol="0" anchor="ctr"/>
          <a:lstStyle/>
          <a:p>
            <a:pPr algn="ctr" indent="0" marL="0">
              <a:buNone/>
            </a:pPr>
            <a:r>
              <a:rPr lang="en-US" sz="1100" b="1" dirty="0">
                <a:solidFill>
                  <a:srgbClr val="FFFFFF"/>
                </a:solidFill>
              </a:rPr>
              <a:t>C</a:t>
            </a:r>
            <a:endParaRPr lang="en-US" sz="1100" dirty="0"/>
          </a:p>
        </p:txBody>
      </p:sp>
      <p:sp>
        <p:nvSpPr>
          <p:cNvPr id="22" name="Text 20"/>
          <p:cNvSpPr/>
          <p:nvPr/>
        </p:nvSpPr>
        <p:spPr>
          <a:xfrm>
            <a:off x="786384" y="3877056"/>
            <a:ext cx="7991856" cy="365760"/>
          </a:xfrm>
          <a:prstGeom prst="rect">
            <a:avLst/>
          </a:prstGeom>
          <a:noFill/>
          <a:ln/>
        </p:spPr>
        <p:txBody>
          <a:bodyPr wrap="square" rtlCol="0" anchor="ctr"/>
          <a:lstStyle/>
          <a:p>
            <a:pPr indent="0" marL="0">
              <a:buNone/>
            </a:pPr>
            <a:r>
              <a:rPr lang="en-US" sz="1250" dirty="0">
                <a:solidFill>
                  <a:srgbClr val="1B2A3B"/>
                </a:solidFill>
              </a:rPr>
              <a:t>Microsoft Entra ID B2B with device filters</a:t>
            </a:r>
            <a:endParaRPr lang="en-US" sz="1250" dirty="0"/>
          </a:p>
        </p:txBody>
      </p:sp>
      <p:sp>
        <p:nvSpPr>
          <p:cNvPr id="23" name="Shape 21"/>
          <p:cNvSpPr/>
          <p:nvPr/>
        </p:nvSpPr>
        <p:spPr>
          <a:xfrm>
            <a:off x="292608" y="4416552"/>
            <a:ext cx="8558784" cy="539496"/>
          </a:xfrm>
          <a:prstGeom prst="rect">
            <a:avLst/>
          </a:prstGeom>
          <a:solidFill>
            <a:srgbClr val="FFFFFF"/>
          </a:solidFill>
          <a:ln w="12700">
            <a:solidFill>
              <a:srgbClr val="C5D8EE"/>
            </a:solidFill>
            <a:prstDash val="solid"/>
          </a:ln>
        </p:spPr>
      </p:sp>
      <p:sp>
        <p:nvSpPr>
          <p:cNvPr id="24" name="Shape 22"/>
          <p:cNvSpPr/>
          <p:nvPr/>
        </p:nvSpPr>
        <p:spPr>
          <a:xfrm>
            <a:off x="384048" y="4526280"/>
            <a:ext cx="329184" cy="329184"/>
          </a:xfrm>
          <a:prstGeom prst="ellipse">
            <a:avLst/>
          </a:prstGeom>
          <a:solidFill>
            <a:srgbClr val="1B3A5C"/>
          </a:solidFill>
          <a:ln w="12700">
            <a:solidFill>
              <a:srgbClr val="1B3A5C"/>
            </a:solidFill>
            <a:prstDash val="solid"/>
          </a:ln>
        </p:spPr>
      </p:sp>
      <p:sp>
        <p:nvSpPr>
          <p:cNvPr id="25" name="Text 23"/>
          <p:cNvSpPr/>
          <p:nvPr/>
        </p:nvSpPr>
        <p:spPr>
          <a:xfrm>
            <a:off x="384048" y="4526280"/>
            <a:ext cx="329184" cy="329184"/>
          </a:xfrm>
          <a:prstGeom prst="rect">
            <a:avLst/>
          </a:prstGeom>
          <a:noFill/>
          <a:ln/>
        </p:spPr>
        <p:txBody>
          <a:bodyPr wrap="square" rtlCol="0" anchor="ctr"/>
          <a:lstStyle/>
          <a:p>
            <a:pPr algn="ctr" indent="0" marL="0">
              <a:buNone/>
            </a:pPr>
            <a:r>
              <a:rPr lang="en-US" sz="1100" b="1" dirty="0">
                <a:solidFill>
                  <a:srgbClr val="FFFFFF"/>
                </a:solidFill>
              </a:rPr>
              <a:t>D</a:t>
            </a:r>
            <a:endParaRPr lang="en-US" sz="1100" dirty="0"/>
          </a:p>
        </p:txBody>
      </p:sp>
      <p:sp>
        <p:nvSpPr>
          <p:cNvPr id="26" name="Text 24"/>
          <p:cNvSpPr/>
          <p:nvPr/>
        </p:nvSpPr>
        <p:spPr>
          <a:xfrm>
            <a:off x="786384" y="4507992"/>
            <a:ext cx="7991856" cy="365760"/>
          </a:xfrm>
          <a:prstGeom prst="rect">
            <a:avLst/>
          </a:prstGeom>
          <a:noFill/>
          <a:ln/>
        </p:spPr>
        <p:txBody>
          <a:bodyPr wrap="square" rtlCol="0" anchor="ctr"/>
          <a:lstStyle/>
          <a:p>
            <a:pPr indent="0" marL="0">
              <a:buNone/>
            </a:pPr>
            <a:r>
              <a:rPr lang="en-US" sz="1250" dirty="0">
                <a:solidFill>
                  <a:srgbClr val="1B2A3B"/>
                </a:solidFill>
              </a:rPr>
              <a:t>Azure Policy with a Deny effect on unmanaged devices</a:t>
            </a:r>
            <a:endParaRPr lang="en-US" sz="12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4F8FD"/>
        </a:solidFill>
      </p:bgPr>
    </p:bg>
    <p:spTree>
      <p:nvGrpSpPr>
        <p:cNvPr id="1" name=""/>
        <p:cNvGrpSpPr/>
        <p:nvPr/>
      </p:nvGrpSpPr>
      <p:grpSpPr>
        <a:xfrm>
          <a:off x="0" y="0"/>
          <a:ext cx="0" cy="0"/>
          <a:chOff x="0" y="0"/>
          <a:chExt cx="0" cy="0"/>
        </a:xfrm>
      </p:grpSpPr>
      <p:sp>
        <p:nvSpPr>
          <p:cNvPr id="2" name="Shape 0"/>
          <p:cNvSpPr/>
          <p:nvPr/>
        </p:nvSpPr>
        <p:spPr>
          <a:xfrm>
            <a:off x="0" y="0"/>
            <a:ext cx="146304" cy="5143500"/>
          </a:xfrm>
          <a:prstGeom prst="rect">
            <a:avLst/>
          </a:prstGeom>
          <a:solidFill>
            <a:srgbClr val="107C10"/>
          </a:solidFill>
          <a:ln w="12700">
            <a:solidFill>
              <a:srgbClr val="107C10"/>
            </a:solidFill>
            <a:prstDash val="solid"/>
          </a:ln>
        </p:spPr>
      </p:sp>
      <p:sp>
        <p:nvSpPr>
          <p:cNvPr id="3" name="Shape 1"/>
          <p:cNvSpPr/>
          <p:nvPr/>
        </p:nvSpPr>
        <p:spPr>
          <a:xfrm>
            <a:off x="146304" y="0"/>
            <a:ext cx="8997696" cy="594360"/>
          </a:xfrm>
          <a:prstGeom prst="rect">
            <a:avLst/>
          </a:prstGeom>
          <a:solidFill>
            <a:srgbClr val="0A1628"/>
          </a:solidFill>
          <a:ln w="12700">
            <a:solidFill>
              <a:srgbClr val="0A1628"/>
            </a:solidFill>
            <a:prstDash val="solid"/>
          </a:ln>
        </p:spPr>
      </p:sp>
      <p:sp>
        <p:nvSpPr>
          <p:cNvPr id="4" name="Text 2"/>
          <p:cNvSpPr/>
          <p:nvPr/>
        </p:nvSpPr>
        <p:spPr>
          <a:xfrm>
            <a:off x="292608" y="0"/>
            <a:ext cx="6583680" cy="594360"/>
          </a:xfrm>
          <a:prstGeom prst="rect">
            <a:avLst/>
          </a:prstGeom>
          <a:noFill/>
          <a:ln/>
        </p:spPr>
        <p:txBody>
          <a:bodyPr wrap="square" lIns="0" tIns="0" rIns="0" bIns="0" rtlCol="0" anchor="ctr"/>
          <a:lstStyle/>
          <a:p>
            <a:pPr indent="0" marL="0">
              <a:buNone/>
            </a:pPr>
            <a:r>
              <a:rPr lang="en-US" sz="1200" b="1" dirty="0">
                <a:solidFill>
                  <a:srgbClr val="00FF90"/>
                </a:solidFill>
              </a:rPr>
              <a:t>✅  ANSWER 10  ·  Conditional Access</a:t>
            </a:r>
            <a:endParaRPr lang="en-US" sz="1200" dirty="0"/>
          </a:p>
        </p:txBody>
      </p:sp>
      <p:sp>
        <p:nvSpPr>
          <p:cNvPr id="5" name="Text 3"/>
          <p:cNvSpPr/>
          <p:nvPr/>
        </p:nvSpPr>
        <p:spPr>
          <a:xfrm>
            <a:off x="7498080" y="0"/>
            <a:ext cx="1499616" cy="594360"/>
          </a:xfrm>
          <a:prstGeom prst="rect">
            <a:avLst/>
          </a:prstGeom>
          <a:noFill/>
          <a:ln/>
        </p:spPr>
        <p:txBody>
          <a:bodyPr wrap="square" lIns="0" tIns="0" rIns="0" bIns="0" rtlCol="0" anchor="ctr"/>
          <a:lstStyle/>
          <a:p>
            <a:pPr algn="r" indent="0" marL="0">
              <a:buNone/>
            </a:pPr>
            <a:r>
              <a:rPr lang="en-US" sz="1200" b="1" dirty="0">
                <a:solidFill>
                  <a:srgbClr val="6C8EAD"/>
                </a:solidFill>
              </a:rPr>
              <a:t>10 / 20</a:t>
            </a:r>
            <a:endParaRPr lang="en-US" sz="1200" dirty="0"/>
          </a:p>
        </p:txBody>
      </p:sp>
      <p:sp>
        <p:nvSpPr>
          <p:cNvPr id="6" name="Shape 4"/>
          <p:cNvSpPr/>
          <p:nvPr/>
        </p:nvSpPr>
        <p:spPr>
          <a:xfrm>
            <a:off x="292608" y="658368"/>
            <a:ext cx="8558784" cy="475488"/>
          </a:xfrm>
          <a:prstGeom prst="rect">
            <a:avLst/>
          </a:prstGeom>
          <a:solidFill>
            <a:srgbClr val="E6F3E6"/>
          </a:solidFill>
          <a:ln w="25400">
            <a:solidFill>
              <a:srgbClr val="107C10"/>
            </a:solidFill>
            <a:prstDash val="solid"/>
          </a:ln>
        </p:spPr>
      </p:sp>
      <p:sp>
        <p:nvSpPr>
          <p:cNvPr id="7" name="Text 5"/>
          <p:cNvSpPr/>
          <p:nvPr/>
        </p:nvSpPr>
        <p:spPr>
          <a:xfrm>
            <a:off x="420624" y="658368"/>
            <a:ext cx="8321040" cy="475488"/>
          </a:xfrm>
          <a:prstGeom prst="rect">
            <a:avLst/>
          </a:prstGeom>
          <a:noFill/>
          <a:ln/>
        </p:spPr>
        <p:txBody>
          <a:bodyPr wrap="square" rtlCol="0" anchor="ctr"/>
          <a:lstStyle/>
          <a:p>
            <a:pPr indent="0" marL="0">
              <a:buNone/>
            </a:pPr>
            <a:r>
              <a:rPr lang="en-US" sz="1300" b="1" dirty="0">
                <a:solidFill>
                  <a:srgbClr val="107C10"/>
                </a:solidFill>
              </a:rPr>
              <a:t>✔  Correct: B — Conditional Access Policy with a device compliance grant condition</a:t>
            </a:r>
            <a:endParaRPr lang="en-US" sz="1300" dirty="0"/>
          </a:p>
        </p:txBody>
      </p:sp>
      <p:sp>
        <p:nvSpPr>
          <p:cNvPr id="8" name="Text 6"/>
          <p:cNvSpPr/>
          <p:nvPr/>
        </p:nvSpPr>
        <p:spPr>
          <a:xfrm>
            <a:off x="292608" y="1216152"/>
            <a:ext cx="8558784" cy="292608"/>
          </a:xfrm>
          <a:prstGeom prst="rect">
            <a:avLst/>
          </a:prstGeom>
          <a:noFill/>
          <a:ln/>
        </p:spPr>
        <p:txBody>
          <a:bodyPr wrap="square" rtlCol="0" anchor="ctr"/>
          <a:lstStyle/>
          <a:p>
            <a:pPr indent="0" marL="0">
              <a:buNone/>
            </a:pPr>
            <a:r>
              <a:rPr lang="en-US" sz="1200" b="1" dirty="0">
                <a:solidFill>
                  <a:srgbClr val="0A1628"/>
                </a:solidFill>
              </a:rPr>
              <a:t>Why this is correct</a:t>
            </a:r>
            <a:endParaRPr lang="en-US" sz="1200" dirty="0"/>
          </a:p>
        </p:txBody>
      </p:sp>
      <p:sp>
        <p:nvSpPr>
          <p:cNvPr id="9" name="Shape 7"/>
          <p:cNvSpPr/>
          <p:nvPr/>
        </p:nvSpPr>
        <p:spPr>
          <a:xfrm>
            <a:off x="292608" y="1517904"/>
            <a:ext cx="8558784" cy="1097280"/>
          </a:xfrm>
          <a:prstGeom prst="rect">
            <a:avLst/>
          </a:prstGeom>
          <a:solidFill>
            <a:srgbClr val="FFFFFF"/>
          </a:solidFill>
          <a:ln w="12700">
            <a:solidFill>
              <a:srgbClr val="C5D8EE"/>
            </a:solidFill>
            <a:prstDash val="solid"/>
          </a:ln>
        </p:spPr>
      </p:sp>
      <p:sp>
        <p:nvSpPr>
          <p:cNvPr id="10" name="Text 8"/>
          <p:cNvSpPr/>
          <p:nvPr/>
        </p:nvSpPr>
        <p:spPr>
          <a:xfrm>
            <a:off x="420624" y="1563624"/>
            <a:ext cx="8321040" cy="1005840"/>
          </a:xfrm>
          <a:prstGeom prst="rect">
            <a:avLst/>
          </a:prstGeom>
          <a:noFill/>
          <a:ln/>
        </p:spPr>
        <p:txBody>
          <a:bodyPr wrap="square" rtlCol="0" anchor="t"/>
          <a:lstStyle/>
          <a:p>
            <a:pPr indent="0" marL="0">
              <a:buNone/>
            </a:pPr>
            <a:r>
              <a:rPr lang="en-US" sz="1150" dirty="0">
                <a:solidFill>
                  <a:srgbClr val="1B2A3B"/>
                </a:solidFill>
              </a:rPr>
              <a:t>Conditional Access Policies in Microsoft Entra ID support grant conditions based on device compliance (managed via Intune) or Hybrid Azure AD Join status. When a device doesn't meet compliance, access is blocked — regardless of valid credentials. RBAC controls resource permissions, not sign-in device requirements. Azure Policy governs resources, not authentication paths.</a:t>
            </a:r>
            <a:endParaRPr lang="en-US" sz="1150" dirty="0"/>
          </a:p>
        </p:txBody>
      </p:sp>
      <p:sp>
        <p:nvSpPr>
          <p:cNvPr id="11" name="Text 9"/>
          <p:cNvSpPr/>
          <p:nvPr/>
        </p:nvSpPr>
        <p:spPr>
          <a:xfrm>
            <a:off x="292608" y="2697480"/>
            <a:ext cx="8558784" cy="292608"/>
          </a:xfrm>
          <a:prstGeom prst="rect">
            <a:avLst/>
          </a:prstGeom>
          <a:noFill/>
          <a:ln/>
        </p:spPr>
        <p:txBody>
          <a:bodyPr wrap="square" rtlCol="0" anchor="ctr"/>
          <a:lstStyle/>
          <a:p>
            <a:pPr indent="0" marL="0">
              <a:buNone/>
            </a:pPr>
            <a:r>
              <a:rPr lang="en-US" sz="1200" b="1" dirty="0">
                <a:solidFill>
                  <a:srgbClr val="0A1628"/>
                </a:solidFill>
              </a:rPr>
              <a:t>Why the other options are incorrect</a:t>
            </a:r>
            <a:endParaRPr lang="en-US" sz="1200" dirty="0"/>
          </a:p>
        </p:txBody>
      </p:sp>
      <p:sp>
        <p:nvSpPr>
          <p:cNvPr id="12" name="Shape 10"/>
          <p:cNvSpPr/>
          <p:nvPr/>
        </p:nvSpPr>
        <p:spPr>
          <a:xfrm>
            <a:off x="292608" y="3035808"/>
            <a:ext cx="8558784" cy="603504"/>
          </a:xfrm>
          <a:prstGeom prst="rect">
            <a:avLst/>
          </a:prstGeom>
          <a:solidFill>
            <a:srgbClr val="FAEAEA"/>
          </a:solidFill>
          <a:ln w="12700">
            <a:solidFill>
              <a:srgbClr val="F4AAAA"/>
            </a:solidFill>
            <a:prstDash val="solid"/>
          </a:ln>
        </p:spPr>
      </p:sp>
      <p:sp>
        <p:nvSpPr>
          <p:cNvPr id="13" name="Shape 11"/>
          <p:cNvSpPr/>
          <p:nvPr/>
        </p:nvSpPr>
        <p:spPr>
          <a:xfrm>
            <a:off x="384048" y="3172968"/>
            <a:ext cx="301752" cy="301752"/>
          </a:xfrm>
          <a:prstGeom prst="ellipse">
            <a:avLst/>
          </a:prstGeom>
          <a:solidFill>
            <a:srgbClr val="A80000"/>
          </a:solidFill>
          <a:ln w="12700">
            <a:solidFill>
              <a:srgbClr val="A80000"/>
            </a:solidFill>
            <a:prstDash val="solid"/>
          </a:ln>
        </p:spPr>
      </p:sp>
      <p:sp>
        <p:nvSpPr>
          <p:cNvPr id="14" name="Text 12"/>
          <p:cNvSpPr/>
          <p:nvPr/>
        </p:nvSpPr>
        <p:spPr>
          <a:xfrm>
            <a:off x="384048" y="3172968"/>
            <a:ext cx="301752" cy="301752"/>
          </a:xfrm>
          <a:prstGeom prst="rect">
            <a:avLst/>
          </a:prstGeom>
          <a:noFill/>
          <a:ln/>
        </p:spPr>
        <p:txBody>
          <a:bodyPr wrap="square" rtlCol="0" anchor="ctr"/>
          <a:lstStyle/>
          <a:p>
            <a:pPr algn="ctr" indent="0" marL="0">
              <a:buNone/>
            </a:pPr>
            <a:r>
              <a:rPr lang="en-US" sz="1100" b="1" dirty="0">
                <a:solidFill>
                  <a:srgbClr val="FFFFFF"/>
                </a:solidFill>
              </a:rPr>
              <a:t>A</a:t>
            </a:r>
            <a:endParaRPr lang="en-US" sz="1100" dirty="0"/>
          </a:p>
        </p:txBody>
      </p:sp>
      <p:sp>
        <p:nvSpPr>
          <p:cNvPr id="15" name="Text 13"/>
          <p:cNvSpPr/>
          <p:nvPr/>
        </p:nvSpPr>
        <p:spPr>
          <a:xfrm>
            <a:off x="768096" y="3090672"/>
            <a:ext cx="8010144" cy="493776"/>
          </a:xfrm>
          <a:prstGeom prst="rect">
            <a:avLst/>
          </a:prstGeom>
          <a:noFill/>
          <a:ln/>
        </p:spPr>
        <p:txBody>
          <a:bodyPr wrap="square" rtlCol="0" anchor="ctr"/>
          <a:lstStyle/>
          <a:p>
            <a:pPr indent="0" marL="0">
              <a:buNone/>
            </a:pPr>
            <a:r>
              <a:rPr lang="en-US" sz="1150" dirty="0">
                <a:solidFill>
                  <a:srgbClr val="1B2A3B"/>
                </a:solidFill>
              </a:rPr>
              <a:t>Azure RBAC does not have device-based conditions — it only controls what authenticated users can do with resources.</a:t>
            </a:r>
            <a:endParaRPr lang="en-US" sz="1150" dirty="0"/>
          </a:p>
        </p:txBody>
      </p:sp>
      <p:sp>
        <p:nvSpPr>
          <p:cNvPr id="16" name="Shape 14"/>
          <p:cNvSpPr/>
          <p:nvPr/>
        </p:nvSpPr>
        <p:spPr>
          <a:xfrm>
            <a:off x="292608" y="3712464"/>
            <a:ext cx="8558784" cy="603504"/>
          </a:xfrm>
          <a:prstGeom prst="rect">
            <a:avLst/>
          </a:prstGeom>
          <a:solidFill>
            <a:srgbClr val="FAEAEA"/>
          </a:solidFill>
          <a:ln w="12700">
            <a:solidFill>
              <a:srgbClr val="F4AAAA"/>
            </a:solidFill>
            <a:prstDash val="solid"/>
          </a:ln>
        </p:spPr>
      </p:sp>
      <p:sp>
        <p:nvSpPr>
          <p:cNvPr id="17" name="Shape 15"/>
          <p:cNvSpPr/>
          <p:nvPr/>
        </p:nvSpPr>
        <p:spPr>
          <a:xfrm>
            <a:off x="384048" y="3849624"/>
            <a:ext cx="301752" cy="301752"/>
          </a:xfrm>
          <a:prstGeom prst="ellipse">
            <a:avLst/>
          </a:prstGeom>
          <a:solidFill>
            <a:srgbClr val="A80000"/>
          </a:solidFill>
          <a:ln w="12700">
            <a:solidFill>
              <a:srgbClr val="A80000"/>
            </a:solidFill>
            <a:prstDash val="solid"/>
          </a:ln>
        </p:spPr>
      </p:sp>
      <p:sp>
        <p:nvSpPr>
          <p:cNvPr id="18" name="Text 16"/>
          <p:cNvSpPr/>
          <p:nvPr/>
        </p:nvSpPr>
        <p:spPr>
          <a:xfrm>
            <a:off x="384048" y="3849624"/>
            <a:ext cx="301752" cy="301752"/>
          </a:xfrm>
          <a:prstGeom prst="rect">
            <a:avLst/>
          </a:prstGeom>
          <a:noFill/>
          <a:ln/>
        </p:spPr>
        <p:txBody>
          <a:bodyPr wrap="square" rtlCol="0" anchor="ctr"/>
          <a:lstStyle/>
          <a:p>
            <a:pPr algn="ctr" indent="0" marL="0">
              <a:buNone/>
            </a:pPr>
            <a:r>
              <a:rPr lang="en-US" sz="1100" b="1" dirty="0">
                <a:solidFill>
                  <a:srgbClr val="FFFFFF"/>
                </a:solidFill>
              </a:rPr>
              <a:t>C</a:t>
            </a:r>
            <a:endParaRPr lang="en-US" sz="1100" dirty="0"/>
          </a:p>
        </p:txBody>
      </p:sp>
      <p:sp>
        <p:nvSpPr>
          <p:cNvPr id="19" name="Text 17"/>
          <p:cNvSpPr/>
          <p:nvPr/>
        </p:nvSpPr>
        <p:spPr>
          <a:xfrm>
            <a:off x="768096" y="3767328"/>
            <a:ext cx="8010144" cy="493776"/>
          </a:xfrm>
          <a:prstGeom prst="rect">
            <a:avLst/>
          </a:prstGeom>
          <a:noFill/>
          <a:ln/>
        </p:spPr>
        <p:txBody>
          <a:bodyPr wrap="square" rtlCol="0" anchor="ctr"/>
          <a:lstStyle/>
          <a:p>
            <a:pPr indent="0" marL="0">
              <a:buNone/>
            </a:pPr>
            <a:r>
              <a:rPr lang="en-US" sz="1150" dirty="0">
                <a:solidFill>
                  <a:srgbClr val="1B2A3B"/>
                </a:solidFill>
              </a:rPr>
              <a:t>Entra ID B2B is for external identity collaboration, not for enforcing device compliance on internal users.</a:t>
            </a:r>
            <a:endParaRPr lang="en-US" sz="1150" dirty="0"/>
          </a:p>
        </p:txBody>
      </p:sp>
      <p:sp>
        <p:nvSpPr>
          <p:cNvPr id="20" name="Shape 18"/>
          <p:cNvSpPr/>
          <p:nvPr/>
        </p:nvSpPr>
        <p:spPr>
          <a:xfrm>
            <a:off x="292608" y="4389120"/>
            <a:ext cx="8558784" cy="603504"/>
          </a:xfrm>
          <a:prstGeom prst="rect">
            <a:avLst/>
          </a:prstGeom>
          <a:solidFill>
            <a:srgbClr val="FAEAEA"/>
          </a:solidFill>
          <a:ln w="12700">
            <a:solidFill>
              <a:srgbClr val="F4AAAA"/>
            </a:solidFill>
            <a:prstDash val="solid"/>
          </a:ln>
        </p:spPr>
      </p:sp>
      <p:sp>
        <p:nvSpPr>
          <p:cNvPr id="21" name="Shape 19"/>
          <p:cNvSpPr/>
          <p:nvPr/>
        </p:nvSpPr>
        <p:spPr>
          <a:xfrm>
            <a:off x="384048" y="4526280"/>
            <a:ext cx="301752" cy="301752"/>
          </a:xfrm>
          <a:prstGeom prst="ellipse">
            <a:avLst/>
          </a:prstGeom>
          <a:solidFill>
            <a:srgbClr val="A80000"/>
          </a:solidFill>
          <a:ln w="12700">
            <a:solidFill>
              <a:srgbClr val="A80000"/>
            </a:solidFill>
            <a:prstDash val="solid"/>
          </a:ln>
        </p:spPr>
      </p:sp>
      <p:sp>
        <p:nvSpPr>
          <p:cNvPr id="22" name="Text 20"/>
          <p:cNvSpPr/>
          <p:nvPr/>
        </p:nvSpPr>
        <p:spPr>
          <a:xfrm>
            <a:off x="384048" y="4526280"/>
            <a:ext cx="301752" cy="301752"/>
          </a:xfrm>
          <a:prstGeom prst="rect">
            <a:avLst/>
          </a:prstGeom>
          <a:noFill/>
          <a:ln/>
        </p:spPr>
        <p:txBody>
          <a:bodyPr wrap="square" rtlCol="0" anchor="ctr"/>
          <a:lstStyle/>
          <a:p>
            <a:pPr algn="ctr" indent="0" marL="0">
              <a:buNone/>
            </a:pPr>
            <a:r>
              <a:rPr lang="en-US" sz="1100" b="1" dirty="0">
                <a:solidFill>
                  <a:srgbClr val="FFFFFF"/>
                </a:solidFill>
              </a:rPr>
              <a:t>D</a:t>
            </a:r>
            <a:endParaRPr lang="en-US" sz="1100" dirty="0"/>
          </a:p>
        </p:txBody>
      </p:sp>
      <p:sp>
        <p:nvSpPr>
          <p:cNvPr id="23" name="Text 21"/>
          <p:cNvSpPr/>
          <p:nvPr/>
        </p:nvSpPr>
        <p:spPr>
          <a:xfrm>
            <a:off x="768096" y="4443984"/>
            <a:ext cx="8010144" cy="493776"/>
          </a:xfrm>
          <a:prstGeom prst="rect">
            <a:avLst/>
          </a:prstGeom>
          <a:noFill/>
          <a:ln/>
        </p:spPr>
        <p:txBody>
          <a:bodyPr wrap="square" rtlCol="0" anchor="ctr"/>
          <a:lstStyle/>
          <a:p>
            <a:pPr indent="0" marL="0">
              <a:buNone/>
            </a:pPr>
            <a:r>
              <a:rPr lang="en-US" sz="1150" dirty="0">
                <a:solidFill>
                  <a:srgbClr val="1B2A3B"/>
                </a:solidFill>
              </a:rPr>
              <a:t>Azure Policy manages resource configurations and compliance, not the authentication or device state of users signing in.</a:t>
            </a:r>
            <a:endParaRPr lang="en-US" sz="11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4F8FD"/>
        </a:solidFill>
      </p:bgPr>
    </p:bg>
    <p:spTree>
      <p:nvGrpSpPr>
        <p:cNvPr id="1" name=""/>
        <p:cNvGrpSpPr/>
        <p:nvPr/>
      </p:nvGrpSpPr>
      <p:grpSpPr>
        <a:xfrm>
          <a:off x="0" y="0"/>
          <a:ext cx="0" cy="0"/>
          <a:chOff x="0" y="0"/>
          <a:chExt cx="0" cy="0"/>
        </a:xfrm>
      </p:grpSpPr>
      <p:sp>
        <p:nvSpPr>
          <p:cNvPr id="2" name="Shape 0"/>
          <p:cNvSpPr/>
          <p:nvPr/>
        </p:nvSpPr>
        <p:spPr>
          <a:xfrm>
            <a:off x="0" y="0"/>
            <a:ext cx="146304" cy="5143500"/>
          </a:xfrm>
          <a:prstGeom prst="rect">
            <a:avLst/>
          </a:prstGeom>
          <a:solidFill>
            <a:srgbClr val="0078D4"/>
          </a:solidFill>
          <a:ln w="12700">
            <a:solidFill>
              <a:srgbClr val="0078D4"/>
            </a:solidFill>
            <a:prstDash val="solid"/>
          </a:ln>
        </p:spPr>
      </p:sp>
      <p:sp>
        <p:nvSpPr>
          <p:cNvPr id="3" name="Shape 1"/>
          <p:cNvSpPr/>
          <p:nvPr/>
        </p:nvSpPr>
        <p:spPr>
          <a:xfrm>
            <a:off x="146304" y="0"/>
            <a:ext cx="8997696" cy="594360"/>
          </a:xfrm>
          <a:prstGeom prst="rect">
            <a:avLst/>
          </a:prstGeom>
          <a:solidFill>
            <a:srgbClr val="0A1628"/>
          </a:solidFill>
          <a:ln w="12700">
            <a:solidFill>
              <a:srgbClr val="0A1628"/>
            </a:solidFill>
            <a:prstDash val="solid"/>
          </a:ln>
        </p:spPr>
      </p:sp>
      <p:sp>
        <p:nvSpPr>
          <p:cNvPr id="4" name="Text 2"/>
          <p:cNvSpPr/>
          <p:nvPr/>
        </p:nvSpPr>
        <p:spPr>
          <a:xfrm>
            <a:off x="292608" y="0"/>
            <a:ext cx="6583680" cy="594360"/>
          </a:xfrm>
          <a:prstGeom prst="rect">
            <a:avLst/>
          </a:prstGeom>
          <a:noFill/>
          <a:ln/>
        </p:spPr>
        <p:txBody>
          <a:bodyPr wrap="square" lIns="0" tIns="0" rIns="0" bIns="0" rtlCol="0" anchor="ctr"/>
          <a:lstStyle/>
          <a:p>
            <a:pPr indent="0" marL="0">
              <a:buNone/>
            </a:pPr>
            <a:r>
              <a:rPr lang="en-US" sz="1200" b="1" dirty="0">
                <a:solidFill>
                  <a:srgbClr val="50E6FF"/>
                </a:solidFill>
              </a:rPr>
              <a:t>❓  QUESTION 11  ·  Subscriptions</a:t>
            </a:r>
            <a:endParaRPr lang="en-US" sz="1200" dirty="0"/>
          </a:p>
        </p:txBody>
      </p:sp>
      <p:sp>
        <p:nvSpPr>
          <p:cNvPr id="5" name="Text 3"/>
          <p:cNvSpPr/>
          <p:nvPr/>
        </p:nvSpPr>
        <p:spPr>
          <a:xfrm>
            <a:off x="7498080" y="0"/>
            <a:ext cx="1499616" cy="594360"/>
          </a:xfrm>
          <a:prstGeom prst="rect">
            <a:avLst/>
          </a:prstGeom>
          <a:noFill/>
          <a:ln/>
        </p:spPr>
        <p:txBody>
          <a:bodyPr wrap="square" lIns="0" tIns="0" rIns="0" bIns="0" rtlCol="0" anchor="ctr"/>
          <a:lstStyle/>
          <a:p>
            <a:pPr algn="r" indent="0" marL="0">
              <a:buNone/>
            </a:pPr>
            <a:r>
              <a:rPr lang="en-US" sz="1200" b="1" dirty="0">
                <a:solidFill>
                  <a:srgbClr val="6C8EAD"/>
                </a:solidFill>
              </a:rPr>
              <a:t>11 / 20</a:t>
            </a:r>
            <a:endParaRPr lang="en-US" sz="1200" dirty="0"/>
          </a:p>
        </p:txBody>
      </p:sp>
      <p:sp>
        <p:nvSpPr>
          <p:cNvPr id="6" name="Shape 4"/>
          <p:cNvSpPr/>
          <p:nvPr/>
        </p:nvSpPr>
        <p:spPr>
          <a:xfrm>
            <a:off x="292608" y="685800"/>
            <a:ext cx="1097280" cy="256032"/>
          </a:xfrm>
          <a:prstGeom prst="rect">
            <a:avLst/>
          </a:prstGeom>
          <a:solidFill>
            <a:srgbClr val="0078D4"/>
          </a:solidFill>
          <a:ln w="12700">
            <a:solidFill>
              <a:srgbClr val="0078D4"/>
            </a:solidFill>
            <a:prstDash val="solid"/>
          </a:ln>
        </p:spPr>
      </p:sp>
      <p:sp>
        <p:nvSpPr>
          <p:cNvPr id="7" name="Text 5"/>
          <p:cNvSpPr/>
          <p:nvPr/>
        </p:nvSpPr>
        <p:spPr>
          <a:xfrm>
            <a:off x="292608" y="685800"/>
            <a:ext cx="1097280" cy="256032"/>
          </a:xfrm>
          <a:prstGeom prst="rect">
            <a:avLst/>
          </a:prstGeom>
          <a:noFill/>
          <a:ln/>
        </p:spPr>
        <p:txBody>
          <a:bodyPr wrap="square" rtlCol="0" anchor="ctr"/>
          <a:lstStyle/>
          <a:p>
            <a:pPr algn="ctr" indent="0" marL="0">
              <a:buNone/>
            </a:pPr>
            <a:r>
              <a:rPr lang="en-US" sz="800" b="1" dirty="0">
                <a:solidFill>
                  <a:srgbClr val="FFFFFF"/>
                </a:solidFill>
              </a:rPr>
              <a:t>SCENARIO</a:t>
            </a:r>
            <a:endParaRPr lang="en-US" sz="800" dirty="0"/>
          </a:p>
        </p:txBody>
      </p:sp>
      <p:sp>
        <p:nvSpPr>
          <p:cNvPr id="8" name="Shape 6"/>
          <p:cNvSpPr/>
          <p:nvPr/>
        </p:nvSpPr>
        <p:spPr>
          <a:xfrm>
            <a:off x="292608" y="978408"/>
            <a:ext cx="8558784" cy="960120"/>
          </a:xfrm>
          <a:prstGeom prst="rect">
            <a:avLst/>
          </a:prstGeom>
          <a:solidFill>
            <a:srgbClr val="EBF4FF"/>
          </a:solidFill>
          <a:ln w="12700">
            <a:solidFill>
              <a:srgbClr val="0078D4"/>
            </a:solidFill>
            <a:prstDash val="solid"/>
          </a:ln>
        </p:spPr>
      </p:sp>
      <p:sp>
        <p:nvSpPr>
          <p:cNvPr id="9" name="Text 7"/>
          <p:cNvSpPr/>
          <p:nvPr/>
        </p:nvSpPr>
        <p:spPr>
          <a:xfrm>
            <a:off x="420624" y="1024128"/>
            <a:ext cx="8321040" cy="868680"/>
          </a:xfrm>
          <a:prstGeom prst="rect">
            <a:avLst/>
          </a:prstGeom>
          <a:noFill/>
          <a:ln/>
        </p:spPr>
        <p:txBody>
          <a:bodyPr wrap="square" rtlCol="0" anchor="t"/>
          <a:lstStyle/>
          <a:p>
            <a:pPr indent="0" marL="0">
              <a:buNone/>
            </a:pPr>
            <a:r>
              <a:rPr lang="en-US" sz="1250" dirty="0">
                <a:solidFill>
                  <a:srgbClr val="1B2A3B"/>
                </a:solidFill>
              </a:rPr>
              <a:t>A startup has one Azure subscription shared by developers and production workloads. The finance team notices it's impossible to separate development costs from production costs in billing reports.</a:t>
            </a:r>
            <a:endParaRPr lang="en-US" sz="1250" dirty="0"/>
          </a:p>
        </p:txBody>
      </p:sp>
      <p:sp>
        <p:nvSpPr>
          <p:cNvPr id="10" name="Text 8"/>
          <p:cNvSpPr/>
          <p:nvPr/>
        </p:nvSpPr>
        <p:spPr>
          <a:xfrm>
            <a:off x="292608" y="2048256"/>
            <a:ext cx="8558784" cy="420624"/>
          </a:xfrm>
          <a:prstGeom prst="rect">
            <a:avLst/>
          </a:prstGeom>
          <a:noFill/>
          <a:ln/>
        </p:spPr>
        <p:txBody>
          <a:bodyPr wrap="square" rtlCol="0" anchor="ctr"/>
          <a:lstStyle/>
          <a:p>
            <a:pPr indent="0" marL="0">
              <a:buNone/>
            </a:pPr>
            <a:r>
              <a:rPr lang="en-US" sz="1350" b="1" dirty="0">
                <a:solidFill>
                  <a:srgbClr val="0A1628"/>
                </a:solidFill>
              </a:rPr>
              <a:t>What is the recommended Azure architectural change?</a:t>
            </a:r>
            <a:endParaRPr lang="en-US" sz="1350" dirty="0"/>
          </a:p>
        </p:txBody>
      </p:sp>
      <p:sp>
        <p:nvSpPr>
          <p:cNvPr id="11" name="Shape 9"/>
          <p:cNvSpPr/>
          <p:nvPr/>
        </p:nvSpPr>
        <p:spPr>
          <a:xfrm>
            <a:off x="292608" y="2523744"/>
            <a:ext cx="8558784" cy="539496"/>
          </a:xfrm>
          <a:prstGeom prst="rect">
            <a:avLst/>
          </a:prstGeom>
          <a:solidFill>
            <a:srgbClr val="FFFFFF"/>
          </a:solidFill>
          <a:ln w="12700">
            <a:solidFill>
              <a:srgbClr val="C5D8EE"/>
            </a:solidFill>
            <a:prstDash val="solid"/>
          </a:ln>
        </p:spPr>
      </p:sp>
      <p:sp>
        <p:nvSpPr>
          <p:cNvPr id="12" name="Shape 10"/>
          <p:cNvSpPr/>
          <p:nvPr/>
        </p:nvSpPr>
        <p:spPr>
          <a:xfrm>
            <a:off x="384048" y="2633472"/>
            <a:ext cx="329184" cy="329184"/>
          </a:xfrm>
          <a:prstGeom prst="ellipse">
            <a:avLst/>
          </a:prstGeom>
          <a:solidFill>
            <a:srgbClr val="1B3A5C"/>
          </a:solidFill>
          <a:ln w="12700">
            <a:solidFill>
              <a:srgbClr val="1B3A5C"/>
            </a:solidFill>
            <a:prstDash val="solid"/>
          </a:ln>
        </p:spPr>
      </p:sp>
      <p:sp>
        <p:nvSpPr>
          <p:cNvPr id="13" name="Text 11"/>
          <p:cNvSpPr/>
          <p:nvPr/>
        </p:nvSpPr>
        <p:spPr>
          <a:xfrm>
            <a:off x="384048" y="2633472"/>
            <a:ext cx="329184" cy="329184"/>
          </a:xfrm>
          <a:prstGeom prst="rect">
            <a:avLst/>
          </a:prstGeom>
          <a:noFill/>
          <a:ln/>
        </p:spPr>
        <p:txBody>
          <a:bodyPr wrap="square" rtlCol="0" anchor="ctr"/>
          <a:lstStyle/>
          <a:p>
            <a:pPr algn="ctr" indent="0" marL="0">
              <a:buNone/>
            </a:pPr>
            <a:r>
              <a:rPr lang="en-US" sz="1100" b="1" dirty="0">
                <a:solidFill>
                  <a:srgbClr val="FFFFFF"/>
                </a:solidFill>
              </a:rPr>
              <a:t>A</a:t>
            </a:r>
            <a:endParaRPr lang="en-US" sz="1100" dirty="0"/>
          </a:p>
        </p:txBody>
      </p:sp>
      <p:sp>
        <p:nvSpPr>
          <p:cNvPr id="14" name="Text 12"/>
          <p:cNvSpPr/>
          <p:nvPr/>
        </p:nvSpPr>
        <p:spPr>
          <a:xfrm>
            <a:off x="786384" y="2615184"/>
            <a:ext cx="7991856" cy="365760"/>
          </a:xfrm>
          <a:prstGeom prst="rect">
            <a:avLst/>
          </a:prstGeom>
          <a:noFill/>
          <a:ln/>
        </p:spPr>
        <p:txBody>
          <a:bodyPr wrap="square" rtlCol="0" anchor="ctr"/>
          <a:lstStyle/>
          <a:p>
            <a:pPr indent="0" marL="0">
              <a:buNone/>
            </a:pPr>
            <a:r>
              <a:rPr lang="en-US" sz="1250" dirty="0">
                <a:solidFill>
                  <a:srgbClr val="1B2A3B"/>
                </a:solidFill>
              </a:rPr>
              <a:t>Create separate Resource Groups for Dev and Prod within the same subscription</a:t>
            </a:r>
            <a:endParaRPr lang="en-US" sz="1250" dirty="0"/>
          </a:p>
        </p:txBody>
      </p:sp>
      <p:sp>
        <p:nvSpPr>
          <p:cNvPr id="15" name="Shape 13"/>
          <p:cNvSpPr/>
          <p:nvPr/>
        </p:nvSpPr>
        <p:spPr>
          <a:xfrm>
            <a:off x="292608" y="3154680"/>
            <a:ext cx="8558784" cy="539496"/>
          </a:xfrm>
          <a:prstGeom prst="rect">
            <a:avLst/>
          </a:prstGeom>
          <a:solidFill>
            <a:srgbClr val="FFFFFF"/>
          </a:solidFill>
          <a:ln w="12700">
            <a:solidFill>
              <a:srgbClr val="C5D8EE"/>
            </a:solidFill>
            <a:prstDash val="solid"/>
          </a:ln>
        </p:spPr>
      </p:sp>
      <p:sp>
        <p:nvSpPr>
          <p:cNvPr id="16" name="Shape 14"/>
          <p:cNvSpPr/>
          <p:nvPr/>
        </p:nvSpPr>
        <p:spPr>
          <a:xfrm>
            <a:off x="384048" y="3264408"/>
            <a:ext cx="329184" cy="329184"/>
          </a:xfrm>
          <a:prstGeom prst="ellipse">
            <a:avLst/>
          </a:prstGeom>
          <a:solidFill>
            <a:srgbClr val="1B3A5C"/>
          </a:solidFill>
          <a:ln w="12700">
            <a:solidFill>
              <a:srgbClr val="1B3A5C"/>
            </a:solidFill>
            <a:prstDash val="solid"/>
          </a:ln>
        </p:spPr>
      </p:sp>
      <p:sp>
        <p:nvSpPr>
          <p:cNvPr id="17" name="Text 15"/>
          <p:cNvSpPr/>
          <p:nvPr/>
        </p:nvSpPr>
        <p:spPr>
          <a:xfrm>
            <a:off x="384048" y="3264408"/>
            <a:ext cx="329184" cy="329184"/>
          </a:xfrm>
          <a:prstGeom prst="rect">
            <a:avLst/>
          </a:prstGeom>
          <a:noFill/>
          <a:ln/>
        </p:spPr>
        <p:txBody>
          <a:bodyPr wrap="square" rtlCol="0" anchor="ctr"/>
          <a:lstStyle/>
          <a:p>
            <a:pPr algn="ctr" indent="0" marL="0">
              <a:buNone/>
            </a:pPr>
            <a:r>
              <a:rPr lang="en-US" sz="1100" b="1" dirty="0">
                <a:solidFill>
                  <a:srgbClr val="FFFFFF"/>
                </a:solidFill>
              </a:rPr>
              <a:t>B</a:t>
            </a:r>
            <a:endParaRPr lang="en-US" sz="1100" dirty="0"/>
          </a:p>
        </p:txBody>
      </p:sp>
      <p:sp>
        <p:nvSpPr>
          <p:cNvPr id="18" name="Text 16"/>
          <p:cNvSpPr/>
          <p:nvPr/>
        </p:nvSpPr>
        <p:spPr>
          <a:xfrm>
            <a:off x="786384" y="3246120"/>
            <a:ext cx="7991856" cy="365760"/>
          </a:xfrm>
          <a:prstGeom prst="rect">
            <a:avLst/>
          </a:prstGeom>
          <a:noFill/>
          <a:ln/>
        </p:spPr>
        <p:txBody>
          <a:bodyPr wrap="square" rtlCol="0" anchor="ctr"/>
          <a:lstStyle/>
          <a:p>
            <a:pPr indent="0" marL="0">
              <a:buNone/>
            </a:pPr>
            <a:r>
              <a:rPr lang="en-US" sz="1250" dirty="0">
                <a:solidFill>
                  <a:srgbClr val="1B2A3B"/>
                </a:solidFill>
              </a:rPr>
              <a:t>Create separate Azure Subscriptions for Dev and Production environments</a:t>
            </a:r>
            <a:endParaRPr lang="en-US" sz="1250" dirty="0"/>
          </a:p>
        </p:txBody>
      </p:sp>
      <p:sp>
        <p:nvSpPr>
          <p:cNvPr id="19" name="Shape 17"/>
          <p:cNvSpPr/>
          <p:nvPr/>
        </p:nvSpPr>
        <p:spPr>
          <a:xfrm>
            <a:off x="292608" y="3785616"/>
            <a:ext cx="8558784" cy="539496"/>
          </a:xfrm>
          <a:prstGeom prst="rect">
            <a:avLst/>
          </a:prstGeom>
          <a:solidFill>
            <a:srgbClr val="FFFFFF"/>
          </a:solidFill>
          <a:ln w="12700">
            <a:solidFill>
              <a:srgbClr val="C5D8EE"/>
            </a:solidFill>
            <a:prstDash val="solid"/>
          </a:ln>
        </p:spPr>
      </p:sp>
      <p:sp>
        <p:nvSpPr>
          <p:cNvPr id="20" name="Shape 18"/>
          <p:cNvSpPr/>
          <p:nvPr/>
        </p:nvSpPr>
        <p:spPr>
          <a:xfrm>
            <a:off x="384048" y="3895344"/>
            <a:ext cx="329184" cy="329184"/>
          </a:xfrm>
          <a:prstGeom prst="ellipse">
            <a:avLst/>
          </a:prstGeom>
          <a:solidFill>
            <a:srgbClr val="1B3A5C"/>
          </a:solidFill>
          <a:ln w="12700">
            <a:solidFill>
              <a:srgbClr val="1B3A5C"/>
            </a:solidFill>
            <a:prstDash val="solid"/>
          </a:ln>
        </p:spPr>
      </p:sp>
      <p:sp>
        <p:nvSpPr>
          <p:cNvPr id="21" name="Text 19"/>
          <p:cNvSpPr/>
          <p:nvPr/>
        </p:nvSpPr>
        <p:spPr>
          <a:xfrm>
            <a:off x="384048" y="3895344"/>
            <a:ext cx="329184" cy="329184"/>
          </a:xfrm>
          <a:prstGeom prst="rect">
            <a:avLst/>
          </a:prstGeom>
          <a:noFill/>
          <a:ln/>
        </p:spPr>
        <p:txBody>
          <a:bodyPr wrap="square" rtlCol="0" anchor="ctr"/>
          <a:lstStyle/>
          <a:p>
            <a:pPr algn="ctr" indent="0" marL="0">
              <a:buNone/>
            </a:pPr>
            <a:r>
              <a:rPr lang="en-US" sz="1100" b="1" dirty="0">
                <a:solidFill>
                  <a:srgbClr val="FFFFFF"/>
                </a:solidFill>
              </a:rPr>
              <a:t>C</a:t>
            </a:r>
            <a:endParaRPr lang="en-US" sz="1100" dirty="0"/>
          </a:p>
        </p:txBody>
      </p:sp>
      <p:sp>
        <p:nvSpPr>
          <p:cNvPr id="22" name="Text 20"/>
          <p:cNvSpPr/>
          <p:nvPr/>
        </p:nvSpPr>
        <p:spPr>
          <a:xfrm>
            <a:off x="786384" y="3877056"/>
            <a:ext cx="7991856" cy="365760"/>
          </a:xfrm>
          <a:prstGeom prst="rect">
            <a:avLst/>
          </a:prstGeom>
          <a:noFill/>
          <a:ln/>
        </p:spPr>
        <p:txBody>
          <a:bodyPr wrap="square" rtlCol="0" anchor="ctr"/>
          <a:lstStyle/>
          <a:p>
            <a:pPr indent="0" marL="0">
              <a:buNone/>
            </a:pPr>
            <a:r>
              <a:rPr lang="en-US" sz="1250" dirty="0">
                <a:solidFill>
                  <a:srgbClr val="1B2A3B"/>
                </a:solidFill>
              </a:rPr>
              <a:t>Apply Cost Management budgets and tags to differentiate environments</a:t>
            </a:r>
            <a:endParaRPr lang="en-US" sz="1250" dirty="0"/>
          </a:p>
        </p:txBody>
      </p:sp>
      <p:sp>
        <p:nvSpPr>
          <p:cNvPr id="23" name="Shape 21"/>
          <p:cNvSpPr/>
          <p:nvPr/>
        </p:nvSpPr>
        <p:spPr>
          <a:xfrm>
            <a:off x="292608" y="4416552"/>
            <a:ext cx="8558784" cy="539496"/>
          </a:xfrm>
          <a:prstGeom prst="rect">
            <a:avLst/>
          </a:prstGeom>
          <a:solidFill>
            <a:srgbClr val="FFFFFF"/>
          </a:solidFill>
          <a:ln w="12700">
            <a:solidFill>
              <a:srgbClr val="C5D8EE"/>
            </a:solidFill>
            <a:prstDash val="solid"/>
          </a:ln>
        </p:spPr>
      </p:sp>
      <p:sp>
        <p:nvSpPr>
          <p:cNvPr id="24" name="Shape 22"/>
          <p:cNvSpPr/>
          <p:nvPr/>
        </p:nvSpPr>
        <p:spPr>
          <a:xfrm>
            <a:off x="384048" y="4526280"/>
            <a:ext cx="329184" cy="329184"/>
          </a:xfrm>
          <a:prstGeom prst="ellipse">
            <a:avLst/>
          </a:prstGeom>
          <a:solidFill>
            <a:srgbClr val="1B3A5C"/>
          </a:solidFill>
          <a:ln w="12700">
            <a:solidFill>
              <a:srgbClr val="1B3A5C"/>
            </a:solidFill>
            <a:prstDash val="solid"/>
          </a:ln>
        </p:spPr>
      </p:sp>
      <p:sp>
        <p:nvSpPr>
          <p:cNvPr id="25" name="Text 23"/>
          <p:cNvSpPr/>
          <p:nvPr/>
        </p:nvSpPr>
        <p:spPr>
          <a:xfrm>
            <a:off x="384048" y="4526280"/>
            <a:ext cx="329184" cy="329184"/>
          </a:xfrm>
          <a:prstGeom prst="rect">
            <a:avLst/>
          </a:prstGeom>
          <a:noFill/>
          <a:ln/>
        </p:spPr>
        <p:txBody>
          <a:bodyPr wrap="square" rtlCol="0" anchor="ctr"/>
          <a:lstStyle/>
          <a:p>
            <a:pPr algn="ctr" indent="0" marL="0">
              <a:buNone/>
            </a:pPr>
            <a:r>
              <a:rPr lang="en-US" sz="1100" b="1" dirty="0">
                <a:solidFill>
                  <a:srgbClr val="FFFFFF"/>
                </a:solidFill>
              </a:rPr>
              <a:t>D</a:t>
            </a:r>
            <a:endParaRPr lang="en-US" sz="1100" dirty="0"/>
          </a:p>
        </p:txBody>
      </p:sp>
      <p:sp>
        <p:nvSpPr>
          <p:cNvPr id="26" name="Text 24"/>
          <p:cNvSpPr/>
          <p:nvPr/>
        </p:nvSpPr>
        <p:spPr>
          <a:xfrm>
            <a:off x="786384" y="4507992"/>
            <a:ext cx="7991856" cy="365760"/>
          </a:xfrm>
          <a:prstGeom prst="rect">
            <a:avLst/>
          </a:prstGeom>
          <a:noFill/>
          <a:ln/>
        </p:spPr>
        <p:txBody>
          <a:bodyPr wrap="square" rtlCol="0" anchor="ctr"/>
          <a:lstStyle/>
          <a:p>
            <a:pPr indent="0" marL="0">
              <a:buNone/>
            </a:pPr>
            <a:r>
              <a:rPr lang="en-US" sz="1250" dirty="0">
                <a:solidFill>
                  <a:srgbClr val="1B2A3B"/>
                </a:solidFill>
              </a:rPr>
              <a:t>Create a Management Group and use Azure Policy to separate billing</a:t>
            </a:r>
            <a:endParaRPr lang="en-US" sz="12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4F8FD"/>
        </a:solidFill>
      </p:bgPr>
    </p:bg>
    <p:spTree>
      <p:nvGrpSpPr>
        <p:cNvPr id="1" name=""/>
        <p:cNvGrpSpPr/>
        <p:nvPr/>
      </p:nvGrpSpPr>
      <p:grpSpPr>
        <a:xfrm>
          <a:off x="0" y="0"/>
          <a:ext cx="0" cy="0"/>
          <a:chOff x="0" y="0"/>
          <a:chExt cx="0" cy="0"/>
        </a:xfrm>
      </p:grpSpPr>
      <p:sp>
        <p:nvSpPr>
          <p:cNvPr id="2" name="Shape 0"/>
          <p:cNvSpPr/>
          <p:nvPr/>
        </p:nvSpPr>
        <p:spPr>
          <a:xfrm>
            <a:off x="0" y="0"/>
            <a:ext cx="146304" cy="5143500"/>
          </a:xfrm>
          <a:prstGeom prst="rect">
            <a:avLst/>
          </a:prstGeom>
          <a:solidFill>
            <a:srgbClr val="107C10"/>
          </a:solidFill>
          <a:ln w="12700">
            <a:solidFill>
              <a:srgbClr val="107C10"/>
            </a:solidFill>
            <a:prstDash val="solid"/>
          </a:ln>
        </p:spPr>
      </p:sp>
      <p:sp>
        <p:nvSpPr>
          <p:cNvPr id="3" name="Shape 1"/>
          <p:cNvSpPr/>
          <p:nvPr/>
        </p:nvSpPr>
        <p:spPr>
          <a:xfrm>
            <a:off x="146304" y="0"/>
            <a:ext cx="8997696" cy="594360"/>
          </a:xfrm>
          <a:prstGeom prst="rect">
            <a:avLst/>
          </a:prstGeom>
          <a:solidFill>
            <a:srgbClr val="0A1628"/>
          </a:solidFill>
          <a:ln w="12700">
            <a:solidFill>
              <a:srgbClr val="0A1628"/>
            </a:solidFill>
            <a:prstDash val="solid"/>
          </a:ln>
        </p:spPr>
      </p:sp>
      <p:sp>
        <p:nvSpPr>
          <p:cNvPr id="4" name="Text 2"/>
          <p:cNvSpPr/>
          <p:nvPr/>
        </p:nvSpPr>
        <p:spPr>
          <a:xfrm>
            <a:off x="292608" y="0"/>
            <a:ext cx="6583680" cy="594360"/>
          </a:xfrm>
          <a:prstGeom prst="rect">
            <a:avLst/>
          </a:prstGeom>
          <a:noFill/>
          <a:ln/>
        </p:spPr>
        <p:txBody>
          <a:bodyPr wrap="square" lIns="0" tIns="0" rIns="0" bIns="0" rtlCol="0" anchor="ctr"/>
          <a:lstStyle/>
          <a:p>
            <a:pPr indent="0" marL="0">
              <a:buNone/>
            </a:pPr>
            <a:r>
              <a:rPr lang="en-US" sz="1200" b="1" dirty="0">
                <a:solidFill>
                  <a:srgbClr val="00FF90"/>
                </a:solidFill>
              </a:rPr>
              <a:t>✅  ANSWER 11  ·  Subscriptions</a:t>
            </a:r>
            <a:endParaRPr lang="en-US" sz="1200" dirty="0"/>
          </a:p>
        </p:txBody>
      </p:sp>
      <p:sp>
        <p:nvSpPr>
          <p:cNvPr id="5" name="Text 3"/>
          <p:cNvSpPr/>
          <p:nvPr/>
        </p:nvSpPr>
        <p:spPr>
          <a:xfrm>
            <a:off x="7498080" y="0"/>
            <a:ext cx="1499616" cy="594360"/>
          </a:xfrm>
          <a:prstGeom prst="rect">
            <a:avLst/>
          </a:prstGeom>
          <a:noFill/>
          <a:ln/>
        </p:spPr>
        <p:txBody>
          <a:bodyPr wrap="square" lIns="0" tIns="0" rIns="0" bIns="0" rtlCol="0" anchor="ctr"/>
          <a:lstStyle/>
          <a:p>
            <a:pPr algn="r" indent="0" marL="0">
              <a:buNone/>
            </a:pPr>
            <a:r>
              <a:rPr lang="en-US" sz="1200" b="1" dirty="0">
                <a:solidFill>
                  <a:srgbClr val="6C8EAD"/>
                </a:solidFill>
              </a:rPr>
              <a:t>11 / 20</a:t>
            </a:r>
            <a:endParaRPr lang="en-US" sz="1200" dirty="0"/>
          </a:p>
        </p:txBody>
      </p:sp>
      <p:sp>
        <p:nvSpPr>
          <p:cNvPr id="6" name="Shape 4"/>
          <p:cNvSpPr/>
          <p:nvPr/>
        </p:nvSpPr>
        <p:spPr>
          <a:xfrm>
            <a:off x="292608" y="658368"/>
            <a:ext cx="8558784" cy="475488"/>
          </a:xfrm>
          <a:prstGeom prst="rect">
            <a:avLst/>
          </a:prstGeom>
          <a:solidFill>
            <a:srgbClr val="E6F3E6"/>
          </a:solidFill>
          <a:ln w="25400">
            <a:solidFill>
              <a:srgbClr val="107C10"/>
            </a:solidFill>
            <a:prstDash val="solid"/>
          </a:ln>
        </p:spPr>
      </p:sp>
      <p:sp>
        <p:nvSpPr>
          <p:cNvPr id="7" name="Text 5"/>
          <p:cNvSpPr/>
          <p:nvPr/>
        </p:nvSpPr>
        <p:spPr>
          <a:xfrm>
            <a:off x="420624" y="658368"/>
            <a:ext cx="8321040" cy="475488"/>
          </a:xfrm>
          <a:prstGeom prst="rect">
            <a:avLst/>
          </a:prstGeom>
          <a:noFill/>
          <a:ln/>
        </p:spPr>
        <p:txBody>
          <a:bodyPr wrap="square" rtlCol="0" anchor="ctr"/>
          <a:lstStyle/>
          <a:p>
            <a:pPr indent="0" marL="0">
              <a:buNone/>
            </a:pPr>
            <a:r>
              <a:rPr lang="en-US" sz="1300" b="1" dirty="0">
                <a:solidFill>
                  <a:srgbClr val="107C10"/>
                </a:solidFill>
              </a:rPr>
              <a:t>✔  Correct: B — Create separate Azure Subscriptions for Dev and Production environments</a:t>
            </a:r>
            <a:endParaRPr lang="en-US" sz="1300" dirty="0"/>
          </a:p>
        </p:txBody>
      </p:sp>
      <p:sp>
        <p:nvSpPr>
          <p:cNvPr id="8" name="Text 6"/>
          <p:cNvSpPr/>
          <p:nvPr/>
        </p:nvSpPr>
        <p:spPr>
          <a:xfrm>
            <a:off x="292608" y="1216152"/>
            <a:ext cx="8558784" cy="292608"/>
          </a:xfrm>
          <a:prstGeom prst="rect">
            <a:avLst/>
          </a:prstGeom>
          <a:noFill/>
          <a:ln/>
        </p:spPr>
        <p:txBody>
          <a:bodyPr wrap="square" rtlCol="0" anchor="ctr"/>
          <a:lstStyle/>
          <a:p>
            <a:pPr indent="0" marL="0">
              <a:buNone/>
            </a:pPr>
            <a:r>
              <a:rPr lang="en-US" sz="1200" b="1" dirty="0">
                <a:solidFill>
                  <a:srgbClr val="0A1628"/>
                </a:solidFill>
              </a:rPr>
              <a:t>Why this is correct</a:t>
            </a:r>
            <a:endParaRPr lang="en-US" sz="1200" dirty="0"/>
          </a:p>
        </p:txBody>
      </p:sp>
      <p:sp>
        <p:nvSpPr>
          <p:cNvPr id="9" name="Shape 7"/>
          <p:cNvSpPr/>
          <p:nvPr/>
        </p:nvSpPr>
        <p:spPr>
          <a:xfrm>
            <a:off x="292608" y="1517904"/>
            <a:ext cx="8558784" cy="1097280"/>
          </a:xfrm>
          <a:prstGeom prst="rect">
            <a:avLst/>
          </a:prstGeom>
          <a:solidFill>
            <a:srgbClr val="FFFFFF"/>
          </a:solidFill>
          <a:ln w="12700">
            <a:solidFill>
              <a:srgbClr val="C5D8EE"/>
            </a:solidFill>
            <a:prstDash val="solid"/>
          </a:ln>
        </p:spPr>
      </p:sp>
      <p:sp>
        <p:nvSpPr>
          <p:cNvPr id="10" name="Text 8"/>
          <p:cNvSpPr/>
          <p:nvPr/>
        </p:nvSpPr>
        <p:spPr>
          <a:xfrm>
            <a:off x="420624" y="1563624"/>
            <a:ext cx="8321040" cy="1005840"/>
          </a:xfrm>
          <a:prstGeom prst="rect">
            <a:avLst/>
          </a:prstGeom>
          <a:noFill/>
          <a:ln/>
        </p:spPr>
        <p:txBody>
          <a:bodyPr wrap="square" rtlCol="0" anchor="t"/>
          <a:lstStyle/>
          <a:p>
            <a:pPr indent="0" marL="0">
              <a:buNone/>
            </a:pPr>
            <a:r>
              <a:rPr lang="en-US" sz="1150" dirty="0">
                <a:solidFill>
                  <a:srgbClr val="1B2A3B"/>
                </a:solidFill>
              </a:rPr>
              <a:t>Azure Subscriptions are the primary billing and access boundary. Separate subscriptions for Dev and Production provide clean billing isolation, independent access controls, and policy boundaries. Resource Groups within a single subscription share the same billing account. Tags improve reporting but don't provide true billing isolation. Management Groups organize subscriptions but don't separate billing themselves.</a:t>
            </a:r>
            <a:endParaRPr lang="en-US" sz="1150" dirty="0"/>
          </a:p>
        </p:txBody>
      </p:sp>
      <p:sp>
        <p:nvSpPr>
          <p:cNvPr id="11" name="Text 9"/>
          <p:cNvSpPr/>
          <p:nvPr/>
        </p:nvSpPr>
        <p:spPr>
          <a:xfrm>
            <a:off x="292608" y="2697480"/>
            <a:ext cx="8558784" cy="292608"/>
          </a:xfrm>
          <a:prstGeom prst="rect">
            <a:avLst/>
          </a:prstGeom>
          <a:noFill/>
          <a:ln/>
        </p:spPr>
        <p:txBody>
          <a:bodyPr wrap="square" rtlCol="0" anchor="ctr"/>
          <a:lstStyle/>
          <a:p>
            <a:pPr indent="0" marL="0">
              <a:buNone/>
            </a:pPr>
            <a:r>
              <a:rPr lang="en-US" sz="1200" b="1" dirty="0">
                <a:solidFill>
                  <a:srgbClr val="0A1628"/>
                </a:solidFill>
              </a:rPr>
              <a:t>Why the other options are incorrect</a:t>
            </a:r>
            <a:endParaRPr lang="en-US" sz="1200" dirty="0"/>
          </a:p>
        </p:txBody>
      </p:sp>
      <p:sp>
        <p:nvSpPr>
          <p:cNvPr id="12" name="Shape 10"/>
          <p:cNvSpPr/>
          <p:nvPr/>
        </p:nvSpPr>
        <p:spPr>
          <a:xfrm>
            <a:off x="292608" y="3035808"/>
            <a:ext cx="8558784" cy="603504"/>
          </a:xfrm>
          <a:prstGeom prst="rect">
            <a:avLst/>
          </a:prstGeom>
          <a:solidFill>
            <a:srgbClr val="FAEAEA"/>
          </a:solidFill>
          <a:ln w="12700">
            <a:solidFill>
              <a:srgbClr val="F4AAAA"/>
            </a:solidFill>
            <a:prstDash val="solid"/>
          </a:ln>
        </p:spPr>
      </p:sp>
      <p:sp>
        <p:nvSpPr>
          <p:cNvPr id="13" name="Shape 11"/>
          <p:cNvSpPr/>
          <p:nvPr/>
        </p:nvSpPr>
        <p:spPr>
          <a:xfrm>
            <a:off x="384048" y="3172968"/>
            <a:ext cx="301752" cy="301752"/>
          </a:xfrm>
          <a:prstGeom prst="ellipse">
            <a:avLst/>
          </a:prstGeom>
          <a:solidFill>
            <a:srgbClr val="A80000"/>
          </a:solidFill>
          <a:ln w="12700">
            <a:solidFill>
              <a:srgbClr val="A80000"/>
            </a:solidFill>
            <a:prstDash val="solid"/>
          </a:ln>
        </p:spPr>
      </p:sp>
      <p:sp>
        <p:nvSpPr>
          <p:cNvPr id="14" name="Text 12"/>
          <p:cNvSpPr/>
          <p:nvPr/>
        </p:nvSpPr>
        <p:spPr>
          <a:xfrm>
            <a:off x="384048" y="3172968"/>
            <a:ext cx="301752" cy="301752"/>
          </a:xfrm>
          <a:prstGeom prst="rect">
            <a:avLst/>
          </a:prstGeom>
          <a:noFill/>
          <a:ln/>
        </p:spPr>
        <p:txBody>
          <a:bodyPr wrap="square" rtlCol="0" anchor="ctr"/>
          <a:lstStyle/>
          <a:p>
            <a:pPr algn="ctr" indent="0" marL="0">
              <a:buNone/>
            </a:pPr>
            <a:r>
              <a:rPr lang="en-US" sz="1100" b="1" dirty="0">
                <a:solidFill>
                  <a:srgbClr val="FFFFFF"/>
                </a:solidFill>
              </a:rPr>
              <a:t>A</a:t>
            </a:r>
            <a:endParaRPr lang="en-US" sz="1100" dirty="0"/>
          </a:p>
        </p:txBody>
      </p:sp>
      <p:sp>
        <p:nvSpPr>
          <p:cNvPr id="15" name="Text 13"/>
          <p:cNvSpPr/>
          <p:nvPr/>
        </p:nvSpPr>
        <p:spPr>
          <a:xfrm>
            <a:off x="768096" y="3090672"/>
            <a:ext cx="8010144" cy="493776"/>
          </a:xfrm>
          <a:prstGeom prst="rect">
            <a:avLst/>
          </a:prstGeom>
          <a:noFill/>
          <a:ln/>
        </p:spPr>
        <p:txBody>
          <a:bodyPr wrap="square" rtlCol="0" anchor="ctr"/>
          <a:lstStyle/>
          <a:p>
            <a:pPr indent="0" marL="0">
              <a:buNone/>
            </a:pPr>
            <a:r>
              <a:rPr lang="en-US" sz="1150" dirty="0">
                <a:solidFill>
                  <a:srgbClr val="1B2A3B"/>
                </a:solidFill>
              </a:rPr>
              <a:t>Resource Groups share the same subscription billing — costs can be tagged and filtered but not truly isolated at billing level.</a:t>
            </a:r>
            <a:endParaRPr lang="en-US" sz="1150" dirty="0"/>
          </a:p>
        </p:txBody>
      </p:sp>
      <p:sp>
        <p:nvSpPr>
          <p:cNvPr id="16" name="Shape 14"/>
          <p:cNvSpPr/>
          <p:nvPr/>
        </p:nvSpPr>
        <p:spPr>
          <a:xfrm>
            <a:off x="292608" y="3712464"/>
            <a:ext cx="8558784" cy="603504"/>
          </a:xfrm>
          <a:prstGeom prst="rect">
            <a:avLst/>
          </a:prstGeom>
          <a:solidFill>
            <a:srgbClr val="FAEAEA"/>
          </a:solidFill>
          <a:ln w="12700">
            <a:solidFill>
              <a:srgbClr val="F4AAAA"/>
            </a:solidFill>
            <a:prstDash val="solid"/>
          </a:ln>
        </p:spPr>
      </p:sp>
      <p:sp>
        <p:nvSpPr>
          <p:cNvPr id="17" name="Shape 15"/>
          <p:cNvSpPr/>
          <p:nvPr/>
        </p:nvSpPr>
        <p:spPr>
          <a:xfrm>
            <a:off x="384048" y="3849624"/>
            <a:ext cx="301752" cy="301752"/>
          </a:xfrm>
          <a:prstGeom prst="ellipse">
            <a:avLst/>
          </a:prstGeom>
          <a:solidFill>
            <a:srgbClr val="A80000"/>
          </a:solidFill>
          <a:ln w="12700">
            <a:solidFill>
              <a:srgbClr val="A80000"/>
            </a:solidFill>
            <a:prstDash val="solid"/>
          </a:ln>
        </p:spPr>
      </p:sp>
      <p:sp>
        <p:nvSpPr>
          <p:cNvPr id="18" name="Text 16"/>
          <p:cNvSpPr/>
          <p:nvPr/>
        </p:nvSpPr>
        <p:spPr>
          <a:xfrm>
            <a:off x="384048" y="3849624"/>
            <a:ext cx="301752" cy="301752"/>
          </a:xfrm>
          <a:prstGeom prst="rect">
            <a:avLst/>
          </a:prstGeom>
          <a:noFill/>
          <a:ln/>
        </p:spPr>
        <p:txBody>
          <a:bodyPr wrap="square" rtlCol="0" anchor="ctr"/>
          <a:lstStyle/>
          <a:p>
            <a:pPr algn="ctr" indent="0" marL="0">
              <a:buNone/>
            </a:pPr>
            <a:r>
              <a:rPr lang="en-US" sz="1100" b="1" dirty="0">
                <a:solidFill>
                  <a:srgbClr val="FFFFFF"/>
                </a:solidFill>
              </a:rPr>
              <a:t>C</a:t>
            </a:r>
            <a:endParaRPr lang="en-US" sz="1100" dirty="0"/>
          </a:p>
        </p:txBody>
      </p:sp>
      <p:sp>
        <p:nvSpPr>
          <p:cNvPr id="19" name="Text 17"/>
          <p:cNvSpPr/>
          <p:nvPr/>
        </p:nvSpPr>
        <p:spPr>
          <a:xfrm>
            <a:off x="768096" y="3767328"/>
            <a:ext cx="8010144" cy="493776"/>
          </a:xfrm>
          <a:prstGeom prst="rect">
            <a:avLst/>
          </a:prstGeom>
          <a:noFill/>
          <a:ln/>
        </p:spPr>
        <p:txBody>
          <a:bodyPr wrap="square" rtlCol="0" anchor="ctr"/>
          <a:lstStyle/>
          <a:p>
            <a:pPr indent="0" marL="0">
              <a:buNone/>
            </a:pPr>
            <a:r>
              <a:rPr lang="en-US" sz="1150" dirty="0">
                <a:solidFill>
                  <a:srgbClr val="1B2A3B"/>
                </a:solidFill>
              </a:rPr>
              <a:t>Tags improve cost allocation reports but don't provide billing isolation if both environments share one subscription.</a:t>
            </a:r>
            <a:endParaRPr lang="en-US" sz="1150" dirty="0"/>
          </a:p>
        </p:txBody>
      </p:sp>
      <p:sp>
        <p:nvSpPr>
          <p:cNvPr id="20" name="Shape 18"/>
          <p:cNvSpPr/>
          <p:nvPr/>
        </p:nvSpPr>
        <p:spPr>
          <a:xfrm>
            <a:off x="292608" y="4389120"/>
            <a:ext cx="8558784" cy="603504"/>
          </a:xfrm>
          <a:prstGeom prst="rect">
            <a:avLst/>
          </a:prstGeom>
          <a:solidFill>
            <a:srgbClr val="FAEAEA"/>
          </a:solidFill>
          <a:ln w="12700">
            <a:solidFill>
              <a:srgbClr val="F4AAAA"/>
            </a:solidFill>
            <a:prstDash val="solid"/>
          </a:ln>
        </p:spPr>
      </p:sp>
      <p:sp>
        <p:nvSpPr>
          <p:cNvPr id="21" name="Shape 19"/>
          <p:cNvSpPr/>
          <p:nvPr/>
        </p:nvSpPr>
        <p:spPr>
          <a:xfrm>
            <a:off x="384048" y="4526280"/>
            <a:ext cx="301752" cy="301752"/>
          </a:xfrm>
          <a:prstGeom prst="ellipse">
            <a:avLst/>
          </a:prstGeom>
          <a:solidFill>
            <a:srgbClr val="A80000"/>
          </a:solidFill>
          <a:ln w="12700">
            <a:solidFill>
              <a:srgbClr val="A80000"/>
            </a:solidFill>
            <a:prstDash val="solid"/>
          </a:ln>
        </p:spPr>
      </p:sp>
      <p:sp>
        <p:nvSpPr>
          <p:cNvPr id="22" name="Text 20"/>
          <p:cNvSpPr/>
          <p:nvPr/>
        </p:nvSpPr>
        <p:spPr>
          <a:xfrm>
            <a:off x="384048" y="4526280"/>
            <a:ext cx="301752" cy="301752"/>
          </a:xfrm>
          <a:prstGeom prst="rect">
            <a:avLst/>
          </a:prstGeom>
          <a:noFill/>
          <a:ln/>
        </p:spPr>
        <p:txBody>
          <a:bodyPr wrap="square" rtlCol="0" anchor="ctr"/>
          <a:lstStyle/>
          <a:p>
            <a:pPr algn="ctr" indent="0" marL="0">
              <a:buNone/>
            </a:pPr>
            <a:r>
              <a:rPr lang="en-US" sz="1100" b="1" dirty="0">
                <a:solidFill>
                  <a:srgbClr val="FFFFFF"/>
                </a:solidFill>
              </a:rPr>
              <a:t>D</a:t>
            </a:r>
            <a:endParaRPr lang="en-US" sz="1100" dirty="0"/>
          </a:p>
        </p:txBody>
      </p:sp>
      <p:sp>
        <p:nvSpPr>
          <p:cNvPr id="23" name="Text 21"/>
          <p:cNvSpPr/>
          <p:nvPr/>
        </p:nvSpPr>
        <p:spPr>
          <a:xfrm>
            <a:off x="768096" y="4443984"/>
            <a:ext cx="8010144" cy="493776"/>
          </a:xfrm>
          <a:prstGeom prst="rect">
            <a:avLst/>
          </a:prstGeom>
          <a:noFill/>
          <a:ln/>
        </p:spPr>
        <p:txBody>
          <a:bodyPr wrap="square" rtlCol="0" anchor="ctr"/>
          <a:lstStyle/>
          <a:p>
            <a:pPr indent="0" marL="0">
              <a:buNone/>
            </a:pPr>
            <a:r>
              <a:rPr lang="en-US" sz="1150" dirty="0">
                <a:solidFill>
                  <a:srgbClr val="1B2A3B"/>
                </a:solidFill>
              </a:rPr>
              <a:t>Management Groups organize subscriptions hierarchically but do not themselves create billing separation — that's the subscription's role.</a:t>
            </a:r>
            <a:endParaRPr lang="en-US" sz="11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4F8FD"/>
        </a:solidFill>
      </p:bgPr>
    </p:bg>
    <p:spTree>
      <p:nvGrpSpPr>
        <p:cNvPr id="1" name=""/>
        <p:cNvGrpSpPr/>
        <p:nvPr/>
      </p:nvGrpSpPr>
      <p:grpSpPr>
        <a:xfrm>
          <a:off x="0" y="0"/>
          <a:ext cx="0" cy="0"/>
          <a:chOff x="0" y="0"/>
          <a:chExt cx="0" cy="0"/>
        </a:xfrm>
      </p:grpSpPr>
      <p:sp>
        <p:nvSpPr>
          <p:cNvPr id="2" name="Shape 0"/>
          <p:cNvSpPr/>
          <p:nvPr/>
        </p:nvSpPr>
        <p:spPr>
          <a:xfrm>
            <a:off x="0" y="0"/>
            <a:ext cx="146304" cy="5143500"/>
          </a:xfrm>
          <a:prstGeom prst="rect">
            <a:avLst/>
          </a:prstGeom>
          <a:solidFill>
            <a:srgbClr val="0078D4"/>
          </a:solidFill>
          <a:ln w="12700">
            <a:solidFill>
              <a:srgbClr val="0078D4"/>
            </a:solidFill>
            <a:prstDash val="solid"/>
          </a:ln>
        </p:spPr>
      </p:sp>
      <p:sp>
        <p:nvSpPr>
          <p:cNvPr id="3" name="Shape 1"/>
          <p:cNvSpPr/>
          <p:nvPr/>
        </p:nvSpPr>
        <p:spPr>
          <a:xfrm>
            <a:off x="146304" y="0"/>
            <a:ext cx="8997696" cy="594360"/>
          </a:xfrm>
          <a:prstGeom prst="rect">
            <a:avLst/>
          </a:prstGeom>
          <a:solidFill>
            <a:srgbClr val="0A1628"/>
          </a:solidFill>
          <a:ln w="12700">
            <a:solidFill>
              <a:srgbClr val="0A1628"/>
            </a:solidFill>
            <a:prstDash val="solid"/>
          </a:ln>
        </p:spPr>
      </p:sp>
      <p:sp>
        <p:nvSpPr>
          <p:cNvPr id="4" name="Text 2"/>
          <p:cNvSpPr/>
          <p:nvPr/>
        </p:nvSpPr>
        <p:spPr>
          <a:xfrm>
            <a:off x="292608" y="0"/>
            <a:ext cx="6583680" cy="594360"/>
          </a:xfrm>
          <a:prstGeom prst="rect">
            <a:avLst/>
          </a:prstGeom>
          <a:noFill/>
          <a:ln/>
        </p:spPr>
        <p:txBody>
          <a:bodyPr wrap="square" lIns="0" tIns="0" rIns="0" bIns="0" rtlCol="0" anchor="ctr"/>
          <a:lstStyle/>
          <a:p>
            <a:pPr indent="0" marL="0">
              <a:buNone/>
            </a:pPr>
            <a:r>
              <a:rPr lang="en-US" sz="1200" b="1" dirty="0">
                <a:solidFill>
                  <a:srgbClr val="50E6FF"/>
                </a:solidFill>
              </a:rPr>
              <a:t>❓  QUESTION 12  ·  Azure AD Join vs Hybrid Join</a:t>
            </a:r>
            <a:endParaRPr lang="en-US" sz="1200" dirty="0"/>
          </a:p>
        </p:txBody>
      </p:sp>
      <p:sp>
        <p:nvSpPr>
          <p:cNvPr id="5" name="Text 3"/>
          <p:cNvSpPr/>
          <p:nvPr/>
        </p:nvSpPr>
        <p:spPr>
          <a:xfrm>
            <a:off x="7498080" y="0"/>
            <a:ext cx="1499616" cy="594360"/>
          </a:xfrm>
          <a:prstGeom prst="rect">
            <a:avLst/>
          </a:prstGeom>
          <a:noFill/>
          <a:ln/>
        </p:spPr>
        <p:txBody>
          <a:bodyPr wrap="square" lIns="0" tIns="0" rIns="0" bIns="0" rtlCol="0" anchor="ctr"/>
          <a:lstStyle/>
          <a:p>
            <a:pPr algn="r" indent="0" marL="0">
              <a:buNone/>
            </a:pPr>
            <a:r>
              <a:rPr lang="en-US" sz="1200" b="1" dirty="0">
                <a:solidFill>
                  <a:srgbClr val="6C8EAD"/>
                </a:solidFill>
              </a:rPr>
              <a:t>12 / 20</a:t>
            </a:r>
            <a:endParaRPr lang="en-US" sz="1200" dirty="0"/>
          </a:p>
        </p:txBody>
      </p:sp>
      <p:sp>
        <p:nvSpPr>
          <p:cNvPr id="6" name="Shape 4"/>
          <p:cNvSpPr/>
          <p:nvPr/>
        </p:nvSpPr>
        <p:spPr>
          <a:xfrm>
            <a:off x="292608" y="685800"/>
            <a:ext cx="1097280" cy="256032"/>
          </a:xfrm>
          <a:prstGeom prst="rect">
            <a:avLst/>
          </a:prstGeom>
          <a:solidFill>
            <a:srgbClr val="0078D4"/>
          </a:solidFill>
          <a:ln w="12700">
            <a:solidFill>
              <a:srgbClr val="0078D4"/>
            </a:solidFill>
            <a:prstDash val="solid"/>
          </a:ln>
        </p:spPr>
      </p:sp>
      <p:sp>
        <p:nvSpPr>
          <p:cNvPr id="7" name="Text 5"/>
          <p:cNvSpPr/>
          <p:nvPr/>
        </p:nvSpPr>
        <p:spPr>
          <a:xfrm>
            <a:off x="292608" y="685800"/>
            <a:ext cx="1097280" cy="256032"/>
          </a:xfrm>
          <a:prstGeom prst="rect">
            <a:avLst/>
          </a:prstGeom>
          <a:noFill/>
          <a:ln/>
        </p:spPr>
        <p:txBody>
          <a:bodyPr wrap="square" rtlCol="0" anchor="ctr"/>
          <a:lstStyle/>
          <a:p>
            <a:pPr algn="ctr" indent="0" marL="0">
              <a:buNone/>
            </a:pPr>
            <a:r>
              <a:rPr lang="en-US" sz="800" b="1" dirty="0">
                <a:solidFill>
                  <a:srgbClr val="FFFFFF"/>
                </a:solidFill>
              </a:rPr>
              <a:t>SCENARIO</a:t>
            </a:r>
            <a:endParaRPr lang="en-US" sz="800" dirty="0"/>
          </a:p>
        </p:txBody>
      </p:sp>
      <p:sp>
        <p:nvSpPr>
          <p:cNvPr id="8" name="Shape 6"/>
          <p:cNvSpPr/>
          <p:nvPr/>
        </p:nvSpPr>
        <p:spPr>
          <a:xfrm>
            <a:off x="292608" y="978408"/>
            <a:ext cx="8558784" cy="960120"/>
          </a:xfrm>
          <a:prstGeom prst="rect">
            <a:avLst/>
          </a:prstGeom>
          <a:solidFill>
            <a:srgbClr val="EBF4FF"/>
          </a:solidFill>
          <a:ln w="12700">
            <a:solidFill>
              <a:srgbClr val="0078D4"/>
            </a:solidFill>
            <a:prstDash val="solid"/>
          </a:ln>
        </p:spPr>
      </p:sp>
      <p:sp>
        <p:nvSpPr>
          <p:cNvPr id="9" name="Text 7"/>
          <p:cNvSpPr/>
          <p:nvPr/>
        </p:nvSpPr>
        <p:spPr>
          <a:xfrm>
            <a:off x="420624" y="1024128"/>
            <a:ext cx="8321040" cy="868680"/>
          </a:xfrm>
          <a:prstGeom prst="rect">
            <a:avLst/>
          </a:prstGeom>
          <a:noFill/>
          <a:ln/>
        </p:spPr>
        <p:txBody>
          <a:bodyPr wrap="square" rtlCol="0" anchor="t"/>
          <a:lstStyle/>
          <a:p>
            <a:pPr indent="0" marL="0">
              <a:buNone/>
            </a:pPr>
            <a:r>
              <a:rPr lang="en-US" sz="1250" dirty="0">
                <a:solidFill>
                  <a:srgbClr val="1B2A3B"/>
                </a:solidFill>
              </a:rPr>
              <a:t>Tailspin Toys has Windows 10 devices currently joined to an on-premises Active Directory. They are migrating to Azure but need devices to work with both on-prem AD policies and Microsoft Entra ID (Azure AD) Conditional Access.</a:t>
            </a:r>
            <a:endParaRPr lang="en-US" sz="1250" dirty="0"/>
          </a:p>
        </p:txBody>
      </p:sp>
      <p:sp>
        <p:nvSpPr>
          <p:cNvPr id="10" name="Text 8"/>
          <p:cNvSpPr/>
          <p:nvPr/>
        </p:nvSpPr>
        <p:spPr>
          <a:xfrm>
            <a:off x="292608" y="2048256"/>
            <a:ext cx="8558784" cy="420624"/>
          </a:xfrm>
          <a:prstGeom prst="rect">
            <a:avLst/>
          </a:prstGeom>
          <a:noFill/>
          <a:ln/>
        </p:spPr>
        <p:txBody>
          <a:bodyPr wrap="square" rtlCol="0" anchor="ctr"/>
          <a:lstStyle/>
          <a:p>
            <a:pPr indent="0" marL="0">
              <a:buNone/>
            </a:pPr>
            <a:r>
              <a:rPr lang="en-US" sz="1350" b="1" dirty="0">
                <a:solidFill>
                  <a:srgbClr val="0A1628"/>
                </a:solidFill>
              </a:rPr>
              <a:t>What device join strategy is most appropriate?</a:t>
            </a:r>
            <a:endParaRPr lang="en-US" sz="1350" dirty="0"/>
          </a:p>
        </p:txBody>
      </p:sp>
      <p:sp>
        <p:nvSpPr>
          <p:cNvPr id="11" name="Shape 9"/>
          <p:cNvSpPr/>
          <p:nvPr/>
        </p:nvSpPr>
        <p:spPr>
          <a:xfrm>
            <a:off x="292608" y="2523744"/>
            <a:ext cx="8558784" cy="539496"/>
          </a:xfrm>
          <a:prstGeom prst="rect">
            <a:avLst/>
          </a:prstGeom>
          <a:solidFill>
            <a:srgbClr val="FFFFFF"/>
          </a:solidFill>
          <a:ln w="12700">
            <a:solidFill>
              <a:srgbClr val="C5D8EE"/>
            </a:solidFill>
            <a:prstDash val="solid"/>
          </a:ln>
        </p:spPr>
      </p:sp>
      <p:sp>
        <p:nvSpPr>
          <p:cNvPr id="12" name="Shape 10"/>
          <p:cNvSpPr/>
          <p:nvPr/>
        </p:nvSpPr>
        <p:spPr>
          <a:xfrm>
            <a:off x="384048" y="2633472"/>
            <a:ext cx="329184" cy="329184"/>
          </a:xfrm>
          <a:prstGeom prst="ellipse">
            <a:avLst/>
          </a:prstGeom>
          <a:solidFill>
            <a:srgbClr val="1B3A5C"/>
          </a:solidFill>
          <a:ln w="12700">
            <a:solidFill>
              <a:srgbClr val="1B3A5C"/>
            </a:solidFill>
            <a:prstDash val="solid"/>
          </a:ln>
        </p:spPr>
      </p:sp>
      <p:sp>
        <p:nvSpPr>
          <p:cNvPr id="13" name="Text 11"/>
          <p:cNvSpPr/>
          <p:nvPr/>
        </p:nvSpPr>
        <p:spPr>
          <a:xfrm>
            <a:off x="384048" y="2633472"/>
            <a:ext cx="329184" cy="329184"/>
          </a:xfrm>
          <a:prstGeom prst="rect">
            <a:avLst/>
          </a:prstGeom>
          <a:noFill/>
          <a:ln/>
        </p:spPr>
        <p:txBody>
          <a:bodyPr wrap="square" rtlCol="0" anchor="ctr"/>
          <a:lstStyle/>
          <a:p>
            <a:pPr algn="ctr" indent="0" marL="0">
              <a:buNone/>
            </a:pPr>
            <a:r>
              <a:rPr lang="en-US" sz="1100" b="1" dirty="0">
                <a:solidFill>
                  <a:srgbClr val="FFFFFF"/>
                </a:solidFill>
              </a:rPr>
              <a:t>A</a:t>
            </a:r>
            <a:endParaRPr lang="en-US" sz="1100" dirty="0"/>
          </a:p>
        </p:txBody>
      </p:sp>
      <p:sp>
        <p:nvSpPr>
          <p:cNvPr id="14" name="Text 12"/>
          <p:cNvSpPr/>
          <p:nvPr/>
        </p:nvSpPr>
        <p:spPr>
          <a:xfrm>
            <a:off x="786384" y="2615184"/>
            <a:ext cx="7991856" cy="365760"/>
          </a:xfrm>
          <a:prstGeom prst="rect">
            <a:avLst/>
          </a:prstGeom>
          <a:noFill/>
          <a:ln/>
        </p:spPr>
        <p:txBody>
          <a:bodyPr wrap="square" rtlCol="0" anchor="ctr"/>
          <a:lstStyle/>
          <a:p>
            <a:pPr indent="0" marL="0">
              <a:buNone/>
            </a:pPr>
            <a:r>
              <a:rPr lang="en-US" sz="1250" dirty="0">
                <a:solidFill>
                  <a:srgbClr val="1B2A3B"/>
                </a:solidFill>
              </a:rPr>
              <a:t>Azure AD Join — remove all on-prem AD ties</a:t>
            </a:r>
            <a:endParaRPr lang="en-US" sz="1250" dirty="0"/>
          </a:p>
        </p:txBody>
      </p:sp>
      <p:sp>
        <p:nvSpPr>
          <p:cNvPr id="15" name="Shape 13"/>
          <p:cNvSpPr/>
          <p:nvPr/>
        </p:nvSpPr>
        <p:spPr>
          <a:xfrm>
            <a:off x="292608" y="3154680"/>
            <a:ext cx="8558784" cy="539496"/>
          </a:xfrm>
          <a:prstGeom prst="rect">
            <a:avLst/>
          </a:prstGeom>
          <a:solidFill>
            <a:srgbClr val="FFFFFF"/>
          </a:solidFill>
          <a:ln w="12700">
            <a:solidFill>
              <a:srgbClr val="C5D8EE"/>
            </a:solidFill>
            <a:prstDash val="solid"/>
          </a:ln>
        </p:spPr>
      </p:sp>
      <p:sp>
        <p:nvSpPr>
          <p:cNvPr id="16" name="Shape 14"/>
          <p:cNvSpPr/>
          <p:nvPr/>
        </p:nvSpPr>
        <p:spPr>
          <a:xfrm>
            <a:off x="384048" y="3264408"/>
            <a:ext cx="329184" cy="329184"/>
          </a:xfrm>
          <a:prstGeom prst="ellipse">
            <a:avLst/>
          </a:prstGeom>
          <a:solidFill>
            <a:srgbClr val="1B3A5C"/>
          </a:solidFill>
          <a:ln w="12700">
            <a:solidFill>
              <a:srgbClr val="1B3A5C"/>
            </a:solidFill>
            <a:prstDash val="solid"/>
          </a:ln>
        </p:spPr>
      </p:sp>
      <p:sp>
        <p:nvSpPr>
          <p:cNvPr id="17" name="Text 15"/>
          <p:cNvSpPr/>
          <p:nvPr/>
        </p:nvSpPr>
        <p:spPr>
          <a:xfrm>
            <a:off x="384048" y="3264408"/>
            <a:ext cx="329184" cy="329184"/>
          </a:xfrm>
          <a:prstGeom prst="rect">
            <a:avLst/>
          </a:prstGeom>
          <a:noFill/>
          <a:ln/>
        </p:spPr>
        <p:txBody>
          <a:bodyPr wrap="square" rtlCol="0" anchor="ctr"/>
          <a:lstStyle/>
          <a:p>
            <a:pPr algn="ctr" indent="0" marL="0">
              <a:buNone/>
            </a:pPr>
            <a:r>
              <a:rPr lang="en-US" sz="1100" b="1" dirty="0">
                <a:solidFill>
                  <a:srgbClr val="FFFFFF"/>
                </a:solidFill>
              </a:rPr>
              <a:t>B</a:t>
            </a:r>
            <a:endParaRPr lang="en-US" sz="1100" dirty="0"/>
          </a:p>
        </p:txBody>
      </p:sp>
      <p:sp>
        <p:nvSpPr>
          <p:cNvPr id="18" name="Text 16"/>
          <p:cNvSpPr/>
          <p:nvPr/>
        </p:nvSpPr>
        <p:spPr>
          <a:xfrm>
            <a:off x="786384" y="3246120"/>
            <a:ext cx="7991856" cy="365760"/>
          </a:xfrm>
          <a:prstGeom prst="rect">
            <a:avLst/>
          </a:prstGeom>
          <a:noFill/>
          <a:ln/>
        </p:spPr>
        <p:txBody>
          <a:bodyPr wrap="square" rtlCol="0" anchor="ctr"/>
          <a:lstStyle/>
          <a:p>
            <a:pPr indent="0" marL="0">
              <a:buNone/>
            </a:pPr>
            <a:r>
              <a:rPr lang="en-US" sz="1250" dirty="0">
                <a:solidFill>
                  <a:srgbClr val="1B2A3B"/>
                </a:solidFill>
              </a:rPr>
              <a:t>Hybrid Azure AD Join — devices registered with both on-prem AD and Entra ID</a:t>
            </a:r>
            <a:endParaRPr lang="en-US" sz="1250" dirty="0"/>
          </a:p>
        </p:txBody>
      </p:sp>
      <p:sp>
        <p:nvSpPr>
          <p:cNvPr id="19" name="Shape 17"/>
          <p:cNvSpPr/>
          <p:nvPr/>
        </p:nvSpPr>
        <p:spPr>
          <a:xfrm>
            <a:off x="292608" y="3785616"/>
            <a:ext cx="8558784" cy="539496"/>
          </a:xfrm>
          <a:prstGeom prst="rect">
            <a:avLst/>
          </a:prstGeom>
          <a:solidFill>
            <a:srgbClr val="FFFFFF"/>
          </a:solidFill>
          <a:ln w="12700">
            <a:solidFill>
              <a:srgbClr val="C5D8EE"/>
            </a:solidFill>
            <a:prstDash val="solid"/>
          </a:ln>
        </p:spPr>
      </p:sp>
      <p:sp>
        <p:nvSpPr>
          <p:cNvPr id="20" name="Shape 18"/>
          <p:cNvSpPr/>
          <p:nvPr/>
        </p:nvSpPr>
        <p:spPr>
          <a:xfrm>
            <a:off x="384048" y="3895344"/>
            <a:ext cx="329184" cy="329184"/>
          </a:xfrm>
          <a:prstGeom prst="ellipse">
            <a:avLst/>
          </a:prstGeom>
          <a:solidFill>
            <a:srgbClr val="1B3A5C"/>
          </a:solidFill>
          <a:ln w="12700">
            <a:solidFill>
              <a:srgbClr val="1B3A5C"/>
            </a:solidFill>
            <a:prstDash val="solid"/>
          </a:ln>
        </p:spPr>
      </p:sp>
      <p:sp>
        <p:nvSpPr>
          <p:cNvPr id="21" name="Text 19"/>
          <p:cNvSpPr/>
          <p:nvPr/>
        </p:nvSpPr>
        <p:spPr>
          <a:xfrm>
            <a:off x="384048" y="3895344"/>
            <a:ext cx="329184" cy="329184"/>
          </a:xfrm>
          <a:prstGeom prst="rect">
            <a:avLst/>
          </a:prstGeom>
          <a:noFill/>
          <a:ln/>
        </p:spPr>
        <p:txBody>
          <a:bodyPr wrap="square" rtlCol="0" anchor="ctr"/>
          <a:lstStyle/>
          <a:p>
            <a:pPr algn="ctr" indent="0" marL="0">
              <a:buNone/>
            </a:pPr>
            <a:r>
              <a:rPr lang="en-US" sz="1100" b="1" dirty="0">
                <a:solidFill>
                  <a:srgbClr val="FFFFFF"/>
                </a:solidFill>
              </a:rPr>
              <a:t>C</a:t>
            </a:r>
            <a:endParaRPr lang="en-US" sz="1100" dirty="0"/>
          </a:p>
        </p:txBody>
      </p:sp>
      <p:sp>
        <p:nvSpPr>
          <p:cNvPr id="22" name="Text 20"/>
          <p:cNvSpPr/>
          <p:nvPr/>
        </p:nvSpPr>
        <p:spPr>
          <a:xfrm>
            <a:off x="786384" y="3877056"/>
            <a:ext cx="7991856" cy="365760"/>
          </a:xfrm>
          <a:prstGeom prst="rect">
            <a:avLst/>
          </a:prstGeom>
          <a:noFill/>
          <a:ln/>
        </p:spPr>
        <p:txBody>
          <a:bodyPr wrap="square" rtlCol="0" anchor="ctr"/>
          <a:lstStyle/>
          <a:p>
            <a:pPr indent="0" marL="0">
              <a:buNone/>
            </a:pPr>
            <a:r>
              <a:rPr lang="en-US" sz="1250" dirty="0">
                <a:solidFill>
                  <a:srgbClr val="1B2A3B"/>
                </a:solidFill>
              </a:rPr>
              <a:t>Microsoft Entra ID B2B device registration</a:t>
            </a:r>
            <a:endParaRPr lang="en-US" sz="1250" dirty="0"/>
          </a:p>
        </p:txBody>
      </p:sp>
      <p:sp>
        <p:nvSpPr>
          <p:cNvPr id="23" name="Shape 21"/>
          <p:cNvSpPr/>
          <p:nvPr/>
        </p:nvSpPr>
        <p:spPr>
          <a:xfrm>
            <a:off x="292608" y="4416552"/>
            <a:ext cx="8558784" cy="539496"/>
          </a:xfrm>
          <a:prstGeom prst="rect">
            <a:avLst/>
          </a:prstGeom>
          <a:solidFill>
            <a:srgbClr val="FFFFFF"/>
          </a:solidFill>
          <a:ln w="12700">
            <a:solidFill>
              <a:srgbClr val="C5D8EE"/>
            </a:solidFill>
            <a:prstDash val="solid"/>
          </a:ln>
        </p:spPr>
      </p:sp>
      <p:sp>
        <p:nvSpPr>
          <p:cNvPr id="24" name="Shape 22"/>
          <p:cNvSpPr/>
          <p:nvPr/>
        </p:nvSpPr>
        <p:spPr>
          <a:xfrm>
            <a:off x="384048" y="4526280"/>
            <a:ext cx="329184" cy="329184"/>
          </a:xfrm>
          <a:prstGeom prst="ellipse">
            <a:avLst/>
          </a:prstGeom>
          <a:solidFill>
            <a:srgbClr val="1B3A5C"/>
          </a:solidFill>
          <a:ln w="12700">
            <a:solidFill>
              <a:srgbClr val="1B3A5C"/>
            </a:solidFill>
            <a:prstDash val="solid"/>
          </a:ln>
        </p:spPr>
      </p:sp>
      <p:sp>
        <p:nvSpPr>
          <p:cNvPr id="25" name="Text 23"/>
          <p:cNvSpPr/>
          <p:nvPr/>
        </p:nvSpPr>
        <p:spPr>
          <a:xfrm>
            <a:off x="384048" y="4526280"/>
            <a:ext cx="329184" cy="329184"/>
          </a:xfrm>
          <a:prstGeom prst="rect">
            <a:avLst/>
          </a:prstGeom>
          <a:noFill/>
          <a:ln/>
        </p:spPr>
        <p:txBody>
          <a:bodyPr wrap="square" rtlCol="0" anchor="ctr"/>
          <a:lstStyle/>
          <a:p>
            <a:pPr algn="ctr" indent="0" marL="0">
              <a:buNone/>
            </a:pPr>
            <a:r>
              <a:rPr lang="en-US" sz="1100" b="1" dirty="0">
                <a:solidFill>
                  <a:srgbClr val="FFFFFF"/>
                </a:solidFill>
              </a:rPr>
              <a:t>D</a:t>
            </a:r>
            <a:endParaRPr lang="en-US" sz="1100" dirty="0"/>
          </a:p>
        </p:txBody>
      </p:sp>
      <p:sp>
        <p:nvSpPr>
          <p:cNvPr id="26" name="Text 24"/>
          <p:cNvSpPr/>
          <p:nvPr/>
        </p:nvSpPr>
        <p:spPr>
          <a:xfrm>
            <a:off x="786384" y="4507992"/>
            <a:ext cx="7991856" cy="365760"/>
          </a:xfrm>
          <a:prstGeom prst="rect">
            <a:avLst/>
          </a:prstGeom>
          <a:noFill/>
          <a:ln/>
        </p:spPr>
        <p:txBody>
          <a:bodyPr wrap="square" rtlCol="0" anchor="ctr"/>
          <a:lstStyle/>
          <a:p>
            <a:pPr indent="0" marL="0">
              <a:buNone/>
            </a:pPr>
            <a:r>
              <a:rPr lang="en-US" sz="1250" dirty="0">
                <a:solidFill>
                  <a:srgbClr val="1B2A3B"/>
                </a:solidFill>
              </a:rPr>
              <a:t>Entra ID registered (BYOD) devices only</a:t>
            </a:r>
            <a:endParaRPr lang="en-US" sz="12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4F8FD"/>
        </a:solidFill>
      </p:bgPr>
    </p:bg>
    <p:spTree>
      <p:nvGrpSpPr>
        <p:cNvPr id="1" name=""/>
        <p:cNvGrpSpPr/>
        <p:nvPr/>
      </p:nvGrpSpPr>
      <p:grpSpPr>
        <a:xfrm>
          <a:off x="0" y="0"/>
          <a:ext cx="0" cy="0"/>
          <a:chOff x="0" y="0"/>
          <a:chExt cx="0" cy="0"/>
        </a:xfrm>
      </p:grpSpPr>
      <p:sp>
        <p:nvSpPr>
          <p:cNvPr id="2" name="Shape 0"/>
          <p:cNvSpPr/>
          <p:nvPr/>
        </p:nvSpPr>
        <p:spPr>
          <a:xfrm>
            <a:off x="0" y="0"/>
            <a:ext cx="146304" cy="5143500"/>
          </a:xfrm>
          <a:prstGeom prst="rect">
            <a:avLst/>
          </a:prstGeom>
          <a:solidFill>
            <a:srgbClr val="107C10"/>
          </a:solidFill>
          <a:ln w="12700">
            <a:solidFill>
              <a:srgbClr val="107C10"/>
            </a:solidFill>
            <a:prstDash val="solid"/>
          </a:ln>
        </p:spPr>
      </p:sp>
      <p:sp>
        <p:nvSpPr>
          <p:cNvPr id="3" name="Shape 1"/>
          <p:cNvSpPr/>
          <p:nvPr/>
        </p:nvSpPr>
        <p:spPr>
          <a:xfrm>
            <a:off x="146304" y="0"/>
            <a:ext cx="8997696" cy="594360"/>
          </a:xfrm>
          <a:prstGeom prst="rect">
            <a:avLst/>
          </a:prstGeom>
          <a:solidFill>
            <a:srgbClr val="0A1628"/>
          </a:solidFill>
          <a:ln w="12700">
            <a:solidFill>
              <a:srgbClr val="0A1628"/>
            </a:solidFill>
            <a:prstDash val="solid"/>
          </a:ln>
        </p:spPr>
      </p:sp>
      <p:sp>
        <p:nvSpPr>
          <p:cNvPr id="4" name="Text 2"/>
          <p:cNvSpPr/>
          <p:nvPr/>
        </p:nvSpPr>
        <p:spPr>
          <a:xfrm>
            <a:off x="292608" y="0"/>
            <a:ext cx="6583680" cy="594360"/>
          </a:xfrm>
          <a:prstGeom prst="rect">
            <a:avLst/>
          </a:prstGeom>
          <a:noFill/>
          <a:ln/>
        </p:spPr>
        <p:txBody>
          <a:bodyPr wrap="square" lIns="0" tIns="0" rIns="0" bIns="0" rtlCol="0" anchor="ctr"/>
          <a:lstStyle/>
          <a:p>
            <a:pPr indent="0" marL="0">
              <a:buNone/>
            </a:pPr>
            <a:r>
              <a:rPr lang="en-US" sz="1200" b="1" dirty="0">
                <a:solidFill>
                  <a:srgbClr val="00FF90"/>
                </a:solidFill>
              </a:rPr>
              <a:t>✅  ANSWER 12  ·  Azure AD Join vs Hybrid Join</a:t>
            </a:r>
            <a:endParaRPr lang="en-US" sz="1200" dirty="0"/>
          </a:p>
        </p:txBody>
      </p:sp>
      <p:sp>
        <p:nvSpPr>
          <p:cNvPr id="5" name="Text 3"/>
          <p:cNvSpPr/>
          <p:nvPr/>
        </p:nvSpPr>
        <p:spPr>
          <a:xfrm>
            <a:off x="7498080" y="0"/>
            <a:ext cx="1499616" cy="594360"/>
          </a:xfrm>
          <a:prstGeom prst="rect">
            <a:avLst/>
          </a:prstGeom>
          <a:noFill/>
          <a:ln/>
        </p:spPr>
        <p:txBody>
          <a:bodyPr wrap="square" lIns="0" tIns="0" rIns="0" bIns="0" rtlCol="0" anchor="ctr"/>
          <a:lstStyle/>
          <a:p>
            <a:pPr algn="r" indent="0" marL="0">
              <a:buNone/>
            </a:pPr>
            <a:r>
              <a:rPr lang="en-US" sz="1200" b="1" dirty="0">
                <a:solidFill>
                  <a:srgbClr val="6C8EAD"/>
                </a:solidFill>
              </a:rPr>
              <a:t>12 / 20</a:t>
            </a:r>
            <a:endParaRPr lang="en-US" sz="1200" dirty="0"/>
          </a:p>
        </p:txBody>
      </p:sp>
      <p:sp>
        <p:nvSpPr>
          <p:cNvPr id="6" name="Shape 4"/>
          <p:cNvSpPr/>
          <p:nvPr/>
        </p:nvSpPr>
        <p:spPr>
          <a:xfrm>
            <a:off x="292608" y="658368"/>
            <a:ext cx="8558784" cy="475488"/>
          </a:xfrm>
          <a:prstGeom prst="rect">
            <a:avLst/>
          </a:prstGeom>
          <a:solidFill>
            <a:srgbClr val="E6F3E6"/>
          </a:solidFill>
          <a:ln w="25400">
            <a:solidFill>
              <a:srgbClr val="107C10"/>
            </a:solidFill>
            <a:prstDash val="solid"/>
          </a:ln>
        </p:spPr>
      </p:sp>
      <p:sp>
        <p:nvSpPr>
          <p:cNvPr id="7" name="Text 5"/>
          <p:cNvSpPr/>
          <p:nvPr/>
        </p:nvSpPr>
        <p:spPr>
          <a:xfrm>
            <a:off x="420624" y="658368"/>
            <a:ext cx="8321040" cy="475488"/>
          </a:xfrm>
          <a:prstGeom prst="rect">
            <a:avLst/>
          </a:prstGeom>
          <a:noFill/>
          <a:ln/>
        </p:spPr>
        <p:txBody>
          <a:bodyPr wrap="square" rtlCol="0" anchor="ctr"/>
          <a:lstStyle/>
          <a:p>
            <a:pPr indent="0" marL="0">
              <a:buNone/>
            </a:pPr>
            <a:r>
              <a:rPr lang="en-US" sz="1300" b="1" dirty="0">
                <a:solidFill>
                  <a:srgbClr val="107C10"/>
                </a:solidFill>
              </a:rPr>
              <a:t>✔  Correct: B — Hybrid Azure AD Join — devices registered with both on-prem AD and Entra ID</a:t>
            </a:r>
            <a:endParaRPr lang="en-US" sz="1300" dirty="0"/>
          </a:p>
        </p:txBody>
      </p:sp>
      <p:sp>
        <p:nvSpPr>
          <p:cNvPr id="8" name="Text 6"/>
          <p:cNvSpPr/>
          <p:nvPr/>
        </p:nvSpPr>
        <p:spPr>
          <a:xfrm>
            <a:off x="292608" y="1216152"/>
            <a:ext cx="8558784" cy="292608"/>
          </a:xfrm>
          <a:prstGeom prst="rect">
            <a:avLst/>
          </a:prstGeom>
          <a:noFill/>
          <a:ln/>
        </p:spPr>
        <p:txBody>
          <a:bodyPr wrap="square" rtlCol="0" anchor="ctr"/>
          <a:lstStyle/>
          <a:p>
            <a:pPr indent="0" marL="0">
              <a:buNone/>
            </a:pPr>
            <a:r>
              <a:rPr lang="en-US" sz="1200" b="1" dirty="0">
                <a:solidFill>
                  <a:srgbClr val="0A1628"/>
                </a:solidFill>
              </a:rPr>
              <a:t>Why this is correct</a:t>
            </a:r>
            <a:endParaRPr lang="en-US" sz="1200" dirty="0"/>
          </a:p>
        </p:txBody>
      </p:sp>
      <p:sp>
        <p:nvSpPr>
          <p:cNvPr id="9" name="Shape 7"/>
          <p:cNvSpPr/>
          <p:nvPr/>
        </p:nvSpPr>
        <p:spPr>
          <a:xfrm>
            <a:off x="292608" y="1517904"/>
            <a:ext cx="8558784" cy="1097280"/>
          </a:xfrm>
          <a:prstGeom prst="rect">
            <a:avLst/>
          </a:prstGeom>
          <a:solidFill>
            <a:srgbClr val="FFFFFF"/>
          </a:solidFill>
          <a:ln w="12700">
            <a:solidFill>
              <a:srgbClr val="C5D8EE"/>
            </a:solidFill>
            <a:prstDash val="solid"/>
          </a:ln>
        </p:spPr>
      </p:sp>
      <p:sp>
        <p:nvSpPr>
          <p:cNvPr id="10" name="Text 8"/>
          <p:cNvSpPr/>
          <p:nvPr/>
        </p:nvSpPr>
        <p:spPr>
          <a:xfrm>
            <a:off x="420624" y="1563624"/>
            <a:ext cx="8321040" cy="1005840"/>
          </a:xfrm>
          <a:prstGeom prst="rect">
            <a:avLst/>
          </a:prstGeom>
          <a:noFill/>
          <a:ln/>
        </p:spPr>
        <p:txBody>
          <a:bodyPr wrap="square" rtlCol="0" anchor="t"/>
          <a:lstStyle/>
          <a:p>
            <a:pPr indent="0" marL="0">
              <a:buNone/>
            </a:pPr>
            <a:r>
              <a:rPr lang="en-US" sz="1150" dirty="0">
                <a:solidFill>
                  <a:srgbClr val="1B2A3B"/>
                </a:solidFill>
              </a:rPr>
              <a:t>Hybrid Azure AD Join registers devices with both on-premises Active Directory and Microsoft Entra ID. This allows devices to receive on-prem Group Policy while also satisfying Entra ID Conditional Access device compliance requirements. Azure AD Join removes on-prem dependency entirely — not suitable during a partial migration. B2B is for external users, not device join. Entra ID Registered is for personal BYOD devices with limited management.</a:t>
            </a:r>
            <a:endParaRPr lang="en-US" sz="1150" dirty="0"/>
          </a:p>
        </p:txBody>
      </p:sp>
      <p:sp>
        <p:nvSpPr>
          <p:cNvPr id="11" name="Text 9"/>
          <p:cNvSpPr/>
          <p:nvPr/>
        </p:nvSpPr>
        <p:spPr>
          <a:xfrm>
            <a:off x="292608" y="2697480"/>
            <a:ext cx="8558784" cy="292608"/>
          </a:xfrm>
          <a:prstGeom prst="rect">
            <a:avLst/>
          </a:prstGeom>
          <a:noFill/>
          <a:ln/>
        </p:spPr>
        <p:txBody>
          <a:bodyPr wrap="square" rtlCol="0" anchor="ctr"/>
          <a:lstStyle/>
          <a:p>
            <a:pPr indent="0" marL="0">
              <a:buNone/>
            </a:pPr>
            <a:r>
              <a:rPr lang="en-US" sz="1200" b="1" dirty="0">
                <a:solidFill>
                  <a:srgbClr val="0A1628"/>
                </a:solidFill>
              </a:rPr>
              <a:t>Why the other options are incorrect</a:t>
            </a:r>
            <a:endParaRPr lang="en-US" sz="1200" dirty="0"/>
          </a:p>
        </p:txBody>
      </p:sp>
      <p:sp>
        <p:nvSpPr>
          <p:cNvPr id="12" name="Shape 10"/>
          <p:cNvSpPr/>
          <p:nvPr/>
        </p:nvSpPr>
        <p:spPr>
          <a:xfrm>
            <a:off x="292608" y="3035808"/>
            <a:ext cx="8558784" cy="603504"/>
          </a:xfrm>
          <a:prstGeom prst="rect">
            <a:avLst/>
          </a:prstGeom>
          <a:solidFill>
            <a:srgbClr val="FAEAEA"/>
          </a:solidFill>
          <a:ln w="12700">
            <a:solidFill>
              <a:srgbClr val="F4AAAA"/>
            </a:solidFill>
            <a:prstDash val="solid"/>
          </a:ln>
        </p:spPr>
      </p:sp>
      <p:sp>
        <p:nvSpPr>
          <p:cNvPr id="13" name="Shape 11"/>
          <p:cNvSpPr/>
          <p:nvPr/>
        </p:nvSpPr>
        <p:spPr>
          <a:xfrm>
            <a:off x="384048" y="3172968"/>
            <a:ext cx="301752" cy="301752"/>
          </a:xfrm>
          <a:prstGeom prst="ellipse">
            <a:avLst/>
          </a:prstGeom>
          <a:solidFill>
            <a:srgbClr val="A80000"/>
          </a:solidFill>
          <a:ln w="12700">
            <a:solidFill>
              <a:srgbClr val="A80000"/>
            </a:solidFill>
            <a:prstDash val="solid"/>
          </a:ln>
        </p:spPr>
      </p:sp>
      <p:sp>
        <p:nvSpPr>
          <p:cNvPr id="14" name="Text 12"/>
          <p:cNvSpPr/>
          <p:nvPr/>
        </p:nvSpPr>
        <p:spPr>
          <a:xfrm>
            <a:off x="384048" y="3172968"/>
            <a:ext cx="301752" cy="301752"/>
          </a:xfrm>
          <a:prstGeom prst="rect">
            <a:avLst/>
          </a:prstGeom>
          <a:noFill/>
          <a:ln/>
        </p:spPr>
        <p:txBody>
          <a:bodyPr wrap="square" rtlCol="0" anchor="ctr"/>
          <a:lstStyle/>
          <a:p>
            <a:pPr algn="ctr" indent="0" marL="0">
              <a:buNone/>
            </a:pPr>
            <a:r>
              <a:rPr lang="en-US" sz="1100" b="1" dirty="0">
                <a:solidFill>
                  <a:srgbClr val="FFFFFF"/>
                </a:solidFill>
              </a:rPr>
              <a:t>A</a:t>
            </a:r>
            <a:endParaRPr lang="en-US" sz="1100" dirty="0"/>
          </a:p>
        </p:txBody>
      </p:sp>
      <p:sp>
        <p:nvSpPr>
          <p:cNvPr id="15" name="Text 13"/>
          <p:cNvSpPr/>
          <p:nvPr/>
        </p:nvSpPr>
        <p:spPr>
          <a:xfrm>
            <a:off x="768096" y="3090672"/>
            <a:ext cx="8010144" cy="493776"/>
          </a:xfrm>
          <a:prstGeom prst="rect">
            <a:avLst/>
          </a:prstGeom>
          <a:noFill/>
          <a:ln/>
        </p:spPr>
        <p:txBody>
          <a:bodyPr wrap="square" rtlCol="0" anchor="ctr"/>
          <a:lstStyle/>
          <a:p>
            <a:pPr indent="0" marL="0">
              <a:buNone/>
            </a:pPr>
            <a:r>
              <a:rPr lang="en-US" sz="1150" dirty="0">
                <a:solidFill>
                  <a:srgbClr val="1B2A3B"/>
                </a:solidFill>
              </a:rPr>
              <a:t>Azure AD Join removes on-premises AD dependency entirely — not suitable if on-prem Group Policy and domain resources are still needed.</a:t>
            </a:r>
            <a:endParaRPr lang="en-US" sz="1150" dirty="0"/>
          </a:p>
        </p:txBody>
      </p:sp>
      <p:sp>
        <p:nvSpPr>
          <p:cNvPr id="16" name="Shape 14"/>
          <p:cNvSpPr/>
          <p:nvPr/>
        </p:nvSpPr>
        <p:spPr>
          <a:xfrm>
            <a:off x="292608" y="3712464"/>
            <a:ext cx="8558784" cy="603504"/>
          </a:xfrm>
          <a:prstGeom prst="rect">
            <a:avLst/>
          </a:prstGeom>
          <a:solidFill>
            <a:srgbClr val="FAEAEA"/>
          </a:solidFill>
          <a:ln w="12700">
            <a:solidFill>
              <a:srgbClr val="F4AAAA"/>
            </a:solidFill>
            <a:prstDash val="solid"/>
          </a:ln>
        </p:spPr>
      </p:sp>
      <p:sp>
        <p:nvSpPr>
          <p:cNvPr id="17" name="Shape 15"/>
          <p:cNvSpPr/>
          <p:nvPr/>
        </p:nvSpPr>
        <p:spPr>
          <a:xfrm>
            <a:off x="384048" y="3849624"/>
            <a:ext cx="301752" cy="301752"/>
          </a:xfrm>
          <a:prstGeom prst="ellipse">
            <a:avLst/>
          </a:prstGeom>
          <a:solidFill>
            <a:srgbClr val="A80000"/>
          </a:solidFill>
          <a:ln w="12700">
            <a:solidFill>
              <a:srgbClr val="A80000"/>
            </a:solidFill>
            <a:prstDash val="solid"/>
          </a:ln>
        </p:spPr>
      </p:sp>
      <p:sp>
        <p:nvSpPr>
          <p:cNvPr id="18" name="Text 16"/>
          <p:cNvSpPr/>
          <p:nvPr/>
        </p:nvSpPr>
        <p:spPr>
          <a:xfrm>
            <a:off x="384048" y="3849624"/>
            <a:ext cx="301752" cy="301752"/>
          </a:xfrm>
          <a:prstGeom prst="rect">
            <a:avLst/>
          </a:prstGeom>
          <a:noFill/>
          <a:ln/>
        </p:spPr>
        <p:txBody>
          <a:bodyPr wrap="square" rtlCol="0" anchor="ctr"/>
          <a:lstStyle/>
          <a:p>
            <a:pPr algn="ctr" indent="0" marL="0">
              <a:buNone/>
            </a:pPr>
            <a:r>
              <a:rPr lang="en-US" sz="1100" b="1" dirty="0">
                <a:solidFill>
                  <a:srgbClr val="FFFFFF"/>
                </a:solidFill>
              </a:rPr>
              <a:t>C</a:t>
            </a:r>
            <a:endParaRPr lang="en-US" sz="1100" dirty="0"/>
          </a:p>
        </p:txBody>
      </p:sp>
      <p:sp>
        <p:nvSpPr>
          <p:cNvPr id="19" name="Text 17"/>
          <p:cNvSpPr/>
          <p:nvPr/>
        </p:nvSpPr>
        <p:spPr>
          <a:xfrm>
            <a:off x="768096" y="3767328"/>
            <a:ext cx="8010144" cy="493776"/>
          </a:xfrm>
          <a:prstGeom prst="rect">
            <a:avLst/>
          </a:prstGeom>
          <a:noFill/>
          <a:ln/>
        </p:spPr>
        <p:txBody>
          <a:bodyPr wrap="square" rtlCol="0" anchor="ctr"/>
          <a:lstStyle/>
          <a:p>
            <a:pPr indent="0" marL="0">
              <a:buNone/>
            </a:pPr>
            <a:r>
              <a:rPr lang="en-US" sz="1150" dirty="0">
                <a:solidFill>
                  <a:srgbClr val="1B2A3B"/>
                </a:solidFill>
              </a:rPr>
              <a:t>B2B is for inviting external user identities, not for joining corporate-owned Windows devices to a directory.</a:t>
            </a:r>
            <a:endParaRPr lang="en-US" sz="1150" dirty="0"/>
          </a:p>
        </p:txBody>
      </p:sp>
      <p:sp>
        <p:nvSpPr>
          <p:cNvPr id="20" name="Shape 18"/>
          <p:cNvSpPr/>
          <p:nvPr/>
        </p:nvSpPr>
        <p:spPr>
          <a:xfrm>
            <a:off x="292608" y="4389120"/>
            <a:ext cx="8558784" cy="603504"/>
          </a:xfrm>
          <a:prstGeom prst="rect">
            <a:avLst/>
          </a:prstGeom>
          <a:solidFill>
            <a:srgbClr val="FAEAEA"/>
          </a:solidFill>
          <a:ln w="12700">
            <a:solidFill>
              <a:srgbClr val="F4AAAA"/>
            </a:solidFill>
            <a:prstDash val="solid"/>
          </a:ln>
        </p:spPr>
      </p:sp>
      <p:sp>
        <p:nvSpPr>
          <p:cNvPr id="21" name="Shape 19"/>
          <p:cNvSpPr/>
          <p:nvPr/>
        </p:nvSpPr>
        <p:spPr>
          <a:xfrm>
            <a:off x="384048" y="4526280"/>
            <a:ext cx="301752" cy="301752"/>
          </a:xfrm>
          <a:prstGeom prst="ellipse">
            <a:avLst/>
          </a:prstGeom>
          <a:solidFill>
            <a:srgbClr val="A80000"/>
          </a:solidFill>
          <a:ln w="12700">
            <a:solidFill>
              <a:srgbClr val="A80000"/>
            </a:solidFill>
            <a:prstDash val="solid"/>
          </a:ln>
        </p:spPr>
      </p:sp>
      <p:sp>
        <p:nvSpPr>
          <p:cNvPr id="22" name="Text 20"/>
          <p:cNvSpPr/>
          <p:nvPr/>
        </p:nvSpPr>
        <p:spPr>
          <a:xfrm>
            <a:off x="384048" y="4526280"/>
            <a:ext cx="301752" cy="301752"/>
          </a:xfrm>
          <a:prstGeom prst="rect">
            <a:avLst/>
          </a:prstGeom>
          <a:noFill/>
          <a:ln/>
        </p:spPr>
        <p:txBody>
          <a:bodyPr wrap="square" rtlCol="0" anchor="ctr"/>
          <a:lstStyle/>
          <a:p>
            <a:pPr algn="ctr" indent="0" marL="0">
              <a:buNone/>
            </a:pPr>
            <a:r>
              <a:rPr lang="en-US" sz="1100" b="1" dirty="0">
                <a:solidFill>
                  <a:srgbClr val="FFFFFF"/>
                </a:solidFill>
              </a:rPr>
              <a:t>D</a:t>
            </a:r>
            <a:endParaRPr lang="en-US" sz="1100" dirty="0"/>
          </a:p>
        </p:txBody>
      </p:sp>
      <p:sp>
        <p:nvSpPr>
          <p:cNvPr id="23" name="Text 21"/>
          <p:cNvSpPr/>
          <p:nvPr/>
        </p:nvSpPr>
        <p:spPr>
          <a:xfrm>
            <a:off x="768096" y="4443984"/>
            <a:ext cx="8010144" cy="493776"/>
          </a:xfrm>
          <a:prstGeom prst="rect">
            <a:avLst/>
          </a:prstGeom>
          <a:noFill/>
          <a:ln/>
        </p:spPr>
        <p:txBody>
          <a:bodyPr wrap="square" rtlCol="0" anchor="ctr"/>
          <a:lstStyle/>
          <a:p>
            <a:pPr indent="0" marL="0">
              <a:buNone/>
            </a:pPr>
            <a:r>
              <a:rPr lang="en-US" sz="1150" dirty="0">
                <a:solidFill>
                  <a:srgbClr val="1B2A3B"/>
                </a:solidFill>
              </a:rPr>
              <a:t>Entra ID Registered (BYOD) provides limited management capabilities and is designed for personal devices — not corporate machines needing Group Policy.</a:t>
            </a:r>
            <a:endParaRPr lang="en-US" sz="11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4F8FD"/>
        </a:solidFill>
      </p:bgPr>
    </p:bg>
    <p:spTree>
      <p:nvGrpSpPr>
        <p:cNvPr id="1" name=""/>
        <p:cNvGrpSpPr/>
        <p:nvPr/>
      </p:nvGrpSpPr>
      <p:grpSpPr>
        <a:xfrm>
          <a:off x="0" y="0"/>
          <a:ext cx="0" cy="0"/>
          <a:chOff x="0" y="0"/>
          <a:chExt cx="0" cy="0"/>
        </a:xfrm>
      </p:grpSpPr>
      <p:sp>
        <p:nvSpPr>
          <p:cNvPr id="2" name="Shape 0"/>
          <p:cNvSpPr/>
          <p:nvPr/>
        </p:nvSpPr>
        <p:spPr>
          <a:xfrm>
            <a:off x="0" y="0"/>
            <a:ext cx="146304" cy="5143500"/>
          </a:xfrm>
          <a:prstGeom prst="rect">
            <a:avLst/>
          </a:prstGeom>
          <a:solidFill>
            <a:srgbClr val="0078D4"/>
          </a:solidFill>
          <a:ln w="12700">
            <a:solidFill>
              <a:srgbClr val="0078D4"/>
            </a:solidFill>
            <a:prstDash val="solid"/>
          </a:ln>
        </p:spPr>
      </p:sp>
      <p:sp>
        <p:nvSpPr>
          <p:cNvPr id="3" name="Shape 1"/>
          <p:cNvSpPr/>
          <p:nvPr/>
        </p:nvSpPr>
        <p:spPr>
          <a:xfrm>
            <a:off x="146304" y="0"/>
            <a:ext cx="8997696" cy="594360"/>
          </a:xfrm>
          <a:prstGeom prst="rect">
            <a:avLst/>
          </a:prstGeom>
          <a:solidFill>
            <a:srgbClr val="0A1628"/>
          </a:solidFill>
          <a:ln w="12700">
            <a:solidFill>
              <a:srgbClr val="0A1628"/>
            </a:solidFill>
            <a:prstDash val="solid"/>
          </a:ln>
        </p:spPr>
      </p:sp>
      <p:sp>
        <p:nvSpPr>
          <p:cNvPr id="4" name="Text 2"/>
          <p:cNvSpPr/>
          <p:nvPr/>
        </p:nvSpPr>
        <p:spPr>
          <a:xfrm>
            <a:off x="292608" y="0"/>
            <a:ext cx="6583680" cy="594360"/>
          </a:xfrm>
          <a:prstGeom prst="rect">
            <a:avLst/>
          </a:prstGeom>
          <a:noFill/>
          <a:ln/>
        </p:spPr>
        <p:txBody>
          <a:bodyPr wrap="square" lIns="0" tIns="0" rIns="0" bIns="0" rtlCol="0" anchor="ctr"/>
          <a:lstStyle/>
          <a:p>
            <a:pPr indent="0" marL="0">
              <a:buNone/>
            </a:pPr>
            <a:r>
              <a:rPr lang="en-US" sz="1200" b="1" dirty="0">
                <a:solidFill>
                  <a:srgbClr val="50E6FF"/>
                </a:solidFill>
              </a:rPr>
              <a:t>❓  QUESTION 13  ·  Azure Policy — Remediation</a:t>
            </a:r>
            <a:endParaRPr lang="en-US" sz="1200" dirty="0"/>
          </a:p>
        </p:txBody>
      </p:sp>
      <p:sp>
        <p:nvSpPr>
          <p:cNvPr id="5" name="Text 3"/>
          <p:cNvSpPr/>
          <p:nvPr/>
        </p:nvSpPr>
        <p:spPr>
          <a:xfrm>
            <a:off x="7498080" y="0"/>
            <a:ext cx="1499616" cy="594360"/>
          </a:xfrm>
          <a:prstGeom prst="rect">
            <a:avLst/>
          </a:prstGeom>
          <a:noFill/>
          <a:ln/>
        </p:spPr>
        <p:txBody>
          <a:bodyPr wrap="square" lIns="0" tIns="0" rIns="0" bIns="0" rtlCol="0" anchor="ctr"/>
          <a:lstStyle/>
          <a:p>
            <a:pPr algn="r" indent="0" marL="0">
              <a:buNone/>
            </a:pPr>
            <a:r>
              <a:rPr lang="en-US" sz="1200" b="1" dirty="0">
                <a:solidFill>
                  <a:srgbClr val="6C8EAD"/>
                </a:solidFill>
              </a:rPr>
              <a:t>13 / 20</a:t>
            </a:r>
            <a:endParaRPr lang="en-US" sz="1200" dirty="0"/>
          </a:p>
        </p:txBody>
      </p:sp>
      <p:sp>
        <p:nvSpPr>
          <p:cNvPr id="6" name="Shape 4"/>
          <p:cNvSpPr/>
          <p:nvPr/>
        </p:nvSpPr>
        <p:spPr>
          <a:xfrm>
            <a:off x="292608" y="685800"/>
            <a:ext cx="1097280" cy="256032"/>
          </a:xfrm>
          <a:prstGeom prst="rect">
            <a:avLst/>
          </a:prstGeom>
          <a:solidFill>
            <a:srgbClr val="0078D4"/>
          </a:solidFill>
          <a:ln w="12700">
            <a:solidFill>
              <a:srgbClr val="0078D4"/>
            </a:solidFill>
            <a:prstDash val="solid"/>
          </a:ln>
        </p:spPr>
      </p:sp>
      <p:sp>
        <p:nvSpPr>
          <p:cNvPr id="7" name="Text 5"/>
          <p:cNvSpPr/>
          <p:nvPr/>
        </p:nvSpPr>
        <p:spPr>
          <a:xfrm>
            <a:off x="292608" y="685800"/>
            <a:ext cx="1097280" cy="256032"/>
          </a:xfrm>
          <a:prstGeom prst="rect">
            <a:avLst/>
          </a:prstGeom>
          <a:noFill/>
          <a:ln/>
        </p:spPr>
        <p:txBody>
          <a:bodyPr wrap="square" rtlCol="0" anchor="ctr"/>
          <a:lstStyle/>
          <a:p>
            <a:pPr algn="ctr" indent="0" marL="0">
              <a:buNone/>
            </a:pPr>
            <a:r>
              <a:rPr lang="en-US" sz="800" b="1" dirty="0">
                <a:solidFill>
                  <a:srgbClr val="FFFFFF"/>
                </a:solidFill>
              </a:rPr>
              <a:t>SCENARIO</a:t>
            </a:r>
            <a:endParaRPr lang="en-US" sz="800" dirty="0"/>
          </a:p>
        </p:txBody>
      </p:sp>
      <p:sp>
        <p:nvSpPr>
          <p:cNvPr id="8" name="Shape 6"/>
          <p:cNvSpPr/>
          <p:nvPr/>
        </p:nvSpPr>
        <p:spPr>
          <a:xfrm>
            <a:off x="292608" y="978408"/>
            <a:ext cx="8558784" cy="960120"/>
          </a:xfrm>
          <a:prstGeom prst="rect">
            <a:avLst/>
          </a:prstGeom>
          <a:solidFill>
            <a:srgbClr val="EBF4FF"/>
          </a:solidFill>
          <a:ln w="12700">
            <a:solidFill>
              <a:srgbClr val="0078D4"/>
            </a:solidFill>
            <a:prstDash val="solid"/>
          </a:ln>
        </p:spPr>
      </p:sp>
      <p:sp>
        <p:nvSpPr>
          <p:cNvPr id="9" name="Text 7"/>
          <p:cNvSpPr/>
          <p:nvPr/>
        </p:nvSpPr>
        <p:spPr>
          <a:xfrm>
            <a:off x="420624" y="1024128"/>
            <a:ext cx="8321040" cy="868680"/>
          </a:xfrm>
          <a:prstGeom prst="rect">
            <a:avLst/>
          </a:prstGeom>
          <a:noFill/>
          <a:ln/>
        </p:spPr>
        <p:txBody>
          <a:bodyPr wrap="square" rtlCol="0" anchor="t"/>
          <a:lstStyle/>
          <a:p>
            <a:pPr indent="0" marL="0">
              <a:buNone/>
            </a:pPr>
            <a:r>
              <a:rPr lang="en-US" sz="1250" dirty="0">
                <a:solidFill>
                  <a:srgbClr val="1B2A3B"/>
                </a:solidFill>
              </a:rPr>
              <a:t>An Azure Policy was deployed to enforce that all existing Storage Accounts must have secure transfer enabled. However, 40 existing storage accounts were created before the policy and are currently non-compliant.</a:t>
            </a:r>
            <a:endParaRPr lang="en-US" sz="1250" dirty="0"/>
          </a:p>
        </p:txBody>
      </p:sp>
      <p:sp>
        <p:nvSpPr>
          <p:cNvPr id="10" name="Text 8"/>
          <p:cNvSpPr/>
          <p:nvPr/>
        </p:nvSpPr>
        <p:spPr>
          <a:xfrm>
            <a:off x="292608" y="2048256"/>
            <a:ext cx="8558784" cy="420624"/>
          </a:xfrm>
          <a:prstGeom prst="rect">
            <a:avLst/>
          </a:prstGeom>
          <a:noFill/>
          <a:ln/>
        </p:spPr>
        <p:txBody>
          <a:bodyPr wrap="square" rtlCol="0" anchor="ctr"/>
          <a:lstStyle/>
          <a:p>
            <a:pPr indent="0" marL="0">
              <a:buNone/>
            </a:pPr>
            <a:r>
              <a:rPr lang="en-US" sz="1350" b="1" dirty="0">
                <a:solidFill>
                  <a:srgbClr val="0A1628"/>
                </a:solidFill>
              </a:rPr>
              <a:t>Which Azure Policy feature can automatically fix these existing non-compliant resources?</a:t>
            </a:r>
            <a:endParaRPr lang="en-US" sz="1350" dirty="0"/>
          </a:p>
        </p:txBody>
      </p:sp>
      <p:sp>
        <p:nvSpPr>
          <p:cNvPr id="11" name="Shape 9"/>
          <p:cNvSpPr/>
          <p:nvPr/>
        </p:nvSpPr>
        <p:spPr>
          <a:xfrm>
            <a:off x="292608" y="2523744"/>
            <a:ext cx="8558784" cy="539496"/>
          </a:xfrm>
          <a:prstGeom prst="rect">
            <a:avLst/>
          </a:prstGeom>
          <a:solidFill>
            <a:srgbClr val="FFFFFF"/>
          </a:solidFill>
          <a:ln w="12700">
            <a:solidFill>
              <a:srgbClr val="C5D8EE"/>
            </a:solidFill>
            <a:prstDash val="solid"/>
          </a:ln>
        </p:spPr>
      </p:sp>
      <p:sp>
        <p:nvSpPr>
          <p:cNvPr id="12" name="Shape 10"/>
          <p:cNvSpPr/>
          <p:nvPr/>
        </p:nvSpPr>
        <p:spPr>
          <a:xfrm>
            <a:off x="384048" y="2633472"/>
            <a:ext cx="329184" cy="329184"/>
          </a:xfrm>
          <a:prstGeom prst="ellipse">
            <a:avLst/>
          </a:prstGeom>
          <a:solidFill>
            <a:srgbClr val="1B3A5C"/>
          </a:solidFill>
          <a:ln w="12700">
            <a:solidFill>
              <a:srgbClr val="1B3A5C"/>
            </a:solidFill>
            <a:prstDash val="solid"/>
          </a:ln>
        </p:spPr>
      </p:sp>
      <p:sp>
        <p:nvSpPr>
          <p:cNvPr id="13" name="Text 11"/>
          <p:cNvSpPr/>
          <p:nvPr/>
        </p:nvSpPr>
        <p:spPr>
          <a:xfrm>
            <a:off x="384048" y="2633472"/>
            <a:ext cx="329184" cy="329184"/>
          </a:xfrm>
          <a:prstGeom prst="rect">
            <a:avLst/>
          </a:prstGeom>
          <a:noFill/>
          <a:ln/>
        </p:spPr>
        <p:txBody>
          <a:bodyPr wrap="square" rtlCol="0" anchor="ctr"/>
          <a:lstStyle/>
          <a:p>
            <a:pPr algn="ctr" indent="0" marL="0">
              <a:buNone/>
            </a:pPr>
            <a:r>
              <a:rPr lang="en-US" sz="1100" b="1" dirty="0">
                <a:solidFill>
                  <a:srgbClr val="FFFFFF"/>
                </a:solidFill>
              </a:rPr>
              <a:t>A</a:t>
            </a:r>
            <a:endParaRPr lang="en-US" sz="1100" dirty="0"/>
          </a:p>
        </p:txBody>
      </p:sp>
      <p:sp>
        <p:nvSpPr>
          <p:cNvPr id="14" name="Text 12"/>
          <p:cNvSpPr/>
          <p:nvPr/>
        </p:nvSpPr>
        <p:spPr>
          <a:xfrm>
            <a:off x="786384" y="2615184"/>
            <a:ext cx="7991856" cy="365760"/>
          </a:xfrm>
          <a:prstGeom prst="rect">
            <a:avLst/>
          </a:prstGeom>
          <a:noFill/>
          <a:ln/>
        </p:spPr>
        <p:txBody>
          <a:bodyPr wrap="square" rtlCol="0" anchor="ctr"/>
          <a:lstStyle/>
          <a:p>
            <a:pPr indent="0" marL="0">
              <a:buNone/>
            </a:pPr>
            <a:r>
              <a:rPr lang="en-US" sz="1250" dirty="0">
                <a:solidFill>
                  <a:srgbClr val="1B2A3B"/>
                </a:solidFill>
              </a:rPr>
              <a:t>Audit effect with a compliance report</a:t>
            </a:r>
            <a:endParaRPr lang="en-US" sz="1250" dirty="0"/>
          </a:p>
        </p:txBody>
      </p:sp>
      <p:sp>
        <p:nvSpPr>
          <p:cNvPr id="15" name="Shape 13"/>
          <p:cNvSpPr/>
          <p:nvPr/>
        </p:nvSpPr>
        <p:spPr>
          <a:xfrm>
            <a:off x="292608" y="3154680"/>
            <a:ext cx="8558784" cy="539496"/>
          </a:xfrm>
          <a:prstGeom prst="rect">
            <a:avLst/>
          </a:prstGeom>
          <a:solidFill>
            <a:srgbClr val="FFFFFF"/>
          </a:solidFill>
          <a:ln w="12700">
            <a:solidFill>
              <a:srgbClr val="C5D8EE"/>
            </a:solidFill>
            <a:prstDash val="solid"/>
          </a:ln>
        </p:spPr>
      </p:sp>
      <p:sp>
        <p:nvSpPr>
          <p:cNvPr id="16" name="Shape 14"/>
          <p:cNvSpPr/>
          <p:nvPr/>
        </p:nvSpPr>
        <p:spPr>
          <a:xfrm>
            <a:off x="384048" y="3264408"/>
            <a:ext cx="329184" cy="329184"/>
          </a:xfrm>
          <a:prstGeom prst="ellipse">
            <a:avLst/>
          </a:prstGeom>
          <a:solidFill>
            <a:srgbClr val="1B3A5C"/>
          </a:solidFill>
          <a:ln w="12700">
            <a:solidFill>
              <a:srgbClr val="1B3A5C"/>
            </a:solidFill>
            <a:prstDash val="solid"/>
          </a:ln>
        </p:spPr>
      </p:sp>
      <p:sp>
        <p:nvSpPr>
          <p:cNvPr id="17" name="Text 15"/>
          <p:cNvSpPr/>
          <p:nvPr/>
        </p:nvSpPr>
        <p:spPr>
          <a:xfrm>
            <a:off x="384048" y="3264408"/>
            <a:ext cx="329184" cy="329184"/>
          </a:xfrm>
          <a:prstGeom prst="rect">
            <a:avLst/>
          </a:prstGeom>
          <a:noFill/>
          <a:ln/>
        </p:spPr>
        <p:txBody>
          <a:bodyPr wrap="square" rtlCol="0" anchor="ctr"/>
          <a:lstStyle/>
          <a:p>
            <a:pPr algn="ctr" indent="0" marL="0">
              <a:buNone/>
            </a:pPr>
            <a:r>
              <a:rPr lang="en-US" sz="1100" b="1" dirty="0">
                <a:solidFill>
                  <a:srgbClr val="FFFFFF"/>
                </a:solidFill>
              </a:rPr>
              <a:t>B</a:t>
            </a:r>
            <a:endParaRPr lang="en-US" sz="1100" dirty="0"/>
          </a:p>
        </p:txBody>
      </p:sp>
      <p:sp>
        <p:nvSpPr>
          <p:cNvPr id="18" name="Text 16"/>
          <p:cNvSpPr/>
          <p:nvPr/>
        </p:nvSpPr>
        <p:spPr>
          <a:xfrm>
            <a:off x="786384" y="3246120"/>
            <a:ext cx="7991856" cy="365760"/>
          </a:xfrm>
          <a:prstGeom prst="rect">
            <a:avLst/>
          </a:prstGeom>
          <a:noFill/>
          <a:ln/>
        </p:spPr>
        <p:txBody>
          <a:bodyPr wrap="square" rtlCol="0" anchor="ctr"/>
          <a:lstStyle/>
          <a:p>
            <a:pPr indent="0" marL="0">
              <a:buNone/>
            </a:pPr>
            <a:r>
              <a:rPr lang="en-US" sz="1250" dirty="0">
                <a:solidFill>
                  <a:srgbClr val="1B2A3B"/>
                </a:solidFill>
              </a:rPr>
              <a:t>Deny effect applied retroactively</a:t>
            </a:r>
            <a:endParaRPr lang="en-US" sz="1250" dirty="0"/>
          </a:p>
        </p:txBody>
      </p:sp>
      <p:sp>
        <p:nvSpPr>
          <p:cNvPr id="19" name="Shape 17"/>
          <p:cNvSpPr/>
          <p:nvPr/>
        </p:nvSpPr>
        <p:spPr>
          <a:xfrm>
            <a:off x="292608" y="3785616"/>
            <a:ext cx="8558784" cy="539496"/>
          </a:xfrm>
          <a:prstGeom prst="rect">
            <a:avLst/>
          </a:prstGeom>
          <a:solidFill>
            <a:srgbClr val="FFFFFF"/>
          </a:solidFill>
          <a:ln w="12700">
            <a:solidFill>
              <a:srgbClr val="C5D8EE"/>
            </a:solidFill>
            <a:prstDash val="solid"/>
          </a:ln>
        </p:spPr>
      </p:sp>
      <p:sp>
        <p:nvSpPr>
          <p:cNvPr id="20" name="Shape 18"/>
          <p:cNvSpPr/>
          <p:nvPr/>
        </p:nvSpPr>
        <p:spPr>
          <a:xfrm>
            <a:off x="384048" y="3895344"/>
            <a:ext cx="329184" cy="329184"/>
          </a:xfrm>
          <a:prstGeom prst="ellipse">
            <a:avLst/>
          </a:prstGeom>
          <a:solidFill>
            <a:srgbClr val="1B3A5C"/>
          </a:solidFill>
          <a:ln w="12700">
            <a:solidFill>
              <a:srgbClr val="1B3A5C"/>
            </a:solidFill>
            <a:prstDash val="solid"/>
          </a:ln>
        </p:spPr>
      </p:sp>
      <p:sp>
        <p:nvSpPr>
          <p:cNvPr id="21" name="Text 19"/>
          <p:cNvSpPr/>
          <p:nvPr/>
        </p:nvSpPr>
        <p:spPr>
          <a:xfrm>
            <a:off x="384048" y="3895344"/>
            <a:ext cx="329184" cy="329184"/>
          </a:xfrm>
          <a:prstGeom prst="rect">
            <a:avLst/>
          </a:prstGeom>
          <a:noFill/>
          <a:ln/>
        </p:spPr>
        <p:txBody>
          <a:bodyPr wrap="square" rtlCol="0" anchor="ctr"/>
          <a:lstStyle/>
          <a:p>
            <a:pPr algn="ctr" indent="0" marL="0">
              <a:buNone/>
            </a:pPr>
            <a:r>
              <a:rPr lang="en-US" sz="1100" b="1" dirty="0">
                <a:solidFill>
                  <a:srgbClr val="FFFFFF"/>
                </a:solidFill>
              </a:rPr>
              <a:t>C</a:t>
            </a:r>
            <a:endParaRPr lang="en-US" sz="1100" dirty="0"/>
          </a:p>
        </p:txBody>
      </p:sp>
      <p:sp>
        <p:nvSpPr>
          <p:cNvPr id="22" name="Text 20"/>
          <p:cNvSpPr/>
          <p:nvPr/>
        </p:nvSpPr>
        <p:spPr>
          <a:xfrm>
            <a:off x="786384" y="3877056"/>
            <a:ext cx="7991856" cy="365760"/>
          </a:xfrm>
          <a:prstGeom prst="rect">
            <a:avLst/>
          </a:prstGeom>
          <a:noFill/>
          <a:ln/>
        </p:spPr>
        <p:txBody>
          <a:bodyPr wrap="square" rtlCol="0" anchor="ctr"/>
          <a:lstStyle/>
          <a:p>
            <a:pPr indent="0" marL="0">
              <a:buNone/>
            </a:pPr>
            <a:r>
              <a:rPr lang="en-US" sz="1250" dirty="0">
                <a:solidFill>
                  <a:srgbClr val="1B2A3B"/>
                </a:solidFill>
              </a:rPr>
              <a:t>Remediation Task using the DeployIfNotExists or Modify effect</a:t>
            </a:r>
            <a:endParaRPr lang="en-US" sz="1250" dirty="0"/>
          </a:p>
        </p:txBody>
      </p:sp>
      <p:sp>
        <p:nvSpPr>
          <p:cNvPr id="23" name="Shape 21"/>
          <p:cNvSpPr/>
          <p:nvPr/>
        </p:nvSpPr>
        <p:spPr>
          <a:xfrm>
            <a:off x="292608" y="4416552"/>
            <a:ext cx="8558784" cy="539496"/>
          </a:xfrm>
          <a:prstGeom prst="rect">
            <a:avLst/>
          </a:prstGeom>
          <a:solidFill>
            <a:srgbClr val="FFFFFF"/>
          </a:solidFill>
          <a:ln w="12700">
            <a:solidFill>
              <a:srgbClr val="C5D8EE"/>
            </a:solidFill>
            <a:prstDash val="solid"/>
          </a:ln>
        </p:spPr>
      </p:sp>
      <p:sp>
        <p:nvSpPr>
          <p:cNvPr id="24" name="Shape 22"/>
          <p:cNvSpPr/>
          <p:nvPr/>
        </p:nvSpPr>
        <p:spPr>
          <a:xfrm>
            <a:off x="384048" y="4526280"/>
            <a:ext cx="329184" cy="329184"/>
          </a:xfrm>
          <a:prstGeom prst="ellipse">
            <a:avLst/>
          </a:prstGeom>
          <a:solidFill>
            <a:srgbClr val="1B3A5C"/>
          </a:solidFill>
          <a:ln w="12700">
            <a:solidFill>
              <a:srgbClr val="1B3A5C"/>
            </a:solidFill>
            <a:prstDash val="solid"/>
          </a:ln>
        </p:spPr>
      </p:sp>
      <p:sp>
        <p:nvSpPr>
          <p:cNvPr id="25" name="Text 23"/>
          <p:cNvSpPr/>
          <p:nvPr/>
        </p:nvSpPr>
        <p:spPr>
          <a:xfrm>
            <a:off x="384048" y="4526280"/>
            <a:ext cx="329184" cy="329184"/>
          </a:xfrm>
          <a:prstGeom prst="rect">
            <a:avLst/>
          </a:prstGeom>
          <a:noFill/>
          <a:ln/>
        </p:spPr>
        <p:txBody>
          <a:bodyPr wrap="square" rtlCol="0" anchor="ctr"/>
          <a:lstStyle/>
          <a:p>
            <a:pPr algn="ctr" indent="0" marL="0">
              <a:buNone/>
            </a:pPr>
            <a:r>
              <a:rPr lang="en-US" sz="1100" b="1" dirty="0">
                <a:solidFill>
                  <a:srgbClr val="FFFFFF"/>
                </a:solidFill>
              </a:rPr>
              <a:t>D</a:t>
            </a:r>
            <a:endParaRPr lang="en-US" sz="1100" dirty="0"/>
          </a:p>
        </p:txBody>
      </p:sp>
      <p:sp>
        <p:nvSpPr>
          <p:cNvPr id="26" name="Text 24"/>
          <p:cNvSpPr/>
          <p:nvPr/>
        </p:nvSpPr>
        <p:spPr>
          <a:xfrm>
            <a:off x="786384" y="4507992"/>
            <a:ext cx="7991856" cy="365760"/>
          </a:xfrm>
          <a:prstGeom prst="rect">
            <a:avLst/>
          </a:prstGeom>
          <a:noFill/>
          <a:ln/>
        </p:spPr>
        <p:txBody>
          <a:bodyPr wrap="square" rtlCol="0" anchor="ctr"/>
          <a:lstStyle/>
          <a:p>
            <a:pPr indent="0" marL="0">
              <a:buNone/>
            </a:pPr>
            <a:r>
              <a:rPr lang="en-US" sz="1250" dirty="0">
                <a:solidFill>
                  <a:srgbClr val="1B2A3B"/>
                </a:solidFill>
              </a:rPr>
              <a:t>Azure Blueprints re-deployment</a:t>
            </a:r>
            <a:endParaRPr lang="en-US" sz="12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4F8FD"/>
        </a:solidFill>
      </p:bgPr>
    </p:bg>
    <p:spTree>
      <p:nvGrpSpPr>
        <p:cNvPr id="1" name=""/>
        <p:cNvGrpSpPr/>
        <p:nvPr/>
      </p:nvGrpSpPr>
      <p:grpSpPr>
        <a:xfrm>
          <a:off x="0" y="0"/>
          <a:ext cx="0" cy="0"/>
          <a:chOff x="0" y="0"/>
          <a:chExt cx="0" cy="0"/>
        </a:xfrm>
      </p:grpSpPr>
      <p:sp>
        <p:nvSpPr>
          <p:cNvPr id="2" name="Shape 0"/>
          <p:cNvSpPr/>
          <p:nvPr/>
        </p:nvSpPr>
        <p:spPr>
          <a:xfrm>
            <a:off x="0" y="0"/>
            <a:ext cx="146304" cy="5143500"/>
          </a:xfrm>
          <a:prstGeom prst="rect">
            <a:avLst/>
          </a:prstGeom>
          <a:solidFill>
            <a:srgbClr val="107C10"/>
          </a:solidFill>
          <a:ln w="12700">
            <a:solidFill>
              <a:srgbClr val="107C10"/>
            </a:solidFill>
            <a:prstDash val="solid"/>
          </a:ln>
        </p:spPr>
      </p:sp>
      <p:sp>
        <p:nvSpPr>
          <p:cNvPr id="3" name="Shape 1"/>
          <p:cNvSpPr/>
          <p:nvPr/>
        </p:nvSpPr>
        <p:spPr>
          <a:xfrm>
            <a:off x="146304" y="0"/>
            <a:ext cx="8997696" cy="594360"/>
          </a:xfrm>
          <a:prstGeom prst="rect">
            <a:avLst/>
          </a:prstGeom>
          <a:solidFill>
            <a:srgbClr val="0A1628"/>
          </a:solidFill>
          <a:ln w="12700">
            <a:solidFill>
              <a:srgbClr val="0A1628"/>
            </a:solidFill>
            <a:prstDash val="solid"/>
          </a:ln>
        </p:spPr>
      </p:sp>
      <p:sp>
        <p:nvSpPr>
          <p:cNvPr id="4" name="Text 2"/>
          <p:cNvSpPr/>
          <p:nvPr/>
        </p:nvSpPr>
        <p:spPr>
          <a:xfrm>
            <a:off x="292608" y="0"/>
            <a:ext cx="6583680" cy="594360"/>
          </a:xfrm>
          <a:prstGeom prst="rect">
            <a:avLst/>
          </a:prstGeom>
          <a:noFill/>
          <a:ln/>
        </p:spPr>
        <p:txBody>
          <a:bodyPr wrap="square" lIns="0" tIns="0" rIns="0" bIns="0" rtlCol="0" anchor="ctr"/>
          <a:lstStyle/>
          <a:p>
            <a:pPr indent="0" marL="0">
              <a:buNone/>
            </a:pPr>
            <a:r>
              <a:rPr lang="en-US" sz="1200" b="1" dirty="0">
                <a:solidFill>
                  <a:srgbClr val="00FF90"/>
                </a:solidFill>
              </a:rPr>
              <a:t>✅  ANSWER 13  ·  Azure Policy — Remediation</a:t>
            </a:r>
            <a:endParaRPr lang="en-US" sz="1200" dirty="0"/>
          </a:p>
        </p:txBody>
      </p:sp>
      <p:sp>
        <p:nvSpPr>
          <p:cNvPr id="5" name="Text 3"/>
          <p:cNvSpPr/>
          <p:nvPr/>
        </p:nvSpPr>
        <p:spPr>
          <a:xfrm>
            <a:off x="7498080" y="0"/>
            <a:ext cx="1499616" cy="594360"/>
          </a:xfrm>
          <a:prstGeom prst="rect">
            <a:avLst/>
          </a:prstGeom>
          <a:noFill/>
          <a:ln/>
        </p:spPr>
        <p:txBody>
          <a:bodyPr wrap="square" lIns="0" tIns="0" rIns="0" bIns="0" rtlCol="0" anchor="ctr"/>
          <a:lstStyle/>
          <a:p>
            <a:pPr algn="r" indent="0" marL="0">
              <a:buNone/>
            </a:pPr>
            <a:r>
              <a:rPr lang="en-US" sz="1200" b="1" dirty="0">
                <a:solidFill>
                  <a:srgbClr val="6C8EAD"/>
                </a:solidFill>
              </a:rPr>
              <a:t>13 / 20</a:t>
            </a:r>
            <a:endParaRPr lang="en-US" sz="1200" dirty="0"/>
          </a:p>
        </p:txBody>
      </p:sp>
      <p:sp>
        <p:nvSpPr>
          <p:cNvPr id="6" name="Shape 4"/>
          <p:cNvSpPr/>
          <p:nvPr/>
        </p:nvSpPr>
        <p:spPr>
          <a:xfrm>
            <a:off x="292608" y="658368"/>
            <a:ext cx="8558784" cy="475488"/>
          </a:xfrm>
          <a:prstGeom prst="rect">
            <a:avLst/>
          </a:prstGeom>
          <a:solidFill>
            <a:srgbClr val="E6F3E6"/>
          </a:solidFill>
          <a:ln w="25400">
            <a:solidFill>
              <a:srgbClr val="107C10"/>
            </a:solidFill>
            <a:prstDash val="solid"/>
          </a:ln>
        </p:spPr>
      </p:sp>
      <p:sp>
        <p:nvSpPr>
          <p:cNvPr id="7" name="Text 5"/>
          <p:cNvSpPr/>
          <p:nvPr/>
        </p:nvSpPr>
        <p:spPr>
          <a:xfrm>
            <a:off x="420624" y="658368"/>
            <a:ext cx="8321040" cy="475488"/>
          </a:xfrm>
          <a:prstGeom prst="rect">
            <a:avLst/>
          </a:prstGeom>
          <a:noFill/>
          <a:ln/>
        </p:spPr>
        <p:txBody>
          <a:bodyPr wrap="square" rtlCol="0" anchor="ctr"/>
          <a:lstStyle/>
          <a:p>
            <a:pPr indent="0" marL="0">
              <a:buNone/>
            </a:pPr>
            <a:r>
              <a:rPr lang="en-US" sz="1300" b="1" dirty="0">
                <a:solidFill>
                  <a:srgbClr val="107C10"/>
                </a:solidFill>
              </a:rPr>
              <a:t>✔  Correct: C — Remediation Task using the DeployIfNotExists or Modify effect</a:t>
            </a:r>
            <a:endParaRPr lang="en-US" sz="1300" dirty="0"/>
          </a:p>
        </p:txBody>
      </p:sp>
      <p:sp>
        <p:nvSpPr>
          <p:cNvPr id="8" name="Text 6"/>
          <p:cNvSpPr/>
          <p:nvPr/>
        </p:nvSpPr>
        <p:spPr>
          <a:xfrm>
            <a:off x="292608" y="1216152"/>
            <a:ext cx="8558784" cy="292608"/>
          </a:xfrm>
          <a:prstGeom prst="rect">
            <a:avLst/>
          </a:prstGeom>
          <a:noFill/>
          <a:ln/>
        </p:spPr>
        <p:txBody>
          <a:bodyPr wrap="square" rtlCol="0" anchor="ctr"/>
          <a:lstStyle/>
          <a:p>
            <a:pPr indent="0" marL="0">
              <a:buNone/>
            </a:pPr>
            <a:r>
              <a:rPr lang="en-US" sz="1200" b="1" dirty="0">
                <a:solidFill>
                  <a:srgbClr val="0A1628"/>
                </a:solidFill>
              </a:rPr>
              <a:t>Why this is correct</a:t>
            </a:r>
            <a:endParaRPr lang="en-US" sz="1200" dirty="0"/>
          </a:p>
        </p:txBody>
      </p:sp>
      <p:sp>
        <p:nvSpPr>
          <p:cNvPr id="9" name="Shape 7"/>
          <p:cNvSpPr/>
          <p:nvPr/>
        </p:nvSpPr>
        <p:spPr>
          <a:xfrm>
            <a:off x="292608" y="1517904"/>
            <a:ext cx="8558784" cy="1097280"/>
          </a:xfrm>
          <a:prstGeom prst="rect">
            <a:avLst/>
          </a:prstGeom>
          <a:solidFill>
            <a:srgbClr val="FFFFFF"/>
          </a:solidFill>
          <a:ln w="12700">
            <a:solidFill>
              <a:srgbClr val="C5D8EE"/>
            </a:solidFill>
            <a:prstDash val="solid"/>
          </a:ln>
        </p:spPr>
      </p:sp>
      <p:sp>
        <p:nvSpPr>
          <p:cNvPr id="10" name="Text 8"/>
          <p:cNvSpPr/>
          <p:nvPr/>
        </p:nvSpPr>
        <p:spPr>
          <a:xfrm>
            <a:off x="420624" y="1563624"/>
            <a:ext cx="8321040" cy="1005840"/>
          </a:xfrm>
          <a:prstGeom prst="rect">
            <a:avLst/>
          </a:prstGeom>
          <a:noFill/>
          <a:ln/>
        </p:spPr>
        <p:txBody>
          <a:bodyPr wrap="square" rtlCol="0" anchor="t"/>
          <a:lstStyle/>
          <a:p>
            <a:pPr indent="0" marL="0">
              <a:buNone/>
            </a:pPr>
            <a:r>
              <a:rPr lang="en-US" sz="1150" dirty="0">
                <a:solidFill>
                  <a:srgbClr val="1B2A3B"/>
                </a:solidFill>
              </a:rPr>
              <a:t>A Remediation Task in Azure Policy (used with DeployIfNotExists or Modify effects) can automatically bring existing non-compliant resources into compliance. The Modify effect can update properties (like enabling secure transfer) on existing resources. Audit only flags non-compliance without fixing it. Deny blocks future non-compliant resources but cannot retroactively fix existing ones. Blueprints are for initial environment setup.</a:t>
            </a:r>
            <a:endParaRPr lang="en-US" sz="1150" dirty="0"/>
          </a:p>
        </p:txBody>
      </p:sp>
      <p:sp>
        <p:nvSpPr>
          <p:cNvPr id="11" name="Text 9"/>
          <p:cNvSpPr/>
          <p:nvPr/>
        </p:nvSpPr>
        <p:spPr>
          <a:xfrm>
            <a:off x="292608" y="2697480"/>
            <a:ext cx="8558784" cy="292608"/>
          </a:xfrm>
          <a:prstGeom prst="rect">
            <a:avLst/>
          </a:prstGeom>
          <a:noFill/>
          <a:ln/>
        </p:spPr>
        <p:txBody>
          <a:bodyPr wrap="square" rtlCol="0" anchor="ctr"/>
          <a:lstStyle/>
          <a:p>
            <a:pPr indent="0" marL="0">
              <a:buNone/>
            </a:pPr>
            <a:r>
              <a:rPr lang="en-US" sz="1200" b="1" dirty="0">
                <a:solidFill>
                  <a:srgbClr val="0A1628"/>
                </a:solidFill>
              </a:rPr>
              <a:t>Why the other options are incorrect</a:t>
            </a:r>
            <a:endParaRPr lang="en-US" sz="1200" dirty="0"/>
          </a:p>
        </p:txBody>
      </p:sp>
      <p:sp>
        <p:nvSpPr>
          <p:cNvPr id="12" name="Shape 10"/>
          <p:cNvSpPr/>
          <p:nvPr/>
        </p:nvSpPr>
        <p:spPr>
          <a:xfrm>
            <a:off x="292608" y="3035808"/>
            <a:ext cx="8558784" cy="603504"/>
          </a:xfrm>
          <a:prstGeom prst="rect">
            <a:avLst/>
          </a:prstGeom>
          <a:solidFill>
            <a:srgbClr val="FAEAEA"/>
          </a:solidFill>
          <a:ln w="12700">
            <a:solidFill>
              <a:srgbClr val="F4AAAA"/>
            </a:solidFill>
            <a:prstDash val="solid"/>
          </a:ln>
        </p:spPr>
      </p:sp>
      <p:sp>
        <p:nvSpPr>
          <p:cNvPr id="13" name="Shape 11"/>
          <p:cNvSpPr/>
          <p:nvPr/>
        </p:nvSpPr>
        <p:spPr>
          <a:xfrm>
            <a:off x="384048" y="3172968"/>
            <a:ext cx="301752" cy="301752"/>
          </a:xfrm>
          <a:prstGeom prst="ellipse">
            <a:avLst/>
          </a:prstGeom>
          <a:solidFill>
            <a:srgbClr val="A80000"/>
          </a:solidFill>
          <a:ln w="12700">
            <a:solidFill>
              <a:srgbClr val="A80000"/>
            </a:solidFill>
            <a:prstDash val="solid"/>
          </a:ln>
        </p:spPr>
      </p:sp>
      <p:sp>
        <p:nvSpPr>
          <p:cNvPr id="14" name="Text 12"/>
          <p:cNvSpPr/>
          <p:nvPr/>
        </p:nvSpPr>
        <p:spPr>
          <a:xfrm>
            <a:off x="384048" y="3172968"/>
            <a:ext cx="301752" cy="301752"/>
          </a:xfrm>
          <a:prstGeom prst="rect">
            <a:avLst/>
          </a:prstGeom>
          <a:noFill/>
          <a:ln/>
        </p:spPr>
        <p:txBody>
          <a:bodyPr wrap="square" rtlCol="0" anchor="ctr"/>
          <a:lstStyle/>
          <a:p>
            <a:pPr algn="ctr" indent="0" marL="0">
              <a:buNone/>
            </a:pPr>
            <a:r>
              <a:rPr lang="en-US" sz="1100" b="1" dirty="0">
                <a:solidFill>
                  <a:srgbClr val="FFFFFF"/>
                </a:solidFill>
              </a:rPr>
              <a:t>A</a:t>
            </a:r>
            <a:endParaRPr lang="en-US" sz="1100" dirty="0"/>
          </a:p>
        </p:txBody>
      </p:sp>
      <p:sp>
        <p:nvSpPr>
          <p:cNvPr id="15" name="Text 13"/>
          <p:cNvSpPr/>
          <p:nvPr/>
        </p:nvSpPr>
        <p:spPr>
          <a:xfrm>
            <a:off x="768096" y="3090672"/>
            <a:ext cx="8010144" cy="493776"/>
          </a:xfrm>
          <a:prstGeom prst="rect">
            <a:avLst/>
          </a:prstGeom>
          <a:noFill/>
          <a:ln/>
        </p:spPr>
        <p:txBody>
          <a:bodyPr wrap="square" rtlCol="0" anchor="ctr"/>
          <a:lstStyle/>
          <a:p>
            <a:pPr indent="0" marL="0">
              <a:buNone/>
            </a:pPr>
            <a:r>
              <a:rPr lang="en-US" sz="1150" dirty="0">
                <a:solidFill>
                  <a:srgbClr val="1B2A3B"/>
                </a:solidFill>
              </a:rPr>
              <a:t>Audit marks resources as non-compliant in the dashboard but takes no automatic remediation action on existing resources.</a:t>
            </a:r>
            <a:endParaRPr lang="en-US" sz="1150" dirty="0"/>
          </a:p>
        </p:txBody>
      </p:sp>
      <p:sp>
        <p:nvSpPr>
          <p:cNvPr id="16" name="Shape 14"/>
          <p:cNvSpPr/>
          <p:nvPr/>
        </p:nvSpPr>
        <p:spPr>
          <a:xfrm>
            <a:off x="292608" y="3712464"/>
            <a:ext cx="8558784" cy="603504"/>
          </a:xfrm>
          <a:prstGeom prst="rect">
            <a:avLst/>
          </a:prstGeom>
          <a:solidFill>
            <a:srgbClr val="FAEAEA"/>
          </a:solidFill>
          <a:ln w="12700">
            <a:solidFill>
              <a:srgbClr val="F4AAAA"/>
            </a:solidFill>
            <a:prstDash val="solid"/>
          </a:ln>
        </p:spPr>
      </p:sp>
      <p:sp>
        <p:nvSpPr>
          <p:cNvPr id="17" name="Shape 15"/>
          <p:cNvSpPr/>
          <p:nvPr/>
        </p:nvSpPr>
        <p:spPr>
          <a:xfrm>
            <a:off x="384048" y="3849624"/>
            <a:ext cx="301752" cy="301752"/>
          </a:xfrm>
          <a:prstGeom prst="ellipse">
            <a:avLst/>
          </a:prstGeom>
          <a:solidFill>
            <a:srgbClr val="A80000"/>
          </a:solidFill>
          <a:ln w="12700">
            <a:solidFill>
              <a:srgbClr val="A80000"/>
            </a:solidFill>
            <a:prstDash val="solid"/>
          </a:ln>
        </p:spPr>
      </p:sp>
      <p:sp>
        <p:nvSpPr>
          <p:cNvPr id="18" name="Text 16"/>
          <p:cNvSpPr/>
          <p:nvPr/>
        </p:nvSpPr>
        <p:spPr>
          <a:xfrm>
            <a:off x="384048" y="3849624"/>
            <a:ext cx="301752" cy="301752"/>
          </a:xfrm>
          <a:prstGeom prst="rect">
            <a:avLst/>
          </a:prstGeom>
          <a:noFill/>
          <a:ln/>
        </p:spPr>
        <p:txBody>
          <a:bodyPr wrap="square" rtlCol="0" anchor="ctr"/>
          <a:lstStyle/>
          <a:p>
            <a:pPr algn="ctr" indent="0" marL="0">
              <a:buNone/>
            </a:pPr>
            <a:r>
              <a:rPr lang="en-US" sz="1100" b="1" dirty="0">
                <a:solidFill>
                  <a:srgbClr val="FFFFFF"/>
                </a:solidFill>
              </a:rPr>
              <a:t>B</a:t>
            </a:r>
            <a:endParaRPr lang="en-US" sz="1100" dirty="0"/>
          </a:p>
        </p:txBody>
      </p:sp>
      <p:sp>
        <p:nvSpPr>
          <p:cNvPr id="19" name="Text 17"/>
          <p:cNvSpPr/>
          <p:nvPr/>
        </p:nvSpPr>
        <p:spPr>
          <a:xfrm>
            <a:off x="768096" y="3767328"/>
            <a:ext cx="8010144" cy="493776"/>
          </a:xfrm>
          <a:prstGeom prst="rect">
            <a:avLst/>
          </a:prstGeom>
          <a:noFill/>
          <a:ln/>
        </p:spPr>
        <p:txBody>
          <a:bodyPr wrap="square" rtlCol="0" anchor="ctr"/>
          <a:lstStyle/>
          <a:p>
            <a:pPr indent="0" marL="0">
              <a:buNone/>
            </a:pPr>
            <a:r>
              <a:rPr lang="en-US" sz="1150" dirty="0">
                <a:solidFill>
                  <a:srgbClr val="1B2A3B"/>
                </a:solidFill>
              </a:rPr>
              <a:t>Deny prevents creation of new non-compliant resources but cannot modify or fix resources that already exist.</a:t>
            </a:r>
            <a:endParaRPr lang="en-US" sz="1150" dirty="0"/>
          </a:p>
        </p:txBody>
      </p:sp>
      <p:sp>
        <p:nvSpPr>
          <p:cNvPr id="20" name="Shape 18"/>
          <p:cNvSpPr/>
          <p:nvPr/>
        </p:nvSpPr>
        <p:spPr>
          <a:xfrm>
            <a:off x="292608" y="4389120"/>
            <a:ext cx="8558784" cy="603504"/>
          </a:xfrm>
          <a:prstGeom prst="rect">
            <a:avLst/>
          </a:prstGeom>
          <a:solidFill>
            <a:srgbClr val="FAEAEA"/>
          </a:solidFill>
          <a:ln w="12700">
            <a:solidFill>
              <a:srgbClr val="F4AAAA"/>
            </a:solidFill>
            <a:prstDash val="solid"/>
          </a:ln>
        </p:spPr>
      </p:sp>
      <p:sp>
        <p:nvSpPr>
          <p:cNvPr id="21" name="Shape 19"/>
          <p:cNvSpPr/>
          <p:nvPr/>
        </p:nvSpPr>
        <p:spPr>
          <a:xfrm>
            <a:off x="384048" y="4526280"/>
            <a:ext cx="301752" cy="301752"/>
          </a:xfrm>
          <a:prstGeom prst="ellipse">
            <a:avLst/>
          </a:prstGeom>
          <a:solidFill>
            <a:srgbClr val="A80000"/>
          </a:solidFill>
          <a:ln w="12700">
            <a:solidFill>
              <a:srgbClr val="A80000"/>
            </a:solidFill>
            <a:prstDash val="solid"/>
          </a:ln>
        </p:spPr>
      </p:sp>
      <p:sp>
        <p:nvSpPr>
          <p:cNvPr id="22" name="Text 20"/>
          <p:cNvSpPr/>
          <p:nvPr/>
        </p:nvSpPr>
        <p:spPr>
          <a:xfrm>
            <a:off x="384048" y="4526280"/>
            <a:ext cx="301752" cy="301752"/>
          </a:xfrm>
          <a:prstGeom prst="rect">
            <a:avLst/>
          </a:prstGeom>
          <a:noFill/>
          <a:ln/>
        </p:spPr>
        <p:txBody>
          <a:bodyPr wrap="square" rtlCol="0" anchor="ctr"/>
          <a:lstStyle/>
          <a:p>
            <a:pPr algn="ctr" indent="0" marL="0">
              <a:buNone/>
            </a:pPr>
            <a:r>
              <a:rPr lang="en-US" sz="1100" b="1" dirty="0">
                <a:solidFill>
                  <a:srgbClr val="FFFFFF"/>
                </a:solidFill>
              </a:rPr>
              <a:t>D</a:t>
            </a:r>
            <a:endParaRPr lang="en-US" sz="1100" dirty="0"/>
          </a:p>
        </p:txBody>
      </p:sp>
      <p:sp>
        <p:nvSpPr>
          <p:cNvPr id="23" name="Text 21"/>
          <p:cNvSpPr/>
          <p:nvPr/>
        </p:nvSpPr>
        <p:spPr>
          <a:xfrm>
            <a:off x="768096" y="4443984"/>
            <a:ext cx="8010144" cy="493776"/>
          </a:xfrm>
          <a:prstGeom prst="rect">
            <a:avLst/>
          </a:prstGeom>
          <a:noFill/>
          <a:ln/>
        </p:spPr>
        <p:txBody>
          <a:bodyPr wrap="square" rtlCol="0" anchor="ctr"/>
          <a:lstStyle/>
          <a:p>
            <a:pPr indent="0" marL="0">
              <a:buNone/>
            </a:pPr>
            <a:r>
              <a:rPr lang="en-US" sz="1150" dirty="0">
                <a:solidFill>
                  <a:srgbClr val="1B2A3B"/>
                </a:solidFill>
              </a:rPr>
              <a:t>Azure Blueprints package policies and role assignments for environment setup, but are not designed for remediating individual non-compliant resources.</a:t>
            </a:r>
            <a:endParaRPr lang="en-US" sz="11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4F8FD"/>
        </a:solidFill>
      </p:bgPr>
    </p:bg>
    <p:spTree>
      <p:nvGrpSpPr>
        <p:cNvPr id="1" name=""/>
        <p:cNvGrpSpPr/>
        <p:nvPr/>
      </p:nvGrpSpPr>
      <p:grpSpPr>
        <a:xfrm>
          <a:off x="0" y="0"/>
          <a:ext cx="0" cy="0"/>
          <a:chOff x="0" y="0"/>
          <a:chExt cx="0" cy="0"/>
        </a:xfrm>
      </p:grpSpPr>
      <p:sp>
        <p:nvSpPr>
          <p:cNvPr id="2" name="Shape 0"/>
          <p:cNvSpPr/>
          <p:nvPr/>
        </p:nvSpPr>
        <p:spPr>
          <a:xfrm>
            <a:off x="0" y="0"/>
            <a:ext cx="146304" cy="5143500"/>
          </a:xfrm>
          <a:prstGeom prst="rect">
            <a:avLst/>
          </a:prstGeom>
          <a:solidFill>
            <a:srgbClr val="0078D4"/>
          </a:solidFill>
          <a:ln w="12700">
            <a:solidFill>
              <a:srgbClr val="0078D4"/>
            </a:solidFill>
            <a:prstDash val="solid"/>
          </a:ln>
        </p:spPr>
      </p:sp>
      <p:sp>
        <p:nvSpPr>
          <p:cNvPr id="3" name="Shape 1"/>
          <p:cNvSpPr/>
          <p:nvPr/>
        </p:nvSpPr>
        <p:spPr>
          <a:xfrm>
            <a:off x="146304" y="0"/>
            <a:ext cx="8997696" cy="594360"/>
          </a:xfrm>
          <a:prstGeom prst="rect">
            <a:avLst/>
          </a:prstGeom>
          <a:solidFill>
            <a:srgbClr val="0A1628"/>
          </a:solidFill>
          <a:ln w="12700">
            <a:solidFill>
              <a:srgbClr val="0A1628"/>
            </a:solidFill>
            <a:prstDash val="solid"/>
          </a:ln>
        </p:spPr>
      </p:sp>
      <p:sp>
        <p:nvSpPr>
          <p:cNvPr id="4" name="Text 2"/>
          <p:cNvSpPr/>
          <p:nvPr/>
        </p:nvSpPr>
        <p:spPr>
          <a:xfrm>
            <a:off x="292608" y="0"/>
            <a:ext cx="6583680" cy="594360"/>
          </a:xfrm>
          <a:prstGeom prst="rect">
            <a:avLst/>
          </a:prstGeom>
          <a:noFill/>
          <a:ln/>
        </p:spPr>
        <p:txBody>
          <a:bodyPr wrap="square" lIns="0" tIns="0" rIns="0" bIns="0" rtlCol="0" anchor="ctr"/>
          <a:lstStyle/>
          <a:p>
            <a:pPr indent="0" marL="0">
              <a:buNone/>
            </a:pPr>
            <a:r>
              <a:rPr lang="en-US" sz="1200" b="1" dirty="0">
                <a:solidFill>
                  <a:srgbClr val="50E6FF"/>
                </a:solidFill>
              </a:rPr>
              <a:t>❓  QUESTION 14  ·  Cost Management</a:t>
            </a:r>
            <a:endParaRPr lang="en-US" sz="1200" dirty="0"/>
          </a:p>
        </p:txBody>
      </p:sp>
      <p:sp>
        <p:nvSpPr>
          <p:cNvPr id="5" name="Text 3"/>
          <p:cNvSpPr/>
          <p:nvPr/>
        </p:nvSpPr>
        <p:spPr>
          <a:xfrm>
            <a:off x="7498080" y="0"/>
            <a:ext cx="1499616" cy="594360"/>
          </a:xfrm>
          <a:prstGeom prst="rect">
            <a:avLst/>
          </a:prstGeom>
          <a:noFill/>
          <a:ln/>
        </p:spPr>
        <p:txBody>
          <a:bodyPr wrap="square" lIns="0" tIns="0" rIns="0" bIns="0" rtlCol="0" anchor="ctr"/>
          <a:lstStyle/>
          <a:p>
            <a:pPr algn="r" indent="0" marL="0">
              <a:buNone/>
            </a:pPr>
            <a:r>
              <a:rPr lang="en-US" sz="1200" b="1" dirty="0">
                <a:solidFill>
                  <a:srgbClr val="6C8EAD"/>
                </a:solidFill>
              </a:rPr>
              <a:t>14 / 20</a:t>
            </a:r>
            <a:endParaRPr lang="en-US" sz="1200" dirty="0"/>
          </a:p>
        </p:txBody>
      </p:sp>
      <p:sp>
        <p:nvSpPr>
          <p:cNvPr id="6" name="Shape 4"/>
          <p:cNvSpPr/>
          <p:nvPr/>
        </p:nvSpPr>
        <p:spPr>
          <a:xfrm>
            <a:off x="292608" y="685800"/>
            <a:ext cx="1097280" cy="256032"/>
          </a:xfrm>
          <a:prstGeom prst="rect">
            <a:avLst/>
          </a:prstGeom>
          <a:solidFill>
            <a:srgbClr val="0078D4"/>
          </a:solidFill>
          <a:ln w="12700">
            <a:solidFill>
              <a:srgbClr val="0078D4"/>
            </a:solidFill>
            <a:prstDash val="solid"/>
          </a:ln>
        </p:spPr>
      </p:sp>
      <p:sp>
        <p:nvSpPr>
          <p:cNvPr id="7" name="Text 5"/>
          <p:cNvSpPr/>
          <p:nvPr/>
        </p:nvSpPr>
        <p:spPr>
          <a:xfrm>
            <a:off x="292608" y="685800"/>
            <a:ext cx="1097280" cy="256032"/>
          </a:xfrm>
          <a:prstGeom prst="rect">
            <a:avLst/>
          </a:prstGeom>
          <a:noFill/>
          <a:ln/>
        </p:spPr>
        <p:txBody>
          <a:bodyPr wrap="square" rtlCol="0" anchor="ctr"/>
          <a:lstStyle/>
          <a:p>
            <a:pPr algn="ctr" indent="0" marL="0">
              <a:buNone/>
            </a:pPr>
            <a:r>
              <a:rPr lang="en-US" sz="800" b="1" dirty="0">
                <a:solidFill>
                  <a:srgbClr val="FFFFFF"/>
                </a:solidFill>
              </a:rPr>
              <a:t>SCENARIO</a:t>
            </a:r>
            <a:endParaRPr lang="en-US" sz="800" dirty="0"/>
          </a:p>
        </p:txBody>
      </p:sp>
      <p:sp>
        <p:nvSpPr>
          <p:cNvPr id="8" name="Shape 6"/>
          <p:cNvSpPr/>
          <p:nvPr/>
        </p:nvSpPr>
        <p:spPr>
          <a:xfrm>
            <a:off x="292608" y="978408"/>
            <a:ext cx="8558784" cy="960120"/>
          </a:xfrm>
          <a:prstGeom prst="rect">
            <a:avLst/>
          </a:prstGeom>
          <a:solidFill>
            <a:srgbClr val="EBF4FF"/>
          </a:solidFill>
          <a:ln w="12700">
            <a:solidFill>
              <a:srgbClr val="0078D4"/>
            </a:solidFill>
            <a:prstDash val="solid"/>
          </a:ln>
        </p:spPr>
      </p:sp>
      <p:sp>
        <p:nvSpPr>
          <p:cNvPr id="9" name="Text 7"/>
          <p:cNvSpPr/>
          <p:nvPr/>
        </p:nvSpPr>
        <p:spPr>
          <a:xfrm>
            <a:off x="420624" y="1024128"/>
            <a:ext cx="8321040" cy="868680"/>
          </a:xfrm>
          <a:prstGeom prst="rect">
            <a:avLst/>
          </a:prstGeom>
          <a:noFill/>
          <a:ln/>
        </p:spPr>
        <p:txBody>
          <a:bodyPr wrap="square" rtlCol="0" anchor="t"/>
          <a:lstStyle/>
          <a:p>
            <a:pPr indent="0" marL="0">
              <a:buNone/>
            </a:pPr>
            <a:r>
              <a:rPr lang="en-US" sz="1250" dirty="0">
                <a:solidFill>
                  <a:srgbClr val="1B2A3B"/>
                </a:solidFill>
              </a:rPr>
              <a:t>The engineering department at Lucerne Publishing is consistently exceeding their monthly Azure budget. The finance team wants to be automatically notified when spending reaches 80% and 100% of the monthly budget, and wants to prevent further resource creation at 100%.</a:t>
            </a:r>
            <a:endParaRPr lang="en-US" sz="1250" dirty="0"/>
          </a:p>
        </p:txBody>
      </p:sp>
      <p:sp>
        <p:nvSpPr>
          <p:cNvPr id="10" name="Text 8"/>
          <p:cNvSpPr/>
          <p:nvPr/>
        </p:nvSpPr>
        <p:spPr>
          <a:xfrm>
            <a:off x="292608" y="2048256"/>
            <a:ext cx="8558784" cy="420624"/>
          </a:xfrm>
          <a:prstGeom prst="rect">
            <a:avLst/>
          </a:prstGeom>
          <a:noFill/>
          <a:ln/>
        </p:spPr>
        <p:txBody>
          <a:bodyPr wrap="square" rtlCol="0" anchor="ctr"/>
          <a:lstStyle/>
          <a:p>
            <a:pPr indent="0" marL="0">
              <a:buNone/>
            </a:pPr>
            <a:r>
              <a:rPr lang="en-US" sz="1350" b="1" dirty="0">
                <a:solidFill>
                  <a:srgbClr val="0A1628"/>
                </a:solidFill>
              </a:rPr>
              <a:t>Which Azure feature supports this requirement?</a:t>
            </a:r>
            <a:endParaRPr lang="en-US" sz="1350" dirty="0"/>
          </a:p>
        </p:txBody>
      </p:sp>
      <p:sp>
        <p:nvSpPr>
          <p:cNvPr id="11" name="Shape 9"/>
          <p:cNvSpPr/>
          <p:nvPr/>
        </p:nvSpPr>
        <p:spPr>
          <a:xfrm>
            <a:off x="292608" y="2523744"/>
            <a:ext cx="8558784" cy="539496"/>
          </a:xfrm>
          <a:prstGeom prst="rect">
            <a:avLst/>
          </a:prstGeom>
          <a:solidFill>
            <a:srgbClr val="FFFFFF"/>
          </a:solidFill>
          <a:ln w="12700">
            <a:solidFill>
              <a:srgbClr val="C5D8EE"/>
            </a:solidFill>
            <a:prstDash val="solid"/>
          </a:ln>
        </p:spPr>
      </p:sp>
      <p:sp>
        <p:nvSpPr>
          <p:cNvPr id="12" name="Shape 10"/>
          <p:cNvSpPr/>
          <p:nvPr/>
        </p:nvSpPr>
        <p:spPr>
          <a:xfrm>
            <a:off x="384048" y="2633472"/>
            <a:ext cx="329184" cy="329184"/>
          </a:xfrm>
          <a:prstGeom prst="ellipse">
            <a:avLst/>
          </a:prstGeom>
          <a:solidFill>
            <a:srgbClr val="1B3A5C"/>
          </a:solidFill>
          <a:ln w="12700">
            <a:solidFill>
              <a:srgbClr val="1B3A5C"/>
            </a:solidFill>
            <a:prstDash val="solid"/>
          </a:ln>
        </p:spPr>
      </p:sp>
      <p:sp>
        <p:nvSpPr>
          <p:cNvPr id="13" name="Text 11"/>
          <p:cNvSpPr/>
          <p:nvPr/>
        </p:nvSpPr>
        <p:spPr>
          <a:xfrm>
            <a:off x="384048" y="2633472"/>
            <a:ext cx="329184" cy="329184"/>
          </a:xfrm>
          <a:prstGeom prst="rect">
            <a:avLst/>
          </a:prstGeom>
          <a:noFill/>
          <a:ln/>
        </p:spPr>
        <p:txBody>
          <a:bodyPr wrap="square" rtlCol="0" anchor="ctr"/>
          <a:lstStyle/>
          <a:p>
            <a:pPr algn="ctr" indent="0" marL="0">
              <a:buNone/>
            </a:pPr>
            <a:r>
              <a:rPr lang="en-US" sz="1100" b="1" dirty="0">
                <a:solidFill>
                  <a:srgbClr val="FFFFFF"/>
                </a:solidFill>
              </a:rPr>
              <a:t>A</a:t>
            </a:r>
            <a:endParaRPr lang="en-US" sz="1100" dirty="0"/>
          </a:p>
        </p:txBody>
      </p:sp>
      <p:sp>
        <p:nvSpPr>
          <p:cNvPr id="14" name="Text 12"/>
          <p:cNvSpPr/>
          <p:nvPr/>
        </p:nvSpPr>
        <p:spPr>
          <a:xfrm>
            <a:off x="786384" y="2615184"/>
            <a:ext cx="7991856" cy="365760"/>
          </a:xfrm>
          <a:prstGeom prst="rect">
            <a:avLst/>
          </a:prstGeom>
          <a:noFill/>
          <a:ln/>
        </p:spPr>
        <p:txBody>
          <a:bodyPr wrap="square" rtlCol="0" anchor="ctr"/>
          <a:lstStyle/>
          <a:p>
            <a:pPr indent="0" marL="0">
              <a:buNone/>
            </a:pPr>
            <a:r>
              <a:rPr lang="en-US" sz="1250" dirty="0">
                <a:solidFill>
                  <a:srgbClr val="1B2A3B"/>
                </a:solidFill>
              </a:rPr>
              <a:t>Azure Monitor alerts on resource metrics</a:t>
            </a:r>
            <a:endParaRPr lang="en-US" sz="1250" dirty="0"/>
          </a:p>
        </p:txBody>
      </p:sp>
      <p:sp>
        <p:nvSpPr>
          <p:cNvPr id="15" name="Shape 13"/>
          <p:cNvSpPr/>
          <p:nvPr/>
        </p:nvSpPr>
        <p:spPr>
          <a:xfrm>
            <a:off x="292608" y="3154680"/>
            <a:ext cx="8558784" cy="539496"/>
          </a:xfrm>
          <a:prstGeom prst="rect">
            <a:avLst/>
          </a:prstGeom>
          <a:solidFill>
            <a:srgbClr val="FFFFFF"/>
          </a:solidFill>
          <a:ln w="12700">
            <a:solidFill>
              <a:srgbClr val="C5D8EE"/>
            </a:solidFill>
            <a:prstDash val="solid"/>
          </a:ln>
        </p:spPr>
      </p:sp>
      <p:sp>
        <p:nvSpPr>
          <p:cNvPr id="16" name="Shape 14"/>
          <p:cNvSpPr/>
          <p:nvPr/>
        </p:nvSpPr>
        <p:spPr>
          <a:xfrm>
            <a:off x="384048" y="3264408"/>
            <a:ext cx="329184" cy="329184"/>
          </a:xfrm>
          <a:prstGeom prst="ellipse">
            <a:avLst/>
          </a:prstGeom>
          <a:solidFill>
            <a:srgbClr val="1B3A5C"/>
          </a:solidFill>
          <a:ln w="12700">
            <a:solidFill>
              <a:srgbClr val="1B3A5C"/>
            </a:solidFill>
            <a:prstDash val="solid"/>
          </a:ln>
        </p:spPr>
      </p:sp>
      <p:sp>
        <p:nvSpPr>
          <p:cNvPr id="17" name="Text 15"/>
          <p:cNvSpPr/>
          <p:nvPr/>
        </p:nvSpPr>
        <p:spPr>
          <a:xfrm>
            <a:off x="384048" y="3264408"/>
            <a:ext cx="329184" cy="329184"/>
          </a:xfrm>
          <a:prstGeom prst="rect">
            <a:avLst/>
          </a:prstGeom>
          <a:noFill/>
          <a:ln/>
        </p:spPr>
        <p:txBody>
          <a:bodyPr wrap="square" rtlCol="0" anchor="ctr"/>
          <a:lstStyle/>
          <a:p>
            <a:pPr algn="ctr" indent="0" marL="0">
              <a:buNone/>
            </a:pPr>
            <a:r>
              <a:rPr lang="en-US" sz="1100" b="1" dirty="0">
                <a:solidFill>
                  <a:srgbClr val="FFFFFF"/>
                </a:solidFill>
              </a:rPr>
              <a:t>B</a:t>
            </a:r>
            <a:endParaRPr lang="en-US" sz="1100" dirty="0"/>
          </a:p>
        </p:txBody>
      </p:sp>
      <p:sp>
        <p:nvSpPr>
          <p:cNvPr id="18" name="Text 16"/>
          <p:cNvSpPr/>
          <p:nvPr/>
        </p:nvSpPr>
        <p:spPr>
          <a:xfrm>
            <a:off x="786384" y="3246120"/>
            <a:ext cx="7991856" cy="365760"/>
          </a:xfrm>
          <a:prstGeom prst="rect">
            <a:avLst/>
          </a:prstGeom>
          <a:noFill/>
          <a:ln/>
        </p:spPr>
        <p:txBody>
          <a:bodyPr wrap="square" rtlCol="0" anchor="ctr"/>
          <a:lstStyle/>
          <a:p>
            <a:pPr indent="0" marL="0">
              <a:buNone/>
            </a:pPr>
            <a:r>
              <a:rPr lang="en-US" sz="1250" dirty="0">
                <a:solidFill>
                  <a:srgbClr val="1B2A3B"/>
                </a:solidFill>
              </a:rPr>
              <a:t>Azure Cost Management Budgets with alert thresholds and action groups</a:t>
            </a:r>
            <a:endParaRPr lang="en-US" sz="1250" dirty="0"/>
          </a:p>
        </p:txBody>
      </p:sp>
      <p:sp>
        <p:nvSpPr>
          <p:cNvPr id="19" name="Shape 17"/>
          <p:cNvSpPr/>
          <p:nvPr/>
        </p:nvSpPr>
        <p:spPr>
          <a:xfrm>
            <a:off x="292608" y="3785616"/>
            <a:ext cx="8558784" cy="539496"/>
          </a:xfrm>
          <a:prstGeom prst="rect">
            <a:avLst/>
          </a:prstGeom>
          <a:solidFill>
            <a:srgbClr val="FFFFFF"/>
          </a:solidFill>
          <a:ln w="12700">
            <a:solidFill>
              <a:srgbClr val="C5D8EE"/>
            </a:solidFill>
            <a:prstDash val="solid"/>
          </a:ln>
        </p:spPr>
      </p:sp>
      <p:sp>
        <p:nvSpPr>
          <p:cNvPr id="20" name="Shape 18"/>
          <p:cNvSpPr/>
          <p:nvPr/>
        </p:nvSpPr>
        <p:spPr>
          <a:xfrm>
            <a:off x="384048" y="3895344"/>
            <a:ext cx="329184" cy="329184"/>
          </a:xfrm>
          <a:prstGeom prst="ellipse">
            <a:avLst/>
          </a:prstGeom>
          <a:solidFill>
            <a:srgbClr val="1B3A5C"/>
          </a:solidFill>
          <a:ln w="12700">
            <a:solidFill>
              <a:srgbClr val="1B3A5C"/>
            </a:solidFill>
            <a:prstDash val="solid"/>
          </a:ln>
        </p:spPr>
      </p:sp>
      <p:sp>
        <p:nvSpPr>
          <p:cNvPr id="21" name="Text 19"/>
          <p:cNvSpPr/>
          <p:nvPr/>
        </p:nvSpPr>
        <p:spPr>
          <a:xfrm>
            <a:off x="384048" y="3895344"/>
            <a:ext cx="329184" cy="329184"/>
          </a:xfrm>
          <a:prstGeom prst="rect">
            <a:avLst/>
          </a:prstGeom>
          <a:noFill/>
          <a:ln/>
        </p:spPr>
        <p:txBody>
          <a:bodyPr wrap="square" rtlCol="0" anchor="ctr"/>
          <a:lstStyle/>
          <a:p>
            <a:pPr algn="ctr" indent="0" marL="0">
              <a:buNone/>
            </a:pPr>
            <a:r>
              <a:rPr lang="en-US" sz="1100" b="1" dirty="0">
                <a:solidFill>
                  <a:srgbClr val="FFFFFF"/>
                </a:solidFill>
              </a:rPr>
              <a:t>C</a:t>
            </a:r>
            <a:endParaRPr lang="en-US" sz="1100" dirty="0"/>
          </a:p>
        </p:txBody>
      </p:sp>
      <p:sp>
        <p:nvSpPr>
          <p:cNvPr id="22" name="Text 20"/>
          <p:cNvSpPr/>
          <p:nvPr/>
        </p:nvSpPr>
        <p:spPr>
          <a:xfrm>
            <a:off x="786384" y="3877056"/>
            <a:ext cx="7991856" cy="365760"/>
          </a:xfrm>
          <a:prstGeom prst="rect">
            <a:avLst/>
          </a:prstGeom>
          <a:noFill/>
          <a:ln/>
        </p:spPr>
        <p:txBody>
          <a:bodyPr wrap="square" rtlCol="0" anchor="ctr"/>
          <a:lstStyle/>
          <a:p>
            <a:pPr indent="0" marL="0">
              <a:buNone/>
            </a:pPr>
            <a:r>
              <a:rPr lang="en-US" sz="1250" dirty="0">
                <a:solidFill>
                  <a:srgbClr val="1B2A3B"/>
                </a:solidFill>
              </a:rPr>
              <a:t>Azure Policy with a Deny effect when budget is exceeded</a:t>
            </a:r>
            <a:endParaRPr lang="en-US" sz="1250" dirty="0"/>
          </a:p>
        </p:txBody>
      </p:sp>
      <p:sp>
        <p:nvSpPr>
          <p:cNvPr id="23" name="Shape 21"/>
          <p:cNvSpPr/>
          <p:nvPr/>
        </p:nvSpPr>
        <p:spPr>
          <a:xfrm>
            <a:off x="292608" y="4416552"/>
            <a:ext cx="8558784" cy="539496"/>
          </a:xfrm>
          <a:prstGeom prst="rect">
            <a:avLst/>
          </a:prstGeom>
          <a:solidFill>
            <a:srgbClr val="FFFFFF"/>
          </a:solidFill>
          <a:ln w="12700">
            <a:solidFill>
              <a:srgbClr val="C5D8EE"/>
            </a:solidFill>
            <a:prstDash val="solid"/>
          </a:ln>
        </p:spPr>
      </p:sp>
      <p:sp>
        <p:nvSpPr>
          <p:cNvPr id="24" name="Shape 22"/>
          <p:cNvSpPr/>
          <p:nvPr/>
        </p:nvSpPr>
        <p:spPr>
          <a:xfrm>
            <a:off x="384048" y="4526280"/>
            <a:ext cx="329184" cy="329184"/>
          </a:xfrm>
          <a:prstGeom prst="ellipse">
            <a:avLst/>
          </a:prstGeom>
          <a:solidFill>
            <a:srgbClr val="1B3A5C"/>
          </a:solidFill>
          <a:ln w="12700">
            <a:solidFill>
              <a:srgbClr val="1B3A5C"/>
            </a:solidFill>
            <a:prstDash val="solid"/>
          </a:ln>
        </p:spPr>
      </p:sp>
      <p:sp>
        <p:nvSpPr>
          <p:cNvPr id="25" name="Text 23"/>
          <p:cNvSpPr/>
          <p:nvPr/>
        </p:nvSpPr>
        <p:spPr>
          <a:xfrm>
            <a:off x="384048" y="4526280"/>
            <a:ext cx="329184" cy="329184"/>
          </a:xfrm>
          <a:prstGeom prst="rect">
            <a:avLst/>
          </a:prstGeom>
          <a:noFill/>
          <a:ln/>
        </p:spPr>
        <p:txBody>
          <a:bodyPr wrap="square" rtlCol="0" anchor="ctr"/>
          <a:lstStyle/>
          <a:p>
            <a:pPr algn="ctr" indent="0" marL="0">
              <a:buNone/>
            </a:pPr>
            <a:r>
              <a:rPr lang="en-US" sz="1100" b="1" dirty="0">
                <a:solidFill>
                  <a:srgbClr val="FFFFFF"/>
                </a:solidFill>
              </a:rPr>
              <a:t>D</a:t>
            </a:r>
            <a:endParaRPr lang="en-US" sz="1100" dirty="0"/>
          </a:p>
        </p:txBody>
      </p:sp>
      <p:sp>
        <p:nvSpPr>
          <p:cNvPr id="26" name="Text 24"/>
          <p:cNvSpPr/>
          <p:nvPr/>
        </p:nvSpPr>
        <p:spPr>
          <a:xfrm>
            <a:off x="786384" y="4507992"/>
            <a:ext cx="7991856" cy="365760"/>
          </a:xfrm>
          <a:prstGeom prst="rect">
            <a:avLst/>
          </a:prstGeom>
          <a:noFill/>
          <a:ln/>
        </p:spPr>
        <p:txBody>
          <a:bodyPr wrap="square" rtlCol="0" anchor="ctr"/>
          <a:lstStyle/>
          <a:p>
            <a:pPr indent="0" marL="0">
              <a:buNone/>
            </a:pPr>
            <a:r>
              <a:rPr lang="en-US" sz="1250" dirty="0">
                <a:solidFill>
                  <a:srgbClr val="1B2A3B"/>
                </a:solidFill>
              </a:rPr>
              <a:t>Resource Tags with cost centre codes</a:t>
            </a:r>
            <a:endParaRPr lang="en-US" sz="12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4F8FD"/>
        </a:solidFill>
      </p:bgPr>
    </p:bg>
    <p:spTree>
      <p:nvGrpSpPr>
        <p:cNvPr id="1" name=""/>
        <p:cNvGrpSpPr/>
        <p:nvPr/>
      </p:nvGrpSpPr>
      <p:grpSpPr>
        <a:xfrm>
          <a:off x="0" y="0"/>
          <a:ext cx="0" cy="0"/>
          <a:chOff x="0" y="0"/>
          <a:chExt cx="0" cy="0"/>
        </a:xfrm>
      </p:grpSpPr>
      <p:sp>
        <p:nvSpPr>
          <p:cNvPr id="2" name="Shape 0"/>
          <p:cNvSpPr/>
          <p:nvPr/>
        </p:nvSpPr>
        <p:spPr>
          <a:xfrm>
            <a:off x="0" y="0"/>
            <a:ext cx="146304" cy="5143500"/>
          </a:xfrm>
          <a:prstGeom prst="rect">
            <a:avLst/>
          </a:prstGeom>
          <a:solidFill>
            <a:srgbClr val="107C10"/>
          </a:solidFill>
          <a:ln w="12700">
            <a:solidFill>
              <a:srgbClr val="107C10"/>
            </a:solidFill>
            <a:prstDash val="solid"/>
          </a:ln>
        </p:spPr>
      </p:sp>
      <p:sp>
        <p:nvSpPr>
          <p:cNvPr id="3" name="Shape 1"/>
          <p:cNvSpPr/>
          <p:nvPr/>
        </p:nvSpPr>
        <p:spPr>
          <a:xfrm>
            <a:off x="146304" y="0"/>
            <a:ext cx="8997696" cy="594360"/>
          </a:xfrm>
          <a:prstGeom prst="rect">
            <a:avLst/>
          </a:prstGeom>
          <a:solidFill>
            <a:srgbClr val="0A1628"/>
          </a:solidFill>
          <a:ln w="12700">
            <a:solidFill>
              <a:srgbClr val="0A1628"/>
            </a:solidFill>
            <a:prstDash val="solid"/>
          </a:ln>
        </p:spPr>
      </p:sp>
      <p:sp>
        <p:nvSpPr>
          <p:cNvPr id="4" name="Text 2"/>
          <p:cNvSpPr/>
          <p:nvPr/>
        </p:nvSpPr>
        <p:spPr>
          <a:xfrm>
            <a:off x="292608" y="0"/>
            <a:ext cx="6583680" cy="594360"/>
          </a:xfrm>
          <a:prstGeom prst="rect">
            <a:avLst/>
          </a:prstGeom>
          <a:noFill/>
          <a:ln/>
        </p:spPr>
        <p:txBody>
          <a:bodyPr wrap="square" lIns="0" tIns="0" rIns="0" bIns="0" rtlCol="0" anchor="ctr"/>
          <a:lstStyle/>
          <a:p>
            <a:pPr indent="0" marL="0">
              <a:buNone/>
            </a:pPr>
            <a:r>
              <a:rPr lang="en-US" sz="1200" b="1" dirty="0">
                <a:solidFill>
                  <a:srgbClr val="00FF90"/>
                </a:solidFill>
              </a:rPr>
              <a:t>✅  ANSWER 14  ·  Cost Management</a:t>
            </a:r>
            <a:endParaRPr lang="en-US" sz="1200" dirty="0"/>
          </a:p>
        </p:txBody>
      </p:sp>
      <p:sp>
        <p:nvSpPr>
          <p:cNvPr id="5" name="Text 3"/>
          <p:cNvSpPr/>
          <p:nvPr/>
        </p:nvSpPr>
        <p:spPr>
          <a:xfrm>
            <a:off x="7498080" y="0"/>
            <a:ext cx="1499616" cy="594360"/>
          </a:xfrm>
          <a:prstGeom prst="rect">
            <a:avLst/>
          </a:prstGeom>
          <a:noFill/>
          <a:ln/>
        </p:spPr>
        <p:txBody>
          <a:bodyPr wrap="square" lIns="0" tIns="0" rIns="0" bIns="0" rtlCol="0" anchor="ctr"/>
          <a:lstStyle/>
          <a:p>
            <a:pPr algn="r" indent="0" marL="0">
              <a:buNone/>
            </a:pPr>
            <a:r>
              <a:rPr lang="en-US" sz="1200" b="1" dirty="0">
                <a:solidFill>
                  <a:srgbClr val="6C8EAD"/>
                </a:solidFill>
              </a:rPr>
              <a:t>14 / 20</a:t>
            </a:r>
            <a:endParaRPr lang="en-US" sz="1200" dirty="0"/>
          </a:p>
        </p:txBody>
      </p:sp>
      <p:sp>
        <p:nvSpPr>
          <p:cNvPr id="6" name="Shape 4"/>
          <p:cNvSpPr/>
          <p:nvPr/>
        </p:nvSpPr>
        <p:spPr>
          <a:xfrm>
            <a:off x="292608" y="658368"/>
            <a:ext cx="8558784" cy="475488"/>
          </a:xfrm>
          <a:prstGeom prst="rect">
            <a:avLst/>
          </a:prstGeom>
          <a:solidFill>
            <a:srgbClr val="E6F3E6"/>
          </a:solidFill>
          <a:ln w="25400">
            <a:solidFill>
              <a:srgbClr val="107C10"/>
            </a:solidFill>
            <a:prstDash val="solid"/>
          </a:ln>
        </p:spPr>
      </p:sp>
      <p:sp>
        <p:nvSpPr>
          <p:cNvPr id="7" name="Text 5"/>
          <p:cNvSpPr/>
          <p:nvPr/>
        </p:nvSpPr>
        <p:spPr>
          <a:xfrm>
            <a:off x="420624" y="658368"/>
            <a:ext cx="8321040" cy="475488"/>
          </a:xfrm>
          <a:prstGeom prst="rect">
            <a:avLst/>
          </a:prstGeom>
          <a:noFill/>
          <a:ln/>
        </p:spPr>
        <p:txBody>
          <a:bodyPr wrap="square" rtlCol="0" anchor="ctr"/>
          <a:lstStyle/>
          <a:p>
            <a:pPr indent="0" marL="0">
              <a:buNone/>
            </a:pPr>
            <a:r>
              <a:rPr lang="en-US" sz="1300" b="1" dirty="0">
                <a:solidFill>
                  <a:srgbClr val="107C10"/>
                </a:solidFill>
              </a:rPr>
              <a:t>✔  Correct: B — Azure Cost Management Budgets with alert thresholds and action groups</a:t>
            </a:r>
            <a:endParaRPr lang="en-US" sz="1300" dirty="0"/>
          </a:p>
        </p:txBody>
      </p:sp>
      <p:sp>
        <p:nvSpPr>
          <p:cNvPr id="8" name="Text 6"/>
          <p:cNvSpPr/>
          <p:nvPr/>
        </p:nvSpPr>
        <p:spPr>
          <a:xfrm>
            <a:off x="292608" y="1216152"/>
            <a:ext cx="8558784" cy="292608"/>
          </a:xfrm>
          <a:prstGeom prst="rect">
            <a:avLst/>
          </a:prstGeom>
          <a:noFill/>
          <a:ln/>
        </p:spPr>
        <p:txBody>
          <a:bodyPr wrap="square" rtlCol="0" anchor="ctr"/>
          <a:lstStyle/>
          <a:p>
            <a:pPr indent="0" marL="0">
              <a:buNone/>
            </a:pPr>
            <a:r>
              <a:rPr lang="en-US" sz="1200" b="1" dirty="0">
                <a:solidFill>
                  <a:srgbClr val="0A1628"/>
                </a:solidFill>
              </a:rPr>
              <a:t>Why this is correct</a:t>
            </a:r>
            <a:endParaRPr lang="en-US" sz="1200" dirty="0"/>
          </a:p>
        </p:txBody>
      </p:sp>
      <p:sp>
        <p:nvSpPr>
          <p:cNvPr id="9" name="Shape 7"/>
          <p:cNvSpPr/>
          <p:nvPr/>
        </p:nvSpPr>
        <p:spPr>
          <a:xfrm>
            <a:off x="292608" y="1517904"/>
            <a:ext cx="8558784" cy="1097280"/>
          </a:xfrm>
          <a:prstGeom prst="rect">
            <a:avLst/>
          </a:prstGeom>
          <a:solidFill>
            <a:srgbClr val="FFFFFF"/>
          </a:solidFill>
          <a:ln w="12700">
            <a:solidFill>
              <a:srgbClr val="C5D8EE"/>
            </a:solidFill>
            <a:prstDash val="solid"/>
          </a:ln>
        </p:spPr>
      </p:sp>
      <p:sp>
        <p:nvSpPr>
          <p:cNvPr id="10" name="Text 8"/>
          <p:cNvSpPr/>
          <p:nvPr/>
        </p:nvSpPr>
        <p:spPr>
          <a:xfrm>
            <a:off x="420624" y="1563624"/>
            <a:ext cx="8321040" cy="1005840"/>
          </a:xfrm>
          <a:prstGeom prst="rect">
            <a:avLst/>
          </a:prstGeom>
          <a:noFill/>
          <a:ln/>
        </p:spPr>
        <p:txBody>
          <a:bodyPr wrap="square" rtlCol="0" anchor="t"/>
          <a:lstStyle/>
          <a:p>
            <a:pPr indent="0" marL="0">
              <a:buNone/>
            </a:pPr>
            <a:r>
              <a:rPr lang="en-US" sz="1150" dirty="0">
                <a:solidFill>
                  <a:srgbClr val="1B2A3B"/>
                </a:solidFill>
              </a:rPr>
              <a:t>Azure Cost Management Budgets allow you to set a spending threshold and configure alert thresholds (e.g., 80%, 100%) that trigger email notifications or action groups. Action groups can invoke Azure Automation or Logic Apps to enforce spending controls. Azure Monitor alerts on performance/health metrics, not spend. Azure Policy cannot directly query current spend. Tags improve allocation but don't enforce budget limits.</a:t>
            </a:r>
            <a:endParaRPr lang="en-US" sz="1150" dirty="0"/>
          </a:p>
        </p:txBody>
      </p:sp>
      <p:sp>
        <p:nvSpPr>
          <p:cNvPr id="11" name="Text 9"/>
          <p:cNvSpPr/>
          <p:nvPr/>
        </p:nvSpPr>
        <p:spPr>
          <a:xfrm>
            <a:off x="292608" y="2697480"/>
            <a:ext cx="8558784" cy="292608"/>
          </a:xfrm>
          <a:prstGeom prst="rect">
            <a:avLst/>
          </a:prstGeom>
          <a:noFill/>
          <a:ln/>
        </p:spPr>
        <p:txBody>
          <a:bodyPr wrap="square" rtlCol="0" anchor="ctr"/>
          <a:lstStyle/>
          <a:p>
            <a:pPr indent="0" marL="0">
              <a:buNone/>
            </a:pPr>
            <a:r>
              <a:rPr lang="en-US" sz="1200" b="1" dirty="0">
                <a:solidFill>
                  <a:srgbClr val="0A1628"/>
                </a:solidFill>
              </a:rPr>
              <a:t>Why the other options are incorrect</a:t>
            </a:r>
            <a:endParaRPr lang="en-US" sz="1200" dirty="0"/>
          </a:p>
        </p:txBody>
      </p:sp>
      <p:sp>
        <p:nvSpPr>
          <p:cNvPr id="12" name="Shape 10"/>
          <p:cNvSpPr/>
          <p:nvPr/>
        </p:nvSpPr>
        <p:spPr>
          <a:xfrm>
            <a:off x="292608" y="3035808"/>
            <a:ext cx="8558784" cy="603504"/>
          </a:xfrm>
          <a:prstGeom prst="rect">
            <a:avLst/>
          </a:prstGeom>
          <a:solidFill>
            <a:srgbClr val="FAEAEA"/>
          </a:solidFill>
          <a:ln w="12700">
            <a:solidFill>
              <a:srgbClr val="F4AAAA"/>
            </a:solidFill>
            <a:prstDash val="solid"/>
          </a:ln>
        </p:spPr>
      </p:sp>
      <p:sp>
        <p:nvSpPr>
          <p:cNvPr id="13" name="Shape 11"/>
          <p:cNvSpPr/>
          <p:nvPr/>
        </p:nvSpPr>
        <p:spPr>
          <a:xfrm>
            <a:off x="384048" y="3172968"/>
            <a:ext cx="301752" cy="301752"/>
          </a:xfrm>
          <a:prstGeom prst="ellipse">
            <a:avLst/>
          </a:prstGeom>
          <a:solidFill>
            <a:srgbClr val="A80000"/>
          </a:solidFill>
          <a:ln w="12700">
            <a:solidFill>
              <a:srgbClr val="A80000"/>
            </a:solidFill>
            <a:prstDash val="solid"/>
          </a:ln>
        </p:spPr>
      </p:sp>
      <p:sp>
        <p:nvSpPr>
          <p:cNvPr id="14" name="Text 12"/>
          <p:cNvSpPr/>
          <p:nvPr/>
        </p:nvSpPr>
        <p:spPr>
          <a:xfrm>
            <a:off x="384048" y="3172968"/>
            <a:ext cx="301752" cy="301752"/>
          </a:xfrm>
          <a:prstGeom prst="rect">
            <a:avLst/>
          </a:prstGeom>
          <a:noFill/>
          <a:ln/>
        </p:spPr>
        <p:txBody>
          <a:bodyPr wrap="square" rtlCol="0" anchor="ctr"/>
          <a:lstStyle/>
          <a:p>
            <a:pPr algn="ctr" indent="0" marL="0">
              <a:buNone/>
            </a:pPr>
            <a:r>
              <a:rPr lang="en-US" sz="1100" b="1" dirty="0">
                <a:solidFill>
                  <a:srgbClr val="FFFFFF"/>
                </a:solidFill>
              </a:rPr>
              <a:t>A</a:t>
            </a:r>
            <a:endParaRPr lang="en-US" sz="1100" dirty="0"/>
          </a:p>
        </p:txBody>
      </p:sp>
      <p:sp>
        <p:nvSpPr>
          <p:cNvPr id="15" name="Text 13"/>
          <p:cNvSpPr/>
          <p:nvPr/>
        </p:nvSpPr>
        <p:spPr>
          <a:xfrm>
            <a:off x="768096" y="3090672"/>
            <a:ext cx="8010144" cy="493776"/>
          </a:xfrm>
          <a:prstGeom prst="rect">
            <a:avLst/>
          </a:prstGeom>
          <a:noFill/>
          <a:ln/>
        </p:spPr>
        <p:txBody>
          <a:bodyPr wrap="square" rtlCol="0" anchor="ctr"/>
          <a:lstStyle/>
          <a:p>
            <a:pPr indent="0" marL="0">
              <a:buNone/>
            </a:pPr>
            <a:r>
              <a:rPr lang="en-US" sz="1150" dirty="0">
                <a:solidFill>
                  <a:srgbClr val="1B2A3B"/>
                </a:solidFill>
              </a:rPr>
              <a:t>Azure Monitor alerts are designed for resource health and performance metrics (CPU, memory, etc.), not for financial spend thresholds.</a:t>
            </a:r>
            <a:endParaRPr lang="en-US" sz="1150" dirty="0"/>
          </a:p>
        </p:txBody>
      </p:sp>
      <p:sp>
        <p:nvSpPr>
          <p:cNvPr id="16" name="Shape 14"/>
          <p:cNvSpPr/>
          <p:nvPr/>
        </p:nvSpPr>
        <p:spPr>
          <a:xfrm>
            <a:off x="292608" y="3712464"/>
            <a:ext cx="8558784" cy="603504"/>
          </a:xfrm>
          <a:prstGeom prst="rect">
            <a:avLst/>
          </a:prstGeom>
          <a:solidFill>
            <a:srgbClr val="FAEAEA"/>
          </a:solidFill>
          <a:ln w="12700">
            <a:solidFill>
              <a:srgbClr val="F4AAAA"/>
            </a:solidFill>
            <a:prstDash val="solid"/>
          </a:ln>
        </p:spPr>
      </p:sp>
      <p:sp>
        <p:nvSpPr>
          <p:cNvPr id="17" name="Shape 15"/>
          <p:cNvSpPr/>
          <p:nvPr/>
        </p:nvSpPr>
        <p:spPr>
          <a:xfrm>
            <a:off x="384048" y="3849624"/>
            <a:ext cx="301752" cy="301752"/>
          </a:xfrm>
          <a:prstGeom prst="ellipse">
            <a:avLst/>
          </a:prstGeom>
          <a:solidFill>
            <a:srgbClr val="A80000"/>
          </a:solidFill>
          <a:ln w="12700">
            <a:solidFill>
              <a:srgbClr val="A80000"/>
            </a:solidFill>
            <a:prstDash val="solid"/>
          </a:ln>
        </p:spPr>
      </p:sp>
      <p:sp>
        <p:nvSpPr>
          <p:cNvPr id="18" name="Text 16"/>
          <p:cNvSpPr/>
          <p:nvPr/>
        </p:nvSpPr>
        <p:spPr>
          <a:xfrm>
            <a:off x="384048" y="3849624"/>
            <a:ext cx="301752" cy="301752"/>
          </a:xfrm>
          <a:prstGeom prst="rect">
            <a:avLst/>
          </a:prstGeom>
          <a:noFill/>
          <a:ln/>
        </p:spPr>
        <p:txBody>
          <a:bodyPr wrap="square" rtlCol="0" anchor="ctr"/>
          <a:lstStyle/>
          <a:p>
            <a:pPr algn="ctr" indent="0" marL="0">
              <a:buNone/>
            </a:pPr>
            <a:r>
              <a:rPr lang="en-US" sz="1100" b="1" dirty="0">
                <a:solidFill>
                  <a:srgbClr val="FFFFFF"/>
                </a:solidFill>
              </a:rPr>
              <a:t>C</a:t>
            </a:r>
            <a:endParaRPr lang="en-US" sz="1100" dirty="0"/>
          </a:p>
        </p:txBody>
      </p:sp>
      <p:sp>
        <p:nvSpPr>
          <p:cNvPr id="19" name="Text 17"/>
          <p:cNvSpPr/>
          <p:nvPr/>
        </p:nvSpPr>
        <p:spPr>
          <a:xfrm>
            <a:off x="768096" y="3767328"/>
            <a:ext cx="8010144" cy="493776"/>
          </a:xfrm>
          <a:prstGeom prst="rect">
            <a:avLst/>
          </a:prstGeom>
          <a:noFill/>
          <a:ln/>
        </p:spPr>
        <p:txBody>
          <a:bodyPr wrap="square" rtlCol="0" anchor="ctr"/>
          <a:lstStyle/>
          <a:p>
            <a:pPr indent="0" marL="0">
              <a:buNone/>
            </a:pPr>
            <a:r>
              <a:rPr lang="en-US" sz="1150" dirty="0">
                <a:solidFill>
                  <a:srgbClr val="1B2A3B"/>
                </a:solidFill>
              </a:rPr>
              <a:t>Azure Policy evaluates resource compliance rules (configurations, tags, locations) — it cannot query or act on real-time billing spend.</a:t>
            </a:r>
            <a:endParaRPr lang="en-US" sz="1150" dirty="0"/>
          </a:p>
        </p:txBody>
      </p:sp>
      <p:sp>
        <p:nvSpPr>
          <p:cNvPr id="20" name="Shape 18"/>
          <p:cNvSpPr/>
          <p:nvPr/>
        </p:nvSpPr>
        <p:spPr>
          <a:xfrm>
            <a:off x="292608" y="4389120"/>
            <a:ext cx="8558784" cy="603504"/>
          </a:xfrm>
          <a:prstGeom prst="rect">
            <a:avLst/>
          </a:prstGeom>
          <a:solidFill>
            <a:srgbClr val="FAEAEA"/>
          </a:solidFill>
          <a:ln w="12700">
            <a:solidFill>
              <a:srgbClr val="F4AAAA"/>
            </a:solidFill>
            <a:prstDash val="solid"/>
          </a:ln>
        </p:spPr>
      </p:sp>
      <p:sp>
        <p:nvSpPr>
          <p:cNvPr id="21" name="Shape 19"/>
          <p:cNvSpPr/>
          <p:nvPr/>
        </p:nvSpPr>
        <p:spPr>
          <a:xfrm>
            <a:off x="384048" y="4526280"/>
            <a:ext cx="301752" cy="301752"/>
          </a:xfrm>
          <a:prstGeom prst="ellipse">
            <a:avLst/>
          </a:prstGeom>
          <a:solidFill>
            <a:srgbClr val="A80000"/>
          </a:solidFill>
          <a:ln w="12700">
            <a:solidFill>
              <a:srgbClr val="A80000"/>
            </a:solidFill>
            <a:prstDash val="solid"/>
          </a:ln>
        </p:spPr>
      </p:sp>
      <p:sp>
        <p:nvSpPr>
          <p:cNvPr id="22" name="Text 20"/>
          <p:cNvSpPr/>
          <p:nvPr/>
        </p:nvSpPr>
        <p:spPr>
          <a:xfrm>
            <a:off x="384048" y="4526280"/>
            <a:ext cx="301752" cy="301752"/>
          </a:xfrm>
          <a:prstGeom prst="rect">
            <a:avLst/>
          </a:prstGeom>
          <a:noFill/>
          <a:ln/>
        </p:spPr>
        <p:txBody>
          <a:bodyPr wrap="square" rtlCol="0" anchor="ctr"/>
          <a:lstStyle/>
          <a:p>
            <a:pPr algn="ctr" indent="0" marL="0">
              <a:buNone/>
            </a:pPr>
            <a:r>
              <a:rPr lang="en-US" sz="1100" b="1" dirty="0">
                <a:solidFill>
                  <a:srgbClr val="FFFFFF"/>
                </a:solidFill>
              </a:rPr>
              <a:t>D</a:t>
            </a:r>
            <a:endParaRPr lang="en-US" sz="1100" dirty="0"/>
          </a:p>
        </p:txBody>
      </p:sp>
      <p:sp>
        <p:nvSpPr>
          <p:cNvPr id="23" name="Text 21"/>
          <p:cNvSpPr/>
          <p:nvPr/>
        </p:nvSpPr>
        <p:spPr>
          <a:xfrm>
            <a:off x="768096" y="4443984"/>
            <a:ext cx="8010144" cy="493776"/>
          </a:xfrm>
          <a:prstGeom prst="rect">
            <a:avLst/>
          </a:prstGeom>
          <a:noFill/>
          <a:ln/>
        </p:spPr>
        <p:txBody>
          <a:bodyPr wrap="square" rtlCol="0" anchor="ctr"/>
          <a:lstStyle/>
          <a:p>
            <a:pPr indent="0" marL="0">
              <a:buNone/>
            </a:pPr>
            <a:r>
              <a:rPr lang="en-US" sz="1150" dirty="0">
                <a:solidFill>
                  <a:srgbClr val="1B2A3B"/>
                </a:solidFill>
              </a:rPr>
              <a:t>Resource Tags with cost centre codes improve cost visibility and allocation but do not trigger notifications or enforce spending limits.</a:t>
            </a:r>
            <a:endParaRPr lang="en-US" sz="11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4F8FD"/>
        </a:solidFill>
      </p:bgPr>
    </p:bg>
    <p:spTree>
      <p:nvGrpSpPr>
        <p:cNvPr id="1" name=""/>
        <p:cNvGrpSpPr/>
        <p:nvPr/>
      </p:nvGrpSpPr>
      <p:grpSpPr>
        <a:xfrm>
          <a:off x="0" y="0"/>
          <a:ext cx="0" cy="0"/>
          <a:chOff x="0" y="0"/>
          <a:chExt cx="0" cy="0"/>
        </a:xfrm>
      </p:grpSpPr>
      <p:sp>
        <p:nvSpPr>
          <p:cNvPr id="2" name="Shape 0"/>
          <p:cNvSpPr/>
          <p:nvPr/>
        </p:nvSpPr>
        <p:spPr>
          <a:xfrm>
            <a:off x="0" y="0"/>
            <a:ext cx="146304" cy="5143500"/>
          </a:xfrm>
          <a:prstGeom prst="rect">
            <a:avLst/>
          </a:prstGeom>
          <a:solidFill>
            <a:srgbClr val="0078D4"/>
          </a:solidFill>
          <a:ln w="12700">
            <a:solidFill>
              <a:srgbClr val="0078D4"/>
            </a:solidFill>
            <a:prstDash val="solid"/>
          </a:ln>
        </p:spPr>
      </p:sp>
      <p:sp>
        <p:nvSpPr>
          <p:cNvPr id="3" name="Shape 1"/>
          <p:cNvSpPr/>
          <p:nvPr/>
        </p:nvSpPr>
        <p:spPr>
          <a:xfrm>
            <a:off x="146304" y="0"/>
            <a:ext cx="8997696" cy="594360"/>
          </a:xfrm>
          <a:prstGeom prst="rect">
            <a:avLst/>
          </a:prstGeom>
          <a:solidFill>
            <a:srgbClr val="0A1628"/>
          </a:solidFill>
          <a:ln w="12700">
            <a:solidFill>
              <a:srgbClr val="0A1628"/>
            </a:solidFill>
            <a:prstDash val="solid"/>
          </a:ln>
        </p:spPr>
      </p:sp>
      <p:sp>
        <p:nvSpPr>
          <p:cNvPr id="4" name="Text 2"/>
          <p:cNvSpPr/>
          <p:nvPr/>
        </p:nvSpPr>
        <p:spPr>
          <a:xfrm>
            <a:off x="292608" y="0"/>
            <a:ext cx="6583680" cy="594360"/>
          </a:xfrm>
          <a:prstGeom prst="rect">
            <a:avLst/>
          </a:prstGeom>
          <a:noFill/>
          <a:ln/>
        </p:spPr>
        <p:txBody>
          <a:bodyPr wrap="square" lIns="0" tIns="0" rIns="0" bIns="0" rtlCol="0" anchor="ctr"/>
          <a:lstStyle/>
          <a:p>
            <a:pPr indent="0" marL="0">
              <a:buNone/>
            </a:pPr>
            <a:r>
              <a:rPr lang="en-US" sz="1200" b="1" dirty="0">
                <a:solidFill>
                  <a:srgbClr val="50E6FF"/>
                </a:solidFill>
              </a:rPr>
              <a:t>❓  QUESTION 15  ·  RBAC Inheritance</a:t>
            </a:r>
            <a:endParaRPr lang="en-US" sz="1200" dirty="0"/>
          </a:p>
        </p:txBody>
      </p:sp>
      <p:sp>
        <p:nvSpPr>
          <p:cNvPr id="5" name="Text 3"/>
          <p:cNvSpPr/>
          <p:nvPr/>
        </p:nvSpPr>
        <p:spPr>
          <a:xfrm>
            <a:off x="7498080" y="0"/>
            <a:ext cx="1499616" cy="594360"/>
          </a:xfrm>
          <a:prstGeom prst="rect">
            <a:avLst/>
          </a:prstGeom>
          <a:noFill/>
          <a:ln/>
        </p:spPr>
        <p:txBody>
          <a:bodyPr wrap="square" lIns="0" tIns="0" rIns="0" bIns="0" rtlCol="0" anchor="ctr"/>
          <a:lstStyle/>
          <a:p>
            <a:pPr algn="r" indent="0" marL="0">
              <a:buNone/>
            </a:pPr>
            <a:r>
              <a:rPr lang="en-US" sz="1200" b="1" dirty="0">
                <a:solidFill>
                  <a:srgbClr val="6C8EAD"/>
                </a:solidFill>
              </a:rPr>
              <a:t>15 / 20</a:t>
            </a:r>
            <a:endParaRPr lang="en-US" sz="1200" dirty="0"/>
          </a:p>
        </p:txBody>
      </p:sp>
      <p:sp>
        <p:nvSpPr>
          <p:cNvPr id="6" name="Shape 4"/>
          <p:cNvSpPr/>
          <p:nvPr/>
        </p:nvSpPr>
        <p:spPr>
          <a:xfrm>
            <a:off x="292608" y="685800"/>
            <a:ext cx="1097280" cy="256032"/>
          </a:xfrm>
          <a:prstGeom prst="rect">
            <a:avLst/>
          </a:prstGeom>
          <a:solidFill>
            <a:srgbClr val="0078D4"/>
          </a:solidFill>
          <a:ln w="12700">
            <a:solidFill>
              <a:srgbClr val="0078D4"/>
            </a:solidFill>
            <a:prstDash val="solid"/>
          </a:ln>
        </p:spPr>
      </p:sp>
      <p:sp>
        <p:nvSpPr>
          <p:cNvPr id="7" name="Text 5"/>
          <p:cNvSpPr/>
          <p:nvPr/>
        </p:nvSpPr>
        <p:spPr>
          <a:xfrm>
            <a:off x="292608" y="685800"/>
            <a:ext cx="1097280" cy="256032"/>
          </a:xfrm>
          <a:prstGeom prst="rect">
            <a:avLst/>
          </a:prstGeom>
          <a:noFill/>
          <a:ln/>
        </p:spPr>
        <p:txBody>
          <a:bodyPr wrap="square" rtlCol="0" anchor="ctr"/>
          <a:lstStyle/>
          <a:p>
            <a:pPr algn="ctr" indent="0" marL="0">
              <a:buNone/>
            </a:pPr>
            <a:r>
              <a:rPr lang="en-US" sz="800" b="1" dirty="0">
                <a:solidFill>
                  <a:srgbClr val="FFFFFF"/>
                </a:solidFill>
              </a:rPr>
              <a:t>SCENARIO</a:t>
            </a:r>
            <a:endParaRPr lang="en-US" sz="800" dirty="0"/>
          </a:p>
        </p:txBody>
      </p:sp>
      <p:sp>
        <p:nvSpPr>
          <p:cNvPr id="8" name="Shape 6"/>
          <p:cNvSpPr/>
          <p:nvPr/>
        </p:nvSpPr>
        <p:spPr>
          <a:xfrm>
            <a:off x="292608" y="978408"/>
            <a:ext cx="8558784" cy="960120"/>
          </a:xfrm>
          <a:prstGeom prst="rect">
            <a:avLst/>
          </a:prstGeom>
          <a:solidFill>
            <a:srgbClr val="EBF4FF"/>
          </a:solidFill>
          <a:ln w="12700">
            <a:solidFill>
              <a:srgbClr val="0078D4"/>
            </a:solidFill>
            <a:prstDash val="solid"/>
          </a:ln>
        </p:spPr>
      </p:sp>
      <p:sp>
        <p:nvSpPr>
          <p:cNvPr id="9" name="Text 7"/>
          <p:cNvSpPr/>
          <p:nvPr/>
        </p:nvSpPr>
        <p:spPr>
          <a:xfrm>
            <a:off x="420624" y="1024128"/>
            <a:ext cx="8321040" cy="868680"/>
          </a:xfrm>
          <a:prstGeom prst="rect">
            <a:avLst/>
          </a:prstGeom>
          <a:noFill/>
          <a:ln/>
        </p:spPr>
        <p:txBody>
          <a:bodyPr wrap="square" rtlCol="0" anchor="t"/>
          <a:lstStyle/>
          <a:p>
            <a:pPr indent="0" marL="0">
              <a:buNone/>
            </a:pPr>
            <a:r>
              <a:rPr lang="en-US" sz="1250" dirty="0">
                <a:solidFill>
                  <a:srgbClr val="1B2A3B"/>
                </a:solidFill>
              </a:rPr>
              <a:t>A team member was assigned the Reader role at the Management Group level. The team lead now assigns the Contributor role to the same user on a specific Resource Group within a subscription under that Management Group.</a:t>
            </a:r>
            <a:endParaRPr lang="en-US" sz="1250" dirty="0"/>
          </a:p>
        </p:txBody>
      </p:sp>
      <p:sp>
        <p:nvSpPr>
          <p:cNvPr id="10" name="Text 8"/>
          <p:cNvSpPr/>
          <p:nvPr/>
        </p:nvSpPr>
        <p:spPr>
          <a:xfrm>
            <a:off x="292608" y="2048256"/>
            <a:ext cx="8558784" cy="420624"/>
          </a:xfrm>
          <a:prstGeom prst="rect">
            <a:avLst/>
          </a:prstGeom>
          <a:noFill/>
          <a:ln/>
        </p:spPr>
        <p:txBody>
          <a:bodyPr wrap="square" rtlCol="0" anchor="ctr"/>
          <a:lstStyle/>
          <a:p>
            <a:pPr indent="0" marL="0">
              <a:buNone/>
            </a:pPr>
            <a:r>
              <a:rPr lang="en-US" sz="1350" b="1" dirty="0">
                <a:solidFill>
                  <a:srgbClr val="0A1628"/>
                </a:solidFill>
              </a:rPr>
              <a:t>What is the effective access the user has on that Resource Group?</a:t>
            </a:r>
            <a:endParaRPr lang="en-US" sz="1350" dirty="0"/>
          </a:p>
        </p:txBody>
      </p:sp>
      <p:sp>
        <p:nvSpPr>
          <p:cNvPr id="11" name="Shape 9"/>
          <p:cNvSpPr/>
          <p:nvPr/>
        </p:nvSpPr>
        <p:spPr>
          <a:xfrm>
            <a:off x="292608" y="2523744"/>
            <a:ext cx="8558784" cy="539496"/>
          </a:xfrm>
          <a:prstGeom prst="rect">
            <a:avLst/>
          </a:prstGeom>
          <a:solidFill>
            <a:srgbClr val="FFFFFF"/>
          </a:solidFill>
          <a:ln w="12700">
            <a:solidFill>
              <a:srgbClr val="C5D8EE"/>
            </a:solidFill>
            <a:prstDash val="solid"/>
          </a:ln>
        </p:spPr>
      </p:sp>
      <p:sp>
        <p:nvSpPr>
          <p:cNvPr id="12" name="Shape 10"/>
          <p:cNvSpPr/>
          <p:nvPr/>
        </p:nvSpPr>
        <p:spPr>
          <a:xfrm>
            <a:off x="384048" y="2633472"/>
            <a:ext cx="329184" cy="329184"/>
          </a:xfrm>
          <a:prstGeom prst="ellipse">
            <a:avLst/>
          </a:prstGeom>
          <a:solidFill>
            <a:srgbClr val="1B3A5C"/>
          </a:solidFill>
          <a:ln w="12700">
            <a:solidFill>
              <a:srgbClr val="1B3A5C"/>
            </a:solidFill>
            <a:prstDash val="solid"/>
          </a:ln>
        </p:spPr>
      </p:sp>
      <p:sp>
        <p:nvSpPr>
          <p:cNvPr id="13" name="Text 11"/>
          <p:cNvSpPr/>
          <p:nvPr/>
        </p:nvSpPr>
        <p:spPr>
          <a:xfrm>
            <a:off x="384048" y="2633472"/>
            <a:ext cx="329184" cy="329184"/>
          </a:xfrm>
          <a:prstGeom prst="rect">
            <a:avLst/>
          </a:prstGeom>
          <a:noFill/>
          <a:ln/>
        </p:spPr>
        <p:txBody>
          <a:bodyPr wrap="square" rtlCol="0" anchor="ctr"/>
          <a:lstStyle/>
          <a:p>
            <a:pPr algn="ctr" indent="0" marL="0">
              <a:buNone/>
            </a:pPr>
            <a:r>
              <a:rPr lang="en-US" sz="1100" b="1" dirty="0">
                <a:solidFill>
                  <a:srgbClr val="FFFFFF"/>
                </a:solidFill>
              </a:rPr>
              <a:t>A</a:t>
            </a:r>
            <a:endParaRPr lang="en-US" sz="1100" dirty="0"/>
          </a:p>
        </p:txBody>
      </p:sp>
      <p:sp>
        <p:nvSpPr>
          <p:cNvPr id="14" name="Text 12"/>
          <p:cNvSpPr/>
          <p:nvPr/>
        </p:nvSpPr>
        <p:spPr>
          <a:xfrm>
            <a:off x="786384" y="2615184"/>
            <a:ext cx="7991856" cy="365760"/>
          </a:xfrm>
          <a:prstGeom prst="rect">
            <a:avLst/>
          </a:prstGeom>
          <a:noFill/>
          <a:ln/>
        </p:spPr>
        <p:txBody>
          <a:bodyPr wrap="square" rtlCol="0" anchor="ctr"/>
          <a:lstStyle/>
          <a:p>
            <a:pPr indent="0" marL="0">
              <a:buNone/>
            </a:pPr>
            <a:r>
              <a:rPr lang="en-US" sz="1250" dirty="0">
                <a:solidFill>
                  <a:srgbClr val="1B2A3B"/>
                </a:solidFill>
              </a:rPr>
              <a:t>Reader only — lower-level assignments are ignored</a:t>
            </a:r>
            <a:endParaRPr lang="en-US" sz="1250" dirty="0"/>
          </a:p>
        </p:txBody>
      </p:sp>
      <p:sp>
        <p:nvSpPr>
          <p:cNvPr id="15" name="Shape 13"/>
          <p:cNvSpPr/>
          <p:nvPr/>
        </p:nvSpPr>
        <p:spPr>
          <a:xfrm>
            <a:off x="292608" y="3154680"/>
            <a:ext cx="8558784" cy="539496"/>
          </a:xfrm>
          <a:prstGeom prst="rect">
            <a:avLst/>
          </a:prstGeom>
          <a:solidFill>
            <a:srgbClr val="FFFFFF"/>
          </a:solidFill>
          <a:ln w="12700">
            <a:solidFill>
              <a:srgbClr val="C5D8EE"/>
            </a:solidFill>
            <a:prstDash val="solid"/>
          </a:ln>
        </p:spPr>
      </p:sp>
      <p:sp>
        <p:nvSpPr>
          <p:cNvPr id="16" name="Shape 14"/>
          <p:cNvSpPr/>
          <p:nvPr/>
        </p:nvSpPr>
        <p:spPr>
          <a:xfrm>
            <a:off x="384048" y="3264408"/>
            <a:ext cx="329184" cy="329184"/>
          </a:xfrm>
          <a:prstGeom prst="ellipse">
            <a:avLst/>
          </a:prstGeom>
          <a:solidFill>
            <a:srgbClr val="1B3A5C"/>
          </a:solidFill>
          <a:ln w="12700">
            <a:solidFill>
              <a:srgbClr val="1B3A5C"/>
            </a:solidFill>
            <a:prstDash val="solid"/>
          </a:ln>
        </p:spPr>
      </p:sp>
      <p:sp>
        <p:nvSpPr>
          <p:cNvPr id="17" name="Text 15"/>
          <p:cNvSpPr/>
          <p:nvPr/>
        </p:nvSpPr>
        <p:spPr>
          <a:xfrm>
            <a:off x="384048" y="3264408"/>
            <a:ext cx="329184" cy="329184"/>
          </a:xfrm>
          <a:prstGeom prst="rect">
            <a:avLst/>
          </a:prstGeom>
          <a:noFill/>
          <a:ln/>
        </p:spPr>
        <p:txBody>
          <a:bodyPr wrap="square" rtlCol="0" anchor="ctr"/>
          <a:lstStyle/>
          <a:p>
            <a:pPr algn="ctr" indent="0" marL="0">
              <a:buNone/>
            </a:pPr>
            <a:r>
              <a:rPr lang="en-US" sz="1100" b="1" dirty="0">
                <a:solidFill>
                  <a:srgbClr val="FFFFFF"/>
                </a:solidFill>
              </a:rPr>
              <a:t>B</a:t>
            </a:r>
            <a:endParaRPr lang="en-US" sz="1100" dirty="0"/>
          </a:p>
        </p:txBody>
      </p:sp>
      <p:sp>
        <p:nvSpPr>
          <p:cNvPr id="18" name="Text 16"/>
          <p:cNvSpPr/>
          <p:nvPr/>
        </p:nvSpPr>
        <p:spPr>
          <a:xfrm>
            <a:off x="786384" y="3246120"/>
            <a:ext cx="7991856" cy="365760"/>
          </a:xfrm>
          <a:prstGeom prst="rect">
            <a:avLst/>
          </a:prstGeom>
          <a:noFill/>
          <a:ln/>
        </p:spPr>
        <p:txBody>
          <a:bodyPr wrap="square" rtlCol="0" anchor="ctr"/>
          <a:lstStyle/>
          <a:p>
            <a:pPr indent="0" marL="0">
              <a:buNone/>
            </a:pPr>
            <a:r>
              <a:rPr lang="en-US" sz="1250" dirty="0">
                <a:solidFill>
                  <a:srgbClr val="1B2A3B"/>
                </a:solidFill>
              </a:rPr>
              <a:t>Contributor — the more permissive role at the narrower scope applies</a:t>
            </a:r>
            <a:endParaRPr lang="en-US" sz="1250" dirty="0"/>
          </a:p>
        </p:txBody>
      </p:sp>
      <p:sp>
        <p:nvSpPr>
          <p:cNvPr id="19" name="Shape 17"/>
          <p:cNvSpPr/>
          <p:nvPr/>
        </p:nvSpPr>
        <p:spPr>
          <a:xfrm>
            <a:off x="292608" y="3785616"/>
            <a:ext cx="8558784" cy="539496"/>
          </a:xfrm>
          <a:prstGeom prst="rect">
            <a:avLst/>
          </a:prstGeom>
          <a:solidFill>
            <a:srgbClr val="FFFFFF"/>
          </a:solidFill>
          <a:ln w="12700">
            <a:solidFill>
              <a:srgbClr val="C5D8EE"/>
            </a:solidFill>
            <a:prstDash val="solid"/>
          </a:ln>
        </p:spPr>
      </p:sp>
      <p:sp>
        <p:nvSpPr>
          <p:cNvPr id="20" name="Shape 18"/>
          <p:cNvSpPr/>
          <p:nvPr/>
        </p:nvSpPr>
        <p:spPr>
          <a:xfrm>
            <a:off x="384048" y="3895344"/>
            <a:ext cx="329184" cy="329184"/>
          </a:xfrm>
          <a:prstGeom prst="ellipse">
            <a:avLst/>
          </a:prstGeom>
          <a:solidFill>
            <a:srgbClr val="1B3A5C"/>
          </a:solidFill>
          <a:ln w="12700">
            <a:solidFill>
              <a:srgbClr val="1B3A5C"/>
            </a:solidFill>
            <a:prstDash val="solid"/>
          </a:ln>
        </p:spPr>
      </p:sp>
      <p:sp>
        <p:nvSpPr>
          <p:cNvPr id="21" name="Text 19"/>
          <p:cNvSpPr/>
          <p:nvPr/>
        </p:nvSpPr>
        <p:spPr>
          <a:xfrm>
            <a:off x="384048" y="3895344"/>
            <a:ext cx="329184" cy="329184"/>
          </a:xfrm>
          <a:prstGeom prst="rect">
            <a:avLst/>
          </a:prstGeom>
          <a:noFill/>
          <a:ln/>
        </p:spPr>
        <p:txBody>
          <a:bodyPr wrap="square" rtlCol="0" anchor="ctr"/>
          <a:lstStyle/>
          <a:p>
            <a:pPr algn="ctr" indent="0" marL="0">
              <a:buNone/>
            </a:pPr>
            <a:r>
              <a:rPr lang="en-US" sz="1100" b="1" dirty="0">
                <a:solidFill>
                  <a:srgbClr val="FFFFFF"/>
                </a:solidFill>
              </a:rPr>
              <a:t>C</a:t>
            </a:r>
            <a:endParaRPr lang="en-US" sz="1100" dirty="0"/>
          </a:p>
        </p:txBody>
      </p:sp>
      <p:sp>
        <p:nvSpPr>
          <p:cNvPr id="22" name="Text 20"/>
          <p:cNvSpPr/>
          <p:nvPr/>
        </p:nvSpPr>
        <p:spPr>
          <a:xfrm>
            <a:off x="786384" y="3877056"/>
            <a:ext cx="7991856" cy="365760"/>
          </a:xfrm>
          <a:prstGeom prst="rect">
            <a:avLst/>
          </a:prstGeom>
          <a:noFill/>
          <a:ln/>
        </p:spPr>
        <p:txBody>
          <a:bodyPr wrap="square" rtlCol="0" anchor="ctr"/>
          <a:lstStyle/>
          <a:p>
            <a:pPr indent="0" marL="0">
              <a:buNone/>
            </a:pPr>
            <a:r>
              <a:rPr lang="en-US" sz="1250" dirty="0">
                <a:solidFill>
                  <a:srgbClr val="1B2A3B"/>
                </a:solidFill>
              </a:rPr>
              <a:t>No access — conflicting role assignments cancel each other</a:t>
            </a:r>
            <a:endParaRPr lang="en-US" sz="1250" dirty="0"/>
          </a:p>
        </p:txBody>
      </p:sp>
      <p:sp>
        <p:nvSpPr>
          <p:cNvPr id="23" name="Shape 21"/>
          <p:cNvSpPr/>
          <p:nvPr/>
        </p:nvSpPr>
        <p:spPr>
          <a:xfrm>
            <a:off x="292608" y="4416552"/>
            <a:ext cx="8558784" cy="539496"/>
          </a:xfrm>
          <a:prstGeom prst="rect">
            <a:avLst/>
          </a:prstGeom>
          <a:solidFill>
            <a:srgbClr val="FFFFFF"/>
          </a:solidFill>
          <a:ln w="12700">
            <a:solidFill>
              <a:srgbClr val="C5D8EE"/>
            </a:solidFill>
            <a:prstDash val="solid"/>
          </a:ln>
        </p:spPr>
      </p:sp>
      <p:sp>
        <p:nvSpPr>
          <p:cNvPr id="24" name="Shape 22"/>
          <p:cNvSpPr/>
          <p:nvPr/>
        </p:nvSpPr>
        <p:spPr>
          <a:xfrm>
            <a:off x="384048" y="4526280"/>
            <a:ext cx="329184" cy="329184"/>
          </a:xfrm>
          <a:prstGeom prst="ellipse">
            <a:avLst/>
          </a:prstGeom>
          <a:solidFill>
            <a:srgbClr val="1B3A5C"/>
          </a:solidFill>
          <a:ln w="12700">
            <a:solidFill>
              <a:srgbClr val="1B3A5C"/>
            </a:solidFill>
            <a:prstDash val="solid"/>
          </a:ln>
        </p:spPr>
      </p:sp>
      <p:sp>
        <p:nvSpPr>
          <p:cNvPr id="25" name="Text 23"/>
          <p:cNvSpPr/>
          <p:nvPr/>
        </p:nvSpPr>
        <p:spPr>
          <a:xfrm>
            <a:off x="384048" y="4526280"/>
            <a:ext cx="329184" cy="329184"/>
          </a:xfrm>
          <a:prstGeom prst="rect">
            <a:avLst/>
          </a:prstGeom>
          <a:noFill/>
          <a:ln/>
        </p:spPr>
        <p:txBody>
          <a:bodyPr wrap="square" rtlCol="0" anchor="ctr"/>
          <a:lstStyle/>
          <a:p>
            <a:pPr algn="ctr" indent="0" marL="0">
              <a:buNone/>
            </a:pPr>
            <a:r>
              <a:rPr lang="en-US" sz="1100" b="1" dirty="0">
                <a:solidFill>
                  <a:srgbClr val="FFFFFF"/>
                </a:solidFill>
              </a:rPr>
              <a:t>D</a:t>
            </a:r>
            <a:endParaRPr lang="en-US" sz="1100" dirty="0"/>
          </a:p>
        </p:txBody>
      </p:sp>
      <p:sp>
        <p:nvSpPr>
          <p:cNvPr id="26" name="Text 24"/>
          <p:cNvSpPr/>
          <p:nvPr/>
        </p:nvSpPr>
        <p:spPr>
          <a:xfrm>
            <a:off x="786384" y="4507992"/>
            <a:ext cx="7991856" cy="365760"/>
          </a:xfrm>
          <a:prstGeom prst="rect">
            <a:avLst/>
          </a:prstGeom>
          <a:noFill/>
          <a:ln/>
        </p:spPr>
        <p:txBody>
          <a:bodyPr wrap="square" rtlCol="0" anchor="ctr"/>
          <a:lstStyle/>
          <a:p>
            <a:pPr indent="0" marL="0">
              <a:buNone/>
            </a:pPr>
            <a:r>
              <a:rPr lang="en-US" sz="1250" dirty="0">
                <a:solidFill>
                  <a:srgbClr val="1B2A3B"/>
                </a:solidFill>
              </a:rPr>
              <a:t>Owner — the combination of Reader and Contributor equals Owner</a:t>
            </a:r>
            <a:endParaRPr lang="en-US" sz="12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4F8FD"/>
        </a:solidFill>
      </p:bgPr>
    </p:bg>
    <p:spTree>
      <p:nvGrpSpPr>
        <p:cNvPr id="1" name=""/>
        <p:cNvGrpSpPr/>
        <p:nvPr/>
      </p:nvGrpSpPr>
      <p:grpSpPr>
        <a:xfrm>
          <a:off x="0" y="0"/>
          <a:ext cx="0" cy="0"/>
          <a:chOff x="0" y="0"/>
          <a:chExt cx="0" cy="0"/>
        </a:xfrm>
      </p:grpSpPr>
      <p:sp>
        <p:nvSpPr>
          <p:cNvPr id="2" name="Shape 0"/>
          <p:cNvSpPr/>
          <p:nvPr/>
        </p:nvSpPr>
        <p:spPr>
          <a:xfrm>
            <a:off x="0" y="0"/>
            <a:ext cx="146304" cy="5143500"/>
          </a:xfrm>
          <a:prstGeom prst="rect">
            <a:avLst/>
          </a:prstGeom>
          <a:solidFill>
            <a:srgbClr val="107C10"/>
          </a:solidFill>
          <a:ln w="12700">
            <a:solidFill>
              <a:srgbClr val="107C10"/>
            </a:solidFill>
            <a:prstDash val="solid"/>
          </a:ln>
        </p:spPr>
      </p:sp>
      <p:sp>
        <p:nvSpPr>
          <p:cNvPr id="3" name="Shape 1"/>
          <p:cNvSpPr/>
          <p:nvPr/>
        </p:nvSpPr>
        <p:spPr>
          <a:xfrm>
            <a:off x="146304" y="0"/>
            <a:ext cx="8997696" cy="594360"/>
          </a:xfrm>
          <a:prstGeom prst="rect">
            <a:avLst/>
          </a:prstGeom>
          <a:solidFill>
            <a:srgbClr val="0A1628"/>
          </a:solidFill>
          <a:ln w="12700">
            <a:solidFill>
              <a:srgbClr val="0A1628"/>
            </a:solidFill>
            <a:prstDash val="solid"/>
          </a:ln>
        </p:spPr>
      </p:sp>
      <p:sp>
        <p:nvSpPr>
          <p:cNvPr id="4" name="Text 2"/>
          <p:cNvSpPr/>
          <p:nvPr/>
        </p:nvSpPr>
        <p:spPr>
          <a:xfrm>
            <a:off x="292608" y="0"/>
            <a:ext cx="6583680" cy="594360"/>
          </a:xfrm>
          <a:prstGeom prst="rect">
            <a:avLst/>
          </a:prstGeom>
          <a:noFill/>
          <a:ln/>
        </p:spPr>
        <p:txBody>
          <a:bodyPr wrap="square" lIns="0" tIns="0" rIns="0" bIns="0" rtlCol="0" anchor="ctr"/>
          <a:lstStyle/>
          <a:p>
            <a:pPr indent="0" marL="0">
              <a:buNone/>
            </a:pPr>
            <a:r>
              <a:rPr lang="en-US" sz="1200" b="1" dirty="0">
                <a:solidFill>
                  <a:srgbClr val="00FF90"/>
                </a:solidFill>
              </a:rPr>
              <a:t>✅  ANSWER 15  ·  RBAC Inheritance</a:t>
            </a:r>
            <a:endParaRPr lang="en-US" sz="1200" dirty="0"/>
          </a:p>
        </p:txBody>
      </p:sp>
      <p:sp>
        <p:nvSpPr>
          <p:cNvPr id="5" name="Text 3"/>
          <p:cNvSpPr/>
          <p:nvPr/>
        </p:nvSpPr>
        <p:spPr>
          <a:xfrm>
            <a:off x="7498080" y="0"/>
            <a:ext cx="1499616" cy="594360"/>
          </a:xfrm>
          <a:prstGeom prst="rect">
            <a:avLst/>
          </a:prstGeom>
          <a:noFill/>
          <a:ln/>
        </p:spPr>
        <p:txBody>
          <a:bodyPr wrap="square" lIns="0" tIns="0" rIns="0" bIns="0" rtlCol="0" anchor="ctr"/>
          <a:lstStyle/>
          <a:p>
            <a:pPr algn="r" indent="0" marL="0">
              <a:buNone/>
            </a:pPr>
            <a:r>
              <a:rPr lang="en-US" sz="1200" b="1" dirty="0">
                <a:solidFill>
                  <a:srgbClr val="6C8EAD"/>
                </a:solidFill>
              </a:rPr>
              <a:t>15 / 20</a:t>
            </a:r>
            <a:endParaRPr lang="en-US" sz="1200" dirty="0"/>
          </a:p>
        </p:txBody>
      </p:sp>
      <p:sp>
        <p:nvSpPr>
          <p:cNvPr id="6" name="Shape 4"/>
          <p:cNvSpPr/>
          <p:nvPr/>
        </p:nvSpPr>
        <p:spPr>
          <a:xfrm>
            <a:off x="292608" y="658368"/>
            <a:ext cx="8558784" cy="475488"/>
          </a:xfrm>
          <a:prstGeom prst="rect">
            <a:avLst/>
          </a:prstGeom>
          <a:solidFill>
            <a:srgbClr val="E6F3E6"/>
          </a:solidFill>
          <a:ln w="25400">
            <a:solidFill>
              <a:srgbClr val="107C10"/>
            </a:solidFill>
            <a:prstDash val="solid"/>
          </a:ln>
        </p:spPr>
      </p:sp>
      <p:sp>
        <p:nvSpPr>
          <p:cNvPr id="7" name="Text 5"/>
          <p:cNvSpPr/>
          <p:nvPr/>
        </p:nvSpPr>
        <p:spPr>
          <a:xfrm>
            <a:off x="420624" y="658368"/>
            <a:ext cx="8321040" cy="475488"/>
          </a:xfrm>
          <a:prstGeom prst="rect">
            <a:avLst/>
          </a:prstGeom>
          <a:noFill/>
          <a:ln/>
        </p:spPr>
        <p:txBody>
          <a:bodyPr wrap="square" rtlCol="0" anchor="ctr"/>
          <a:lstStyle/>
          <a:p>
            <a:pPr indent="0" marL="0">
              <a:buNone/>
            </a:pPr>
            <a:r>
              <a:rPr lang="en-US" sz="1300" b="1" dirty="0">
                <a:solidFill>
                  <a:srgbClr val="107C10"/>
                </a:solidFill>
              </a:rPr>
              <a:t>✔  Correct: B — Contributor — the more permissive role at the narrower scope applies</a:t>
            </a:r>
            <a:endParaRPr lang="en-US" sz="1300" dirty="0"/>
          </a:p>
        </p:txBody>
      </p:sp>
      <p:sp>
        <p:nvSpPr>
          <p:cNvPr id="8" name="Text 6"/>
          <p:cNvSpPr/>
          <p:nvPr/>
        </p:nvSpPr>
        <p:spPr>
          <a:xfrm>
            <a:off x="292608" y="1216152"/>
            <a:ext cx="8558784" cy="292608"/>
          </a:xfrm>
          <a:prstGeom prst="rect">
            <a:avLst/>
          </a:prstGeom>
          <a:noFill/>
          <a:ln/>
        </p:spPr>
        <p:txBody>
          <a:bodyPr wrap="square" rtlCol="0" anchor="ctr"/>
          <a:lstStyle/>
          <a:p>
            <a:pPr indent="0" marL="0">
              <a:buNone/>
            </a:pPr>
            <a:r>
              <a:rPr lang="en-US" sz="1200" b="1" dirty="0">
                <a:solidFill>
                  <a:srgbClr val="0A1628"/>
                </a:solidFill>
              </a:rPr>
              <a:t>Why this is correct</a:t>
            </a:r>
            <a:endParaRPr lang="en-US" sz="1200" dirty="0"/>
          </a:p>
        </p:txBody>
      </p:sp>
      <p:sp>
        <p:nvSpPr>
          <p:cNvPr id="9" name="Shape 7"/>
          <p:cNvSpPr/>
          <p:nvPr/>
        </p:nvSpPr>
        <p:spPr>
          <a:xfrm>
            <a:off x="292608" y="1517904"/>
            <a:ext cx="8558784" cy="1097280"/>
          </a:xfrm>
          <a:prstGeom prst="rect">
            <a:avLst/>
          </a:prstGeom>
          <a:solidFill>
            <a:srgbClr val="FFFFFF"/>
          </a:solidFill>
          <a:ln w="12700">
            <a:solidFill>
              <a:srgbClr val="C5D8EE"/>
            </a:solidFill>
            <a:prstDash val="solid"/>
          </a:ln>
        </p:spPr>
      </p:sp>
      <p:sp>
        <p:nvSpPr>
          <p:cNvPr id="10" name="Text 8"/>
          <p:cNvSpPr/>
          <p:nvPr/>
        </p:nvSpPr>
        <p:spPr>
          <a:xfrm>
            <a:off x="420624" y="1563624"/>
            <a:ext cx="8321040" cy="1005840"/>
          </a:xfrm>
          <a:prstGeom prst="rect">
            <a:avLst/>
          </a:prstGeom>
          <a:noFill/>
          <a:ln/>
        </p:spPr>
        <p:txBody>
          <a:bodyPr wrap="square" rtlCol="0" anchor="t"/>
          <a:lstStyle/>
          <a:p>
            <a:pPr indent="0" marL="0">
              <a:buNone/>
            </a:pPr>
            <a:r>
              <a:rPr lang="en-US" sz="1150" dirty="0">
                <a:solidFill>
                  <a:srgbClr val="1B2A3B"/>
                </a:solidFill>
              </a:rPr>
              <a:t>Azure RBAC is additive. When a user has multiple role assignments, the permissions are combined — the most permissive set wins at any given scope. The user has Reader inherited from the Management Group, plus Contributor explicitly on the Resource Group. At the Resource Group, Contributor (which includes all Reader permissions plus write) is the effective role. Assignments do not cancel or combine into Owner.</a:t>
            </a:r>
            <a:endParaRPr lang="en-US" sz="1150" dirty="0"/>
          </a:p>
        </p:txBody>
      </p:sp>
      <p:sp>
        <p:nvSpPr>
          <p:cNvPr id="11" name="Text 9"/>
          <p:cNvSpPr/>
          <p:nvPr/>
        </p:nvSpPr>
        <p:spPr>
          <a:xfrm>
            <a:off x="292608" y="2697480"/>
            <a:ext cx="8558784" cy="292608"/>
          </a:xfrm>
          <a:prstGeom prst="rect">
            <a:avLst/>
          </a:prstGeom>
          <a:noFill/>
          <a:ln/>
        </p:spPr>
        <p:txBody>
          <a:bodyPr wrap="square" rtlCol="0" anchor="ctr"/>
          <a:lstStyle/>
          <a:p>
            <a:pPr indent="0" marL="0">
              <a:buNone/>
            </a:pPr>
            <a:r>
              <a:rPr lang="en-US" sz="1200" b="1" dirty="0">
                <a:solidFill>
                  <a:srgbClr val="0A1628"/>
                </a:solidFill>
              </a:rPr>
              <a:t>Why the other options are incorrect</a:t>
            </a:r>
            <a:endParaRPr lang="en-US" sz="1200" dirty="0"/>
          </a:p>
        </p:txBody>
      </p:sp>
      <p:sp>
        <p:nvSpPr>
          <p:cNvPr id="12" name="Shape 10"/>
          <p:cNvSpPr/>
          <p:nvPr/>
        </p:nvSpPr>
        <p:spPr>
          <a:xfrm>
            <a:off x="292608" y="3035808"/>
            <a:ext cx="8558784" cy="603504"/>
          </a:xfrm>
          <a:prstGeom prst="rect">
            <a:avLst/>
          </a:prstGeom>
          <a:solidFill>
            <a:srgbClr val="FAEAEA"/>
          </a:solidFill>
          <a:ln w="12700">
            <a:solidFill>
              <a:srgbClr val="F4AAAA"/>
            </a:solidFill>
            <a:prstDash val="solid"/>
          </a:ln>
        </p:spPr>
      </p:sp>
      <p:sp>
        <p:nvSpPr>
          <p:cNvPr id="13" name="Shape 11"/>
          <p:cNvSpPr/>
          <p:nvPr/>
        </p:nvSpPr>
        <p:spPr>
          <a:xfrm>
            <a:off x="384048" y="3172968"/>
            <a:ext cx="301752" cy="301752"/>
          </a:xfrm>
          <a:prstGeom prst="ellipse">
            <a:avLst/>
          </a:prstGeom>
          <a:solidFill>
            <a:srgbClr val="A80000"/>
          </a:solidFill>
          <a:ln w="12700">
            <a:solidFill>
              <a:srgbClr val="A80000"/>
            </a:solidFill>
            <a:prstDash val="solid"/>
          </a:ln>
        </p:spPr>
      </p:sp>
      <p:sp>
        <p:nvSpPr>
          <p:cNvPr id="14" name="Text 12"/>
          <p:cNvSpPr/>
          <p:nvPr/>
        </p:nvSpPr>
        <p:spPr>
          <a:xfrm>
            <a:off x="384048" y="3172968"/>
            <a:ext cx="301752" cy="301752"/>
          </a:xfrm>
          <a:prstGeom prst="rect">
            <a:avLst/>
          </a:prstGeom>
          <a:noFill/>
          <a:ln/>
        </p:spPr>
        <p:txBody>
          <a:bodyPr wrap="square" rtlCol="0" anchor="ctr"/>
          <a:lstStyle/>
          <a:p>
            <a:pPr algn="ctr" indent="0" marL="0">
              <a:buNone/>
            </a:pPr>
            <a:r>
              <a:rPr lang="en-US" sz="1100" b="1" dirty="0">
                <a:solidFill>
                  <a:srgbClr val="FFFFFF"/>
                </a:solidFill>
              </a:rPr>
              <a:t>A</a:t>
            </a:r>
            <a:endParaRPr lang="en-US" sz="1100" dirty="0"/>
          </a:p>
        </p:txBody>
      </p:sp>
      <p:sp>
        <p:nvSpPr>
          <p:cNvPr id="15" name="Text 13"/>
          <p:cNvSpPr/>
          <p:nvPr/>
        </p:nvSpPr>
        <p:spPr>
          <a:xfrm>
            <a:off x="768096" y="3090672"/>
            <a:ext cx="8010144" cy="493776"/>
          </a:xfrm>
          <a:prstGeom prst="rect">
            <a:avLst/>
          </a:prstGeom>
          <a:noFill/>
          <a:ln/>
        </p:spPr>
        <p:txBody>
          <a:bodyPr wrap="square" rtlCol="0" anchor="ctr"/>
          <a:lstStyle/>
          <a:p>
            <a:pPr indent="0" marL="0">
              <a:buNone/>
            </a:pPr>
            <a:r>
              <a:rPr lang="en-US" sz="1150" dirty="0">
                <a:solidFill>
                  <a:srgbClr val="1B2A3B"/>
                </a:solidFill>
              </a:rPr>
              <a:t>Role assignments are additive — narrower scope assignments are not ignored. The more permissive role at any scope is effective.</a:t>
            </a:r>
            <a:endParaRPr lang="en-US" sz="1150" dirty="0"/>
          </a:p>
        </p:txBody>
      </p:sp>
      <p:sp>
        <p:nvSpPr>
          <p:cNvPr id="16" name="Shape 14"/>
          <p:cNvSpPr/>
          <p:nvPr/>
        </p:nvSpPr>
        <p:spPr>
          <a:xfrm>
            <a:off x="292608" y="3712464"/>
            <a:ext cx="8558784" cy="603504"/>
          </a:xfrm>
          <a:prstGeom prst="rect">
            <a:avLst/>
          </a:prstGeom>
          <a:solidFill>
            <a:srgbClr val="FAEAEA"/>
          </a:solidFill>
          <a:ln w="12700">
            <a:solidFill>
              <a:srgbClr val="F4AAAA"/>
            </a:solidFill>
            <a:prstDash val="solid"/>
          </a:ln>
        </p:spPr>
      </p:sp>
      <p:sp>
        <p:nvSpPr>
          <p:cNvPr id="17" name="Shape 15"/>
          <p:cNvSpPr/>
          <p:nvPr/>
        </p:nvSpPr>
        <p:spPr>
          <a:xfrm>
            <a:off x="384048" y="3849624"/>
            <a:ext cx="301752" cy="301752"/>
          </a:xfrm>
          <a:prstGeom prst="ellipse">
            <a:avLst/>
          </a:prstGeom>
          <a:solidFill>
            <a:srgbClr val="A80000"/>
          </a:solidFill>
          <a:ln w="12700">
            <a:solidFill>
              <a:srgbClr val="A80000"/>
            </a:solidFill>
            <a:prstDash val="solid"/>
          </a:ln>
        </p:spPr>
      </p:sp>
      <p:sp>
        <p:nvSpPr>
          <p:cNvPr id="18" name="Text 16"/>
          <p:cNvSpPr/>
          <p:nvPr/>
        </p:nvSpPr>
        <p:spPr>
          <a:xfrm>
            <a:off x="384048" y="3849624"/>
            <a:ext cx="301752" cy="301752"/>
          </a:xfrm>
          <a:prstGeom prst="rect">
            <a:avLst/>
          </a:prstGeom>
          <a:noFill/>
          <a:ln/>
        </p:spPr>
        <p:txBody>
          <a:bodyPr wrap="square" rtlCol="0" anchor="ctr"/>
          <a:lstStyle/>
          <a:p>
            <a:pPr algn="ctr" indent="0" marL="0">
              <a:buNone/>
            </a:pPr>
            <a:r>
              <a:rPr lang="en-US" sz="1100" b="1" dirty="0">
                <a:solidFill>
                  <a:srgbClr val="FFFFFF"/>
                </a:solidFill>
              </a:rPr>
              <a:t>C</a:t>
            </a:r>
            <a:endParaRPr lang="en-US" sz="1100" dirty="0"/>
          </a:p>
        </p:txBody>
      </p:sp>
      <p:sp>
        <p:nvSpPr>
          <p:cNvPr id="19" name="Text 17"/>
          <p:cNvSpPr/>
          <p:nvPr/>
        </p:nvSpPr>
        <p:spPr>
          <a:xfrm>
            <a:off x="768096" y="3767328"/>
            <a:ext cx="8010144" cy="493776"/>
          </a:xfrm>
          <a:prstGeom prst="rect">
            <a:avLst/>
          </a:prstGeom>
          <a:noFill/>
          <a:ln/>
        </p:spPr>
        <p:txBody>
          <a:bodyPr wrap="square" rtlCol="0" anchor="ctr"/>
          <a:lstStyle/>
          <a:p>
            <a:pPr indent="0" marL="0">
              <a:buNone/>
            </a:pPr>
            <a:r>
              <a:rPr lang="en-US" sz="1150" dirty="0">
                <a:solidFill>
                  <a:srgbClr val="1B2A3B"/>
                </a:solidFill>
              </a:rPr>
              <a:t>Conflicting RBAC assignments do not cancel each other. Azure RBAC is purely additive — permissions are unioned.</a:t>
            </a:r>
            <a:endParaRPr lang="en-US" sz="1150" dirty="0"/>
          </a:p>
        </p:txBody>
      </p:sp>
      <p:sp>
        <p:nvSpPr>
          <p:cNvPr id="20" name="Shape 18"/>
          <p:cNvSpPr/>
          <p:nvPr/>
        </p:nvSpPr>
        <p:spPr>
          <a:xfrm>
            <a:off x="292608" y="4389120"/>
            <a:ext cx="8558784" cy="603504"/>
          </a:xfrm>
          <a:prstGeom prst="rect">
            <a:avLst/>
          </a:prstGeom>
          <a:solidFill>
            <a:srgbClr val="FAEAEA"/>
          </a:solidFill>
          <a:ln w="12700">
            <a:solidFill>
              <a:srgbClr val="F4AAAA"/>
            </a:solidFill>
            <a:prstDash val="solid"/>
          </a:ln>
        </p:spPr>
      </p:sp>
      <p:sp>
        <p:nvSpPr>
          <p:cNvPr id="21" name="Shape 19"/>
          <p:cNvSpPr/>
          <p:nvPr/>
        </p:nvSpPr>
        <p:spPr>
          <a:xfrm>
            <a:off x="384048" y="4526280"/>
            <a:ext cx="301752" cy="301752"/>
          </a:xfrm>
          <a:prstGeom prst="ellipse">
            <a:avLst/>
          </a:prstGeom>
          <a:solidFill>
            <a:srgbClr val="A80000"/>
          </a:solidFill>
          <a:ln w="12700">
            <a:solidFill>
              <a:srgbClr val="A80000"/>
            </a:solidFill>
            <a:prstDash val="solid"/>
          </a:ln>
        </p:spPr>
      </p:sp>
      <p:sp>
        <p:nvSpPr>
          <p:cNvPr id="22" name="Text 20"/>
          <p:cNvSpPr/>
          <p:nvPr/>
        </p:nvSpPr>
        <p:spPr>
          <a:xfrm>
            <a:off x="384048" y="4526280"/>
            <a:ext cx="301752" cy="301752"/>
          </a:xfrm>
          <a:prstGeom prst="rect">
            <a:avLst/>
          </a:prstGeom>
          <a:noFill/>
          <a:ln/>
        </p:spPr>
        <p:txBody>
          <a:bodyPr wrap="square" rtlCol="0" anchor="ctr"/>
          <a:lstStyle/>
          <a:p>
            <a:pPr algn="ctr" indent="0" marL="0">
              <a:buNone/>
            </a:pPr>
            <a:r>
              <a:rPr lang="en-US" sz="1100" b="1" dirty="0">
                <a:solidFill>
                  <a:srgbClr val="FFFFFF"/>
                </a:solidFill>
              </a:rPr>
              <a:t>D</a:t>
            </a:r>
            <a:endParaRPr lang="en-US" sz="1100" dirty="0"/>
          </a:p>
        </p:txBody>
      </p:sp>
      <p:sp>
        <p:nvSpPr>
          <p:cNvPr id="23" name="Text 21"/>
          <p:cNvSpPr/>
          <p:nvPr/>
        </p:nvSpPr>
        <p:spPr>
          <a:xfrm>
            <a:off x="768096" y="4443984"/>
            <a:ext cx="8010144" cy="493776"/>
          </a:xfrm>
          <a:prstGeom prst="rect">
            <a:avLst/>
          </a:prstGeom>
          <a:noFill/>
          <a:ln/>
        </p:spPr>
        <p:txBody>
          <a:bodyPr wrap="square" rtlCol="0" anchor="ctr"/>
          <a:lstStyle/>
          <a:p>
            <a:pPr indent="0" marL="0">
              <a:buNone/>
            </a:pPr>
            <a:r>
              <a:rPr lang="en-US" sz="1150" dirty="0">
                <a:solidFill>
                  <a:srgbClr val="1B2A3B"/>
                </a:solidFill>
              </a:rPr>
              <a:t>Owner requires the ability to manage access (Microsoft.Authorization/*). Reader + Contributor does not equal Owner.</a:t>
            </a:r>
            <a:endParaRPr lang="en-US" sz="11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4F8FD"/>
        </a:solidFill>
      </p:bgPr>
    </p:bg>
    <p:spTree>
      <p:nvGrpSpPr>
        <p:cNvPr id="1" name=""/>
        <p:cNvGrpSpPr/>
        <p:nvPr/>
      </p:nvGrpSpPr>
      <p:grpSpPr>
        <a:xfrm>
          <a:off x="0" y="0"/>
          <a:ext cx="0" cy="0"/>
          <a:chOff x="0" y="0"/>
          <a:chExt cx="0" cy="0"/>
        </a:xfrm>
      </p:grpSpPr>
      <p:sp>
        <p:nvSpPr>
          <p:cNvPr id="2" name="Shape 0"/>
          <p:cNvSpPr/>
          <p:nvPr/>
        </p:nvSpPr>
        <p:spPr>
          <a:xfrm>
            <a:off x="0" y="0"/>
            <a:ext cx="146304" cy="5143500"/>
          </a:xfrm>
          <a:prstGeom prst="rect">
            <a:avLst/>
          </a:prstGeom>
          <a:solidFill>
            <a:srgbClr val="0078D4"/>
          </a:solidFill>
          <a:ln w="12700">
            <a:solidFill>
              <a:srgbClr val="0078D4"/>
            </a:solidFill>
            <a:prstDash val="solid"/>
          </a:ln>
        </p:spPr>
      </p:sp>
      <p:sp>
        <p:nvSpPr>
          <p:cNvPr id="3" name="Shape 1"/>
          <p:cNvSpPr/>
          <p:nvPr/>
        </p:nvSpPr>
        <p:spPr>
          <a:xfrm>
            <a:off x="146304" y="0"/>
            <a:ext cx="8997696" cy="594360"/>
          </a:xfrm>
          <a:prstGeom prst="rect">
            <a:avLst/>
          </a:prstGeom>
          <a:solidFill>
            <a:srgbClr val="0A1628"/>
          </a:solidFill>
          <a:ln w="12700">
            <a:solidFill>
              <a:srgbClr val="0A1628"/>
            </a:solidFill>
            <a:prstDash val="solid"/>
          </a:ln>
        </p:spPr>
      </p:sp>
      <p:sp>
        <p:nvSpPr>
          <p:cNvPr id="4" name="Text 2"/>
          <p:cNvSpPr/>
          <p:nvPr/>
        </p:nvSpPr>
        <p:spPr>
          <a:xfrm>
            <a:off x="292608" y="0"/>
            <a:ext cx="6583680" cy="594360"/>
          </a:xfrm>
          <a:prstGeom prst="rect">
            <a:avLst/>
          </a:prstGeom>
          <a:noFill/>
          <a:ln/>
        </p:spPr>
        <p:txBody>
          <a:bodyPr wrap="square" lIns="0" tIns="0" rIns="0" bIns="0" rtlCol="0" anchor="ctr"/>
          <a:lstStyle/>
          <a:p>
            <a:pPr indent="0" marL="0">
              <a:buNone/>
            </a:pPr>
            <a:r>
              <a:rPr lang="en-US" sz="1200" b="1" dirty="0">
                <a:solidFill>
                  <a:srgbClr val="50E6FF"/>
                </a:solidFill>
              </a:rPr>
              <a:t>❓  QUESTION 16  ·  Resource Groups</a:t>
            </a:r>
            <a:endParaRPr lang="en-US" sz="1200" dirty="0"/>
          </a:p>
        </p:txBody>
      </p:sp>
      <p:sp>
        <p:nvSpPr>
          <p:cNvPr id="5" name="Text 3"/>
          <p:cNvSpPr/>
          <p:nvPr/>
        </p:nvSpPr>
        <p:spPr>
          <a:xfrm>
            <a:off x="7498080" y="0"/>
            <a:ext cx="1499616" cy="594360"/>
          </a:xfrm>
          <a:prstGeom prst="rect">
            <a:avLst/>
          </a:prstGeom>
          <a:noFill/>
          <a:ln/>
        </p:spPr>
        <p:txBody>
          <a:bodyPr wrap="square" lIns="0" tIns="0" rIns="0" bIns="0" rtlCol="0" anchor="ctr"/>
          <a:lstStyle/>
          <a:p>
            <a:pPr algn="r" indent="0" marL="0">
              <a:buNone/>
            </a:pPr>
            <a:r>
              <a:rPr lang="en-US" sz="1200" b="1" dirty="0">
                <a:solidFill>
                  <a:srgbClr val="6C8EAD"/>
                </a:solidFill>
              </a:rPr>
              <a:t>16 / 20</a:t>
            </a:r>
            <a:endParaRPr lang="en-US" sz="1200" dirty="0"/>
          </a:p>
        </p:txBody>
      </p:sp>
      <p:sp>
        <p:nvSpPr>
          <p:cNvPr id="6" name="Shape 4"/>
          <p:cNvSpPr/>
          <p:nvPr/>
        </p:nvSpPr>
        <p:spPr>
          <a:xfrm>
            <a:off x="292608" y="685800"/>
            <a:ext cx="1097280" cy="256032"/>
          </a:xfrm>
          <a:prstGeom prst="rect">
            <a:avLst/>
          </a:prstGeom>
          <a:solidFill>
            <a:srgbClr val="0078D4"/>
          </a:solidFill>
          <a:ln w="12700">
            <a:solidFill>
              <a:srgbClr val="0078D4"/>
            </a:solidFill>
            <a:prstDash val="solid"/>
          </a:ln>
        </p:spPr>
      </p:sp>
      <p:sp>
        <p:nvSpPr>
          <p:cNvPr id="7" name="Text 5"/>
          <p:cNvSpPr/>
          <p:nvPr/>
        </p:nvSpPr>
        <p:spPr>
          <a:xfrm>
            <a:off x="292608" y="685800"/>
            <a:ext cx="1097280" cy="256032"/>
          </a:xfrm>
          <a:prstGeom prst="rect">
            <a:avLst/>
          </a:prstGeom>
          <a:noFill/>
          <a:ln/>
        </p:spPr>
        <p:txBody>
          <a:bodyPr wrap="square" rtlCol="0" anchor="ctr"/>
          <a:lstStyle/>
          <a:p>
            <a:pPr algn="ctr" indent="0" marL="0">
              <a:buNone/>
            </a:pPr>
            <a:r>
              <a:rPr lang="en-US" sz="800" b="1" dirty="0">
                <a:solidFill>
                  <a:srgbClr val="FFFFFF"/>
                </a:solidFill>
              </a:rPr>
              <a:t>SCENARIO</a:t>
            </a:r>
            <a:endParaRPr lang="en-US" sz="800" dirty="0"/>
          </a:p>
        </p:txBody>
      </p:sp>
      <p:sp>
        <p:nvSpPr>
          <p:cNvPr id="8" name="Shape 6"/>
          <p:cNvSpPr/>
          <p:nvPr/>
        </p:nvSpPr>
        <p:spPr>
          <a:xfrm>
            <a:off x="292608" y="978408"/>
            <a:ext cx="8558784" cy="960120"/>
          </a:xfrm>
          <a:prstGeom prst="rect">
            <a:avLst/>
          </a:prstGeom>
          <a:solidFill>
            <a:srgbClr val="EBF4FF"/>
          </a:solidFill>
          <a:ln w="12700">
            <a:solidFill>
              <a:srgbClr val="0078D4"/>
            </a:solidFill>
            <a:prstDash val="solid"/>
          </a:ln>
        </p:spPr>
      </p:sp>
      <p:sp>
        <p:nvSpPr>
          <p:cNvPr id="9" name="Text 7"/>
          <p:cNvSpPr/>
          <p:nvPr/>
        </p:nvSpPr>
        <p:spPr>
          <a:xfrm>
            <a:off x="420624" y="1024128"/>
            <a:ext cx="8321040" cy="868680"/>
          </a:xfrm>
          <a:prstGeom prst="rect">
            <a:avLst/>
          </a:prstGeom>
          <a:noFill/>
          <a:ln/>
        </p:spPr>
        <p:txBody>
          <a:bodyPr wrap="square" rtlCol="0" anchor="t"/>
          <a:lstStyle/>
          <a:p>
            <a:pPr indent="0" marL="0">
              <a:buNone/>
            </a:pPr>
            <a:r>
              <a:rPr lang="en-US" sz="1250" dirty="0">
                <a:solidFill>
                  <a:srgbClr val="1B2A3B"/>
                </a:solidFill>
              </a:rPr>
              <a:t>A developer accidentally deleted an Azure Web App and its App Service Plan. Both resources were in the same Resource Group. The IT admin wants to understand why deleting the Resource Group caused all resources inside to be deleted.</a:t>
            </a:r>
            <a:endParaRPr lang="en-US" sz="1250" dirty="0"/>
          </a:p>
        </p:txBody>
      </p:sp>
      <p:sp>
        <p:nvSpPr>
          <p:cNvPr id="10" name="Text 8"/>
          <p:cNvSpPr/>
          <p:nvPr/>
        </p:nvSpPr>
        <p:spPr>
          <a:xfrm>
            <a:off x="292608" y="2048256"/>
            <a:ext cx="8558784" cy="420624"/>
          </a:xfrm>
          <a:prstGeom prst="rect">
            <a:avLst/>
          </a:prstGeom>
          <a:noFill/>
          <a:ln/>
        </p:spPr>
        <p:txBody>
          <a:bodyPr wrap="square" rtlCol="0" anchor="ctr"/>
          <a:lstStyle/>
          <a:p>
            <a:pPr indent="0" marL="0">
              <a:buNone/>
            </a:pPr>
            <a:r>
              <a:rPr lang="en-US" sz="1350" b="1" dirty="0">
                <a:solidFill>
                  <a:srgbClr val="0A1628"/>
                </a:solidFill>
              </a:rPr>
              <a:t>Which statement correctly describes Azure Resource Group behaviour?</a:t>
            </a:r>
            <a:endParaRPr lang="en-US" sz="1350" dirty="0"/>
          </a:p>
        </p:txBody>
      </p:sp>
      <p:sp>
        <p:nvSpPr>
          <p:cNvPr id="11" name="Shape 9"/>
          <p:cNvSpPr/>
          <p:nvPr/>
        </p:nvSpPr>
        <p:spPr>
          <a:xfrm>
            <a:off x="292608" y="2523744"/>
            <a:ext cx="8558784" cy="539496"/>
          </a:xfrm>
          <a:prstGeom prst="rect">
            <a:avLst/>
          </a:prstGeom>
          <a:solidFill>
            <a:srgbClr val="FFFFFF"/>
          </a:solidFill>
          <a:ln w="12700">
            <a:solidFill>
              <a:srgbClr val="C5D8EE"/>
            </a:solidFill>
            <a:prstDash val="solid"/>
          </a:ln>
        </p:spPr>
      </p:sp>
      <p:sp>
        <p:nvSpPr>
          <p:cNvPr id="12" name="Shape 10"/>
          <p:cNvSpPr/>
          <p:nvPr/>
        </p:nvSpPr>
        <p:spPr>
          <a:xfrm>
            <a:off x="384048" y="2633472"/>
            <a:ext cx="329184" cy="329184"/>
          </a:xfrm>
          <a:prstGeom prst="ellipse">
            <a:avLst/>
          </a:prstGeom>
          <a:solidFill>
            <a:srgbClr val="1B3A5C"/>
          </a:solidFill>
          <a:ln w="12700">
            <a:solidFill>
              <a:srgbClr val="1B3A5C"/>
            </a:solidFill>
            <a:prstDash val="solid"/>
          </a:ln>
        </p:spPr>
      </p:sp>
      <p:sp>
        <p:nvSpPr>
          <p:cNvPr id="13" name="Text 11"/>
          <p:cNvSpPr/>
          <p:nvPr/>
        </p:nvSpPr>
        <p:spPr>
          <a:xfrm>
            <a:off x="384048" y="2633472"/>
            <a:ext cx="329184" cy="329184"/>
          </a:xfrm>
          <a:prstGeom prst="rect">
            <a:avLst/>
          </a:prstGeom>
          <a:noFill/>
          <a:ln/>
        </p:spPr>
        <p:txBody>
          <a:bodyPr wrap="square" rtlCol="0" anchor="ctr"/>
          <a:lstStyle/>
          <a:p>
            <a:pPr algn="ctr" indent="0" marL="0">
              <a:buNone/>
            </a:pPr>
            <a:r>
              <a:rPr lang="en-US" sz="1100" b="1" dirty="0">
                <a:solidFill>
                  <a:srgbClr val="FFFFFF"/>
                </a:solidFill>
              </a:rPr>
              <a:t>A</a:t>
            </a:r>
            <a:endParaRPr lang="en-US" sz="1100" dirty="0"/>
          </a:p>
        </p:txBody>
      </p:sp>
      <p:sp>
        <p:nvSpPr>
          <p:cNvPr id="14" name="Text 12"/>
          <p:cNvSpPr/>
          <p:nvPr/>
        </p:nvSpPr>
        <p:spPr>
          <a:xfrm>
            <a:off x="786384" y="2615184"/>
            <a:ext cx="7991856" cy="365760"/>
          </a:xfrm>
          <a:prstGeom prst="rect">
            <a:avLst/>
          </a:prstGeom>
          <a:noFill/>
          <a:ln/>
        </p:spPr>
        <p:txBody>
          <a:bodyPr wrap="square" rtlCol="0" anchor="ctr"/>
          <a:lstStyle/>
          <a:p>
            <a:pPr indent="0" marL="0">
              <a:buNone/>
            </a:pPr>
            <a:r>
              <a:rPr lang="en-US" sz="1250" dirty="0">
                <a:solidFill>
                  <a:srgbClr val="1B2A3B"/>
                </a:solidFill>
              </a:rPr>
              <a:t>Resource Groups are billing containers and do not affect resource lifecycle</a:t>
            </a:r>
            <a:endParaRPr lang="en-US" sz="1250" dirty="0"/>
          </a:p>
        </p:txBody>
      </p:sp>
      <p:sp>
        <p:nvSpPr>
          <p:cNvPr id="15" name="Shape 13"/>
          <p:cNvSpPr/>
          <p:nvPr/>
        </p:nvSpPr>
        <p:spPr>
          <a:xfrm>
            <a:off x="292608" y="3154680"/>
            <a:ext cx="8558784" cy="539496"/>
          </a:xfrm>
          <a:prstGeom prst="rect">
            <a:avLst/>
          </a:prstGeom>
          <a:solidFill>
            <a:srgbClr val="FFFFFF"/>
          </a:solidFill>
          <a:ln w="12700">
            <a:solidFill>
              <a:srgbClr val="C5D8EE"/>
            </a:solidFill>
            <a:prstDash val="solid"/>
          </a:ln>
        </p:spPr>
      </p:sp>
      <p:sp>
        <p:nvSpPr>
          <p:cNvPr id="16" name="Shape 14"/>
          <p:cNvSpPr/>
          <p:nvPr/>
        </p:nvSpPr>
        <p:spPr>
          <a:xfrm>
            <a:off x="384048" y="3264408"/>
            <a:ext cx="329184" cy="329184"/>
          </a:xfrm>
          <a:prstGeom prst="ellipse">
            <a:avLst/>
          </a:prstGeom>
          <a:solidFill>
            <a:srgbClr val="1B3A5C"/>
          </a:solidFill>
          <a:ln w="12700">
            <a:solidFill>
              <a:srgbClr val="1B3A5C"/>
            </a:solidFill>
            <a:prstDash val="solid"/>
          </a:ln>
        </p:spPr>
      </p:sp>
      <p:sp>
        <p:nvSpPr>
          <p:cNvPr id="17" name="Text 15"/>
          <p:cNvSpPr/>
          <p:nvPr/>
        </p:nvSpPr>
        <p:spPr>
          <a:xfrm>
            <a:off x="384048" y="3264408"/>
            <a:ext cx="329184" cy="329184"/>
          </a:xfrm>
          <a:prstGeom prst="rect">
            <a:avLst/>
          </a:prstGeom>
          <a:noFill/>
          <a:ln/>
        </p:spPr>
        <p:txBody>
          <a:bodyPr wrap="square" rtlCol="0" anchor="ctr"/>
          <a:lstStyle/>
          <a:p>
            <a:pPr algn="ctr" indent="0" marL="0">
              <a:buNone/>
            </a:pPr>
            <a:r>
              <a:rPr lang="en-US" sz="1100" b="1" dirty="0">
                <a:solidFill>
                  <a:srgbClr val="FFFFFF"/>
                </a:solidFill>
              </a:rPr>
              <a:t>B</a:t>
            </a:r>
            <a:endParaRPr lang="en-US" sz="1100" dirty="0"/>
          </a:p>
        </p:txBody>
      </p:sp>
      <p:sp>
        <p:nvSpPr>
          <p:cNvPr id="18" name="Text 16"/>
          <p:cNvSpPr/>
          <p:nvPr/>
        </p:nvSpPr>
        <p:spPr>
          <a:xfrm>
            <a:off x="786384" y="3246120"/>
            <a:ext cx="7991856" cy="365760"/>
          </a:xfrm>
          <a:prstGeom prst="rect">
            <a:avLst/>
          </a:prstGeom>
          <a:noFill/>
          <a:ln/>
        </p:spPr>
        <p:txBody>
          <a:bodyPr wrap="square" rtlCol="0" anchor="ctr"/>
          <a:lstStyle/>
          <a:p>
            <a:pPr indent="0" marL="0">
              <a:buNone/>
            </a:pPr>
            <a:r>
              <a:rPr lang="en-US" sz="1250" dirty="0">
                <a:solidFill>
                  <a:srgbClr val="1B2A3B"/>
                </a:solidFill>
              </a:rPr>
              <a:t>Deleting a Resource Group deletes all resources within it — they share the same lifecycle</a:t>
            </a:r>
            <a:endParaRPr lang="en-US" sz="1250" dirty="0"/>
          </a:p>
        </p:txBody>
      </p:sp>
      <p:sp>
        <p:nvSpPr>
          <p:cNvPr id="19" name="Shape 17"/>
          <p:cNvSpPr/>
          <p:nvPr/>
        </p:nvSpPr>
        <p:spPr>
          <a:xfrm>
            <a:off x="292608" y="3785616"/>
            <a:ext cx="8558784" cy="539496"/>
          </a:xfrm>
          <a:prstGeom prst="rect">
            <a:avLst/>
          </a:prstGeom>
          <a:solidFill>
            <a:srgbClr val="FFFFFF"/>
          </a:solidFill>
          <a:ln w="12700">
            <a:solidFill>
              <a:srgbClr val="C5D8EE"/>
            </a:solidFill>
            <a:prstDash val="solid"/>
          </a:ln>
        </p:spPr>
      </p:sp>
      <p:sp>
        <p:nvSpPr>
          <p:cNvPr id="20" name="Shape 18"/>
          <p:cNvSpPr/>
          <p:nvPr/>
        </p:nvSpPr>
        <p:spPr>
          <a:xfrm>
            <a:off x="384048" y="3895344"/>
            <a:ext cx="329184" cy="329184"/>
          </a:xfrm>
          <a:prstGeom prst="ellipse">
            <a:avLst/>
          </a:prstGeom>
          <a:solidFill>
            <a:srgbClr val="1B3A5C"/>
          </a:solidFill>
          <a:ln w="12700">
            <a:solidFill>
              <a:srgbClr val="1B3A5C"/>
            </a:solidFill>
            <a:prstDash val="solid"/>
          </a:ln>
        </p:spPr>
      </p:sp>
      <p:sp>
        <p:nvSpPr>
          <p:cNvPr id="21" name="Text 19"/>
          <p:cNvSpPr/>
          <p:nvPr/>
        </p:nvSpPr>
        <p:spPr>
          <a:xfrm>
            <a:off x="384048" y="3895344"/>
            <a:ext cx="329184" cy="329184"/>
          </a:xfrm>
          <a:prstGeom prst="rect">
            <a:avLst/>
          </a:prstGeom>
          <a:noFill/>
          <a:ln/>
        </p:spPr>
        <p:txBody>
          <a:bodyPr wrap="square" rtlCol="0" anchor="ctr"/>
          <a:lstStyle/>
          <a:p>
            <a:pPr algn="ctr" indent="0" marL="0">
              <a:buNone/>
            </a:pPr>
            <a:r>
              <a:rPr lang="en-US" sz="1100" b="1" dirty="0">
                <a:solidFill>
                  <a:srgbClr val="FFFFFF"/>
                </a:solidFill>
              </a:rPr>
              <a:t>C</a:t>
            </a:r>
            <a:endParaRPr lang="en-US" sz="1100" dirty="0"/>
          </a:p>
        </p:txBody>
      </p:sp>
      <p:sp>
        <p:nvSpPr>
          <p:cNvPr id="22" name="Text 20"/>
          <p:cNvSpPr/>
          <p:nvPr/>
        </p:nvSpPr>
        <p:spPr>
          <a:xfrm>
            <a:off x="786384" y="3877056"/>
            <a:ext cx="7991856" cy="365760"/>
          </a:xfrm>
          <a:prstGeom prst="rect">
            <a:avLst/>
          </a:prstGeom>
          <a:noFill/>
          <a:ln/>
        </p:spPr>
        <p:txBody>
          <a:bodyPr wrap="square" rtlCol="0" anchor="ctr"/>
          <a:lstStyle/>
          <a:p>
            <a:pPr indent="0" marL="0">
              <a:buNone/>
            </a:pPr>
            <a:r>
              <a:rPr lang="en-US" sz="1250" dirty="0">
                <a:solidFill>
                  <a:srgbClr val="1B2A3B"/>
                </a:solidFill>
              </a:rPr>
              <a:t>Resources in a Resource Group can exist independently after the group is deleted</a:t>
            </a:r>
            <a:endParaRPr lang="en-US" sz="1250" dirty="0"/>
          </a:p>
        </p:txBody>
      </p:sp>
      <p:sp>
        <p:nvSpPr>
          <p:cNvPr id="23" name="Shape 21"/>
          <p:cNvSpPr/>
          <p:nvPr/>
        </p:nvSpPr>
        <p:spPr>
          <a:xfrm>
            <a:off x="292608" y="4416552"/>
            <a:ext cx="8558784" cy="539496"/>
          </a:xfrm>
          <a:prstGeom prst="rect">
            <a:avLst/>
          </a:prstGeom>
          <a:solidFill>
            <a:srgbClr val="FFFFFF"/>
          </a:solidFill>
          <a:ln w="12700">
            <a:solidFill>
              <a:srgbClr val="C5D8EE"/>
            </a:solidFill>
            <a:prstDash val="solid"/>
          </a:ln>
        </p:spPr>
      </p:sp>
      <p:sp>
        <p:nvSpPr>
          <p:cNvPr id="24" name="Shape 22"/>
          <p:cNvSpPr/>
          <p:nvPr/>
        </p:nvSpPr>
        <p:spPr>
          <a:xfrm>
            <a:off x="384048" y="4526280"/>
            <a:ext cx="329184" cy="329184"/>
          </a:xfrm>
          <a:prstGeom prst="ellipse">
            <a:avLst/>
          </a:prstGeom>
          <a:solidFill>
            <a:srgbClr val="1B3A5C"/>
          </a:solidFill>
          <a:ln w="12700">
            <a:solidFill>
              <a:srgbClr val="1B3A5C"/>
            </a:solidFill>
            <a:prstDash val="solid"/>
          </a:ln>
        </p:spPr>
      </p:sp>
      <p:sp>
        <p:nvSpPr>
          <p:cNvPr id="25" name="Text 23"/>
          <p:cNvSpPr/>
          <p:nvPr/>
        </p:nvSpPr>
        <p:spPr>
          <a:xfrm>
            <a:off x="384048" y="4526280"/>
            <a:ext cx="329184" cy="329184"/>
          </a:xfrm>
          <a:prstGeom prst="rect">
            <a:avLst/>
          </a:prstGeom>
          <a:noFill/>
          <a:ln/>
        </p:spPr>
        <p:txBody>
          <a:bodyPr wrap="square" rtlCol="0" anchor="ctr"/>
          <a:lstStyle/>
          <a:p>
            <a:pPr algn="ctr" indent="0" marL="0">
              <a:buNone/>
            </a:pPr>
            <a:r>
              <a:rPr lang="en-US" sz="1100" b="1" dirty="0">
                <a:solidFill>
                  <a:srgbClr val="FFFFFF"/>
                </a:solidFill>
              </a:rPr>
              <a:t>D</a:t>
            </a:r>
            <a:endParaRPr lang="en-US" sz="1100" dirty="0"/>
          </a:p>
        </p:txBody>
      </p:sp>
      <p:sp>
        <p:nvSpPr>
          <p:cNvPr id="26" name="Text 24"/>
          <p:cNvSpPr/>
          <p:nvPr/>
        </p:nvSpPr>
        <p:spPr>
          <a:xfrm>
            <a:off x="786384" y="4507992"/>
            <a:ext cx="7991856" cy="365760"/>
          </a:xfrm>
          <a:prstGeom prst="rect">
            <a:avLst/>
          </a:prstGeom>
          <a:noFill/>
          <a:ln/>
        </p:spPr>
        <p:txBody>
          <a:bodyPr wrap="square" rtlCol="0" anchor="ctr"/>
          <a:lstStyle/>
          <a:p>
            <a:pPr indent="0" marL="0">
              <a:buNone/>
            </a:pPr>
            <a:r>
              <a:rPr lang="en-US" sz="1250" dirty="0">
                <a:solidFill>
                  <a:srgbClr val="1B2A3B"/>
                </a:solidFill>
              </a:rPr>
              <a:t>Resource Groups only contain metadata; the resources exist independently in Azure</a:t>
            </a:r>
            <a:endParaRPr lang="en-US" sz="12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4F8FD"/>
        </a:solidFill>
      </p:bgPr>
    </p:bg>
    <p:spTree>
      <p:nvGrpSpPr>
        <p:cNvPr id="1" name=""/>
        <p:cNvGrpSpPr/>
        <p:nvPr/>
      </p:nvGrpSpPr>
      <p:grpSpPr>
        <a:xfrm>
          <a:off x="0" y="0"/>
          <a:ext cx="0" cy="0"/>
          <a:chOff x="0" y="0"/>
          <a:chExt cx="0" cy="0"/>
        </a:xfrm>
      </p:grpSpPr>
      <p:sp>
        <p:nvSpPr>
          <p:cNvPr id="2" name="Shape 0"/>
          <p:cNvSpPr/>
          <p:nvPr/>
        </p:nvSpPr>
        <p:spPr>
          <a:xfrm>
            <a:off x="0" y="0"/>
            <a:ext cx="146304" cy="5143500"/>
          </a:xfrm>
          <a:prstGeom prst="rect">
            <a:avLst/>
          </a:prstGeom>
          <a:solidFill>
            <a:srgbClr val="107C10"/>
          </a:solidFill>
          <a:ln w="12700">
            <a:solidFill>
              <a:srgbClr val="107C10"/>
            </a:solidFill>
            <a:prstDash val="solid"/>
          </a:ln>
        </p:spPr>
      </p:sp>
      <p:sp>
        <p:nvSpPr>
          <p:cNvPr id="3" name="Shape 1"/>
          <p:cNvSpPr/>
          <p:nvPr/>
        </p:nvSpPr>
        <p:spPr>
          <a:xfrm>
            <a:off x="146304" y="0"/>
            <a:ext cx="8997696" cy="594360"/>
          </a:xfrm>
          <a:prstGeom prst="rect">
            <a:avLst/>
          </a:prstGeom>
          <a:solidFill>
            <a:srgbClr val="0A1628"/>
          </a:solidFill>
          <a:ln w="12700">
            <a:solidFill>
              <a:srgbClr val="0A1628"/>
            </a:solidFill>
            <a:prstDash val="solid"/>
          </a:ln>
        </p:spPr>
      </p:sp>
      <p:sp>
        <p:nvSpPr>
          <p:cNvPr id="4" name="Text 2"/>
          <p:cNvSpPr/>
          <p:nvPr/>
        </p:nvSpPr>
        <p:spPr>
          <a:xfrm>
            <a:off x="292608" y="0"/>
            <a:ext cx="6583680" cy="594360"/>
          </a:xfrm>
          <a:prstGeom prst="rect">
            <a:avLst/>
          </a:prstGeom>
          <a:noFill/>
          <a:ln/>
        </p:spPr>
        <p:txBody>
          <a:bodyPr wrap="square" lIns="0" tIns="0" rIns="0" bIns="0" rtlCol="0" anchor="ctr"/>
          <a:lstStyle/>
          <a:p>
            <a:pPr indent="0" marL="0">
              <a:buNone/>
            </a:pPr>
            <a:r>
              <a:rPr lang="en-US" sz="1200" b="1" dirty="0">
                <a:solidFill>
                  <a:srgbClr val="00FF90"/>
                </a:solidFill>
              </a:rPr>
              <a:t>✅  ANSWER 16  ·  Resource Groups</a:t>
            </a:r>
            <a:endParaRPr lang="en-US" sz="1200" dirty="0"/>
          </a:p>
        </p:txBody>
      </p:sp>
      <p:sp>
        <p:nvSpPr>
          <p:cNvPr id="5" name="Text 3"/>
          <p:cNvSpPr/>
          <p:nvPr/>
        </p:nvSpPr>
        <p:spPr>
          <a:xfrm>
            <a:off x="7498080" y="0"/>
            <a:ext cx="1499616" cy="594360"/>
          </a:xfrm>
          <a:prstGeom prst="rect">
            <a:avLst/>
          </a:prstGeom>
          <a:noFill/>
          <a:ln/>
        </p:spPr>
        <p:txBody>
          <a:bodyPr wrap="square" lIns="0" tIns="0" rIns="0" bIns="0" rtlCol="0" anchor="ctr"/>
          <a:lstStyle/>
          <a:p>
            <a:pPr algn="r" indent="0" marL="0">
              <a:buNone/>
            </a:pPr>
            <a:r>
              <a:rPr lang="en-US" sz="1200" b="1" dirty="0">
                <a:solidFill>
                  <a:srgbClr val="6C8EAD"/>
                </a:solidFill>
              </a:rPr>
              <a:t>16 / 20</a:t>
            </a:r>
            <a:endParaRPr lang="en-US" sz="1200" dirty="0"/>
          </a:p>
        </p:txBody>
      </p:sp>
      <p:sp>
        <p:nvSpPr>
          <p:cNvPr id="6" name="Shape 4"/>
          <p:cNvSpPr/>
          <p:nvPr/>
        </p:nvSpPr>
        <p:spPr>
          <a:xfrm>
            <a:off x="292608" y="658368"/>
            <a:ext cx="8558784" cy="475488"/>
          </a:xfrm>
          <a:prstGeom prst="rect">
            <a:avLst/>
          </a:prstGeom>
          <a:solidFill>
            <a:srgbClr val="E6F3E6"/>
          </a:solidFill>
          <a:ln w="25400">
            <a:solidFill>
              <a:srgbClr val="107C10"/>
            </a:solidFill>
            <a:prstDash val="solid"/>
          </a:ln>
        </p:spPr>
      </p:sp>
      <p:sp>
        <p:nvSpPr>
          <p:cNvPr id="7" name="Text 5"/>
          <p:cNvSpPr/>
          <p:nvPr/>
        </p:nvSpPr>
        <p:spPr>
          <a:xfrm>
            <a:off x="420624" y="658368"/>
            <a:ext cx="8321040" cy="475488"/>
          </a:xfrm>
          <a:prstGeom prst="rect">
            <a:avLst/>
          </a:prstGeom>
          <a:noFill/>
          <a:ln/>
        </p:spPr>
        <p:txBody>
          <a:bodyPr wrap="square" rtlCol="0" anchor="ctr"/>
          <a:lstStyle/>
          <a:p>
            <a:pPr indent="0" marL="0">
              <a:buNone/>
            </a:pPr>
            <a:r>
              <a:rPr lang="en-US" sz="1300" b="1" dirty="0">
                <a:solidFill>
                  <a:srgbClr val="107C10"/>
                </a:solidFill>
              </a:rPr>
              <a:t>✔  Correct: B — Deleting a Resource Group deletes all resources within it — they share the same lifecycle</a:t>
            </a:r>
            <a:endParaRPr lang="en-US" sz="1300" dirty="0"/>
          </a:p>
        </p:txBody>
      </p:sp>
      <p:sp>
        <p:nvSpPr>
          <p:cNvPr id="8" name="Text 6"/>
          <p:cNvSpPr/>
          <p:nvPr/>
        </p:nvSpPr>
        <p:spPr>
          <a:xfrm>
            <a:off x="292608" y="1216152"/>
            <a:ext cx="8558784" cy="292608"/>
          </a:xfrm>
          <a:prstGeom prst="rect">
            <a:avLst/>
          </a:prstGeom>
          <a:noFill/>
          <a:ln/>
        </p:spPr>
        <p:txBody>
          <a:bodyPr wrap="square" rtlCol="0" anchor="ctr"/>
          <a:lstStyle/>
          <a:p>
            <a:pPr indent="0" marL="0">
              <a:buNone/>
            </a:pPr>
            <a:r>
              <a:rPr lang="en-US" sz="1200" b="1" dirty="0">
                <a:solidFill>
                  <a:srgbClr val="0A1628"/>
                </a:solidFill>
              </a:rPr>
              <a:t>Why this is correct</a:t>
            </a:r>
            <a:endParaRPr lang="en-US" sz="1200" dirty="0"/>
          </a:p>
        </p:txBody>
      </p:sp>
      <p:sp>
        <p:nvSpPr>
          <p:cNvPr id="9" name="Shape 7"/>
          <p:cNvSpPr/>
          <p:nvPr/>
        </p:nvSpPr>
        <p:spPr>
          <a:xfrm>
            <a:off x="292608" y="1517904"/>
            <a:ext cx="8558784" cy="1097280"/>
          </a:xfrm>
          <a:prstGeom prst="rect">
            <a:avLst/>
          </a:prstGeom>
          <a:solidFill>
            <a:srgbClr val="FFFFFF"/>
          </a:solidFill>
          <a:ln w="12700">
            <a:solidFill>
              <a:srgbClr val="C5D8EE"/>
            </a:solidFill>
            <a:prstDash val="solid"/>
          </a:ln>
        </p:spPr>
      </p:sp>
      <p:sp>
        <p:nvSpPr>
          <p:cNvPr id="10" name="Text 8"/>
          <p:cNvSpPr/>
          <p:nvPr/>
        </p:nvSpPr>
        <p:spPr>
          <a:xfrm>
            <a:off x="420624" y="1563624"/>
            <a:ext cx="8321040" cy="1005840"/>
          </a:xfrm>
          <a:prstGeom prst="rect">
            <a:avLst/>
          </a:prstGeom>
          <a:noFill/>
          <a:ln/>
        </p:spPr>
        <p:txBody>
          <a:bodyPr wrap="square" rtlCol="0" anchor="t"/>
          <a:lstStyle/>
          <a:p>
            <a:pPr indent="0" marL="0">
              <a:buNone/>
            </a:pPr>
            <a:r>
              <a:rPr lang="en-US" sz="1150" dirty="0">
                <a:solidFill>
                  <a:srgbClr val="1B2A3B"/>
                </a:solidFill>
              </a:rPr>
              <a:t>Resource Groups in Azure are logical containers that define the lifecycle of their resources. Deleting a Resource Group deletes all contained resources simultaneously and permanently. Resources within a group share the same lifecycle — they are deployed, managed, and deleted together. This is a key design principle: place resources that share the same lifecycle in the same Resource Group.</a:t>
            </a:r>
            <a:endParaRPr lang="en-US" sz="1150" dirty="0"/>
          </a:p>
        </p:txBody>
      </p:sp>
      <p:sp>
        <p:nvSpPr>
          <p:cNvPr id="11" name="Text 9"/>
          <p:cNvSpPr/>
          <p:nvPr/>
        </p:nvSpPr>
        <p:spPr>
          <a:xfrm>
            <a:off x="292608" y="2697480"/>
            <a:ext cx="8558784" cy="292608"/>
          </a:xfrm>
          <a:prstGeom prst="rect">
            <a:avLst/>
          </a:prstGeom>
          <a:noFill/>
          <a:ln/>
        </p:spPr>
        <p:txBody>
          <a:bodyPr wrap="square" rtlCol="0" anchor="ctr"/>
          <a:lstStyle/>
          <a:p>
            <a:pPr indent="0" marL="0">
              <a:buNone/>
            </a:pPr>
            <a:r>
              <a:rPr lang="en-US" sz="1200" b="1" dirty="0">
                <a:solidFill>
                  <a:srgbClr val="0A1628"/>
                </a:solidFill>
              </a:rPr>
              <a:t>Why the other options are incorrect</a:t>
            </a:r>
            <a:endParaRPr lang="en-US" sz="1200" dirty="0"/>
          </a:p>
        </p:txBody>
      </p:sp>
      <p:sp>
        <p:nvSpPr>
          <p:cNvPr id="12" name="Shape 10"/>
          <p:cNvSpPr/>
          <p:nvPr/>
        </p:nvSpPr>
        <p:spPr>
          <a:xfrm>
            <a:off x="292608" y="3035808"/>
            <a:ext cx="8558784" cy="603504"/>
          </a:xfrm>
          <a:prstGeom prst="rect">
            <a:avLst/>
          </a:prstGeom>
          <a:solidFill>
            <a:srgbClr val="FAEAEA"/>
          </a:solidFill>
          <a:ln w="12700">
            <a:solidFill>
              <a:srgbClr val="F4AAAA"/>
            </a:solidFill>
            <a:prstDash val="solid"/>
          </a:ln>
        </p:spPr>
      </p:sp>
      <p:sp>
        <p:nvSpPr>
          <p:cNvPr id="13" name="Shape 11"/>
          <p:cNvSpPr/>
          <p:nvPr/>
        </p:nvSpPr>
        <p:spPr>
          <a:xfrm>
            <a:off x="384048" y="3172968"/>
            <a:ext cx="301752" cy="301752"/>
          </a:xfrm>
          <a:prstGeom prst="ellipse">
            <a:avLst/>
          </a:prstGeom>
          <a:solidFill>
            <a:srgbClr val="A80000"/>
          </a:solidFill>
          <a:ln w="12700">
            <a:solidFill>
              <a:srgbClr val="A80000"/>
            </a:solidFill>
            <a:prstDash val="solid"/>
          </a:ln>
        </p:spPr>
      </p:sp>
      <p:sp>
        <p:nvSpPr>
          <p:cNvPr id="14" name="Text 12"/>
          <p:cNvSpPr/>
          <p:nvPr/>
        </p:nvSpPr>
        <p:spPr>
          <a:xfrm>
            <a:off x="384048" y="3172968"/>
            <a:ext cx="301752" cy="301752"/>
          </a:xfrm>
          <a:prstGeom prst="rect">
            <a:avLst/>
          </a:prstGeom>
          <a:noFill/>
          <a:ln/>
        </p:spPr>
        <p:txBody>
          <a:bodyPr wrap="square" rtlCol="0" anchor="ctr"/>
          <a:lstStyle/>
          <a:p>
            <a:pPr algn="ctr" indent="0" marL="0">
              <a:buNone/>
            </a:pPr>
            <a:r>
              <a:rPr lang="en-US" sz="1100" b="1" dirty="0">
                <a:solidFill>
                  <a:srgbClr val="FFFFFF"/>
                </a:solidFill>
              </a:rPr>
              <a:t>A</a:t>
            </a:r>
            <a:endParaRPr lang="en-US" sz="1100" dirty="0"/>
          </a:p>
        </p:txBody>
      </p:sp>
      <p:sp>
        <p:nvSpPr>
          <p:cNvPr id="15" name="Text 13"/>
          <p:cNvSpPr/>
          <p:nvPr/>
        </p:nvSpPr>
        <p:spPr>
          <a:xfrm>
            <a:off x="768096" y="3090672"/>
            <a:ext cx="8010144" cy="493776"/>
          </a:xfrm>
          <a:prstGeom prst="rect">
            <a:avLst/>
          </a:prstGeom>
          <a:noFill/>
          <a:ln/>
        </p:spPr>
        <p:txBody>
          <a:bodyPr wrap="square" rtlCol="0" anchor="ctr"/>
          <a:lstStyle/>
          <a:p>
            <a:pPr indent="0" marL="0">
              <a:buNone/>
            </a:pPr>
            <a:r>
              <a:rPr lang="en-US" sz="1150" dirty="0">
                <a:solidFill>
                  <a:srgbClr val="1B2A3B"/>
                </a:solidFill>
              </a:rPr>
              <a:t>Resource Groups do affect resource lifecycle, not just billing. They are the primary unit of deployment and management in Azure.</a:t>
            </a:r>
            <a:endParaRPr lang="en-US" sz="1150" dirty="0"/>
          </a:p>
        </p:txBody>
      </p:sp>
      <p:sp>
        <p:nvSpPr>
          <p:cNvPr id="16" name="Shape 14"/>
          <p:cNvSpPr/>
          <p:nvPr/>
        </p:nvSpPr>
        <p:spPr>
          <a:xfrm>
            <a:off x="292608" y="3712464"/>
            <a:ext cx="8558784" cy="603504"/>
          </a:xfrm>
          <a:prstGeom prst="rect">
            <a:avLst/>
          </a:prstGeom>
          <a:solidFill>
            <a:srgbClr val="FAEAEA"/>
          </a:solidFill>
          <a:ln w="12700">
            <a:solidFill>
              <a:srgbClr val="F4AAAA"/>
            </a:solidFill>
            <a:prstDash val="solid"/>
          </a:ln>
        </p:spPr>
      </p:sp>
      <p:sp>
        <p:nvSpPr>
          <p:cNvPr id="17" name="Shape 15"/>
          <p:cNvSpPr/>
          <p:nvPr/>
        </p:nvSpPr>
        <p:spPr>
          <a:xfrm>
            <a:off x="384048" y="3849624"/>
            <a:ext cx="301752" cy="301752"/>
          </a:xfrm>
          <a:prstGeom prst="ellipse">
            <a:avLst/>
          </a:prstGeom>
          <a:solidFill>
            <a:srgbClr val="A80000"/>
          </a:solidFill>
          <a:ln w="12700">
            <a:solidFill>
              <a:srgbClr val="A80000"/>
            </a:solidFill>
            <a:prstDash val="solid"/>
          </a:ln>
        </p:spPr>
      </p:sp>
      <p:sp>
        <p:nvSpPr>
          <p:cNvPr id="18" name="Text 16"/>
          <p:cNvSpPr/>
          <p:nvPr/>
        </p:nvSpPr>
        <p:spPr>
          <a:xfrm>
            <a:off x="384048" y="3849624"/>
            <a:ext cx="301752" cy="301752"/>
          </a:xfrm>
          <a:prstGeom prst="rect">
            <a:avLst/>
          </a:prstGeom>
          <a:noFill/>
          <a:ln/>
        </p:spPr>
        <p:txBody>
          <a:bodyPr wrap="square" rtlCol="0" anchor="ctr"/>
          <a:lstStyle/>
          <a:p>
            <a:pPr algn="ctr" indent="0" marL="0">
              <a:buNone/>
            </a:pPr>
            <a:r>
              <a:rPr lang="en-US" sz="1100" b="1" dirty="0">
                <a:solidFill>
                  <a:srgbClr val="FFFFFF"/>
                </a:solidFill>
              </a:rPr>
              <a:t>C</a:t>
            </a:r>
            <a:endParaRPr lang="en-US" sz="1100" dirty="0"/>
          </a:p>
        </p:txBody>
      </p:sp>
      <p:sp>
        <p:nvSpPr>
          <p:cNvPr id="19" name="Text 17"/>
          <p:cNvSpPr/>
          <p:nvPr/>
        </p:nvSpPr>
        <p:spPr>
          <a:xfrm>
            <a:off x="768096" y="3767328"/>
            <a:ext cx="8010144" cy="493776"/>
          </a:xfrm>
          <a:prstGeom prst="rect">
            <a:avLst/>
          </a:prstGeom>
          <a:noFill/>
          <a:ln/>
        </p:spPr>
        <p:txBody>
          <a:bodyPr wrap="square" rtlCol="0" anchor="ctr"/>
          <a:lstStyle/>
          <a:p>
            <a:pPr indent="0" marL="0">
              <a:buNone/>
            </a:pPr>
            <a:r>
              <a:rPr lang="en-US" sz="1150" dirty="0">
                <a:solidFill>
                  <a:srgbClr val="1B2A3B"/>
                </a:solidFill>
              </a:rPr>
              <a:t>Resources inside a Resource Group cannot exist independently after deletion — they are deleted along with the group.</a:t>
            </a:r>
            <a:endParaRPr lang="en-US" sz="1150" dirty="0"/>
          </a:p>
        </p:txBody>
      </p:sp>
      <p:sp>
        <p:nvSpPr>
          <p:cNvPr id="20" name="Shape 18"/>
          <p:cNvSpPr/>
          <p:nvPr/>
        </p:nvSpPr>
        <p:spPr>
          <a:xfrm>
            <a:off x="292608" y="4389120"/>
            <a:ext cx="8558784" cy="603504"/>
          </a:xfrm>
          <a:prstGeom prst="rect">
            <a:avLst/>
          </a:prstGeom>
          <a:solidFill>
            <a:srgbClr val="FAEAEA"/>
          </a:solidFill>
          <a:ln w="12700">
            <a:solidFill>
              <a:srgbClr val="F4AAAA"/>
            </a:solidFill>
            <a:prstDash val="solid"/>
          </a:ln>
        </p:spPr>
      </p:sp>
      <p:sp>
        <p:nvSpPr>
          <p:cNvPr id="21" name="Shape 19"/>
          <p:cNvSpPr/>
          <p:nvPr/>
        </p:nvSpPr>
        <p:spPr>
          <a:xfrm>
            <a:off x="384048" y="4526280"/>
            <a:ext cx="301752" cy="301752"/>
          </a:xfrm>
          <a:prstGeom prst="ellipse">
            <a:avLst/>
          </a:prstGeom>
          <a:solidFill>
            <a:srgbClr val="A80000"/>
          </a:solidFill>
          <a:ln w="12700">
            <a:solidFill>
              <a:srgbClr val="A80000"/>
            </a:solidFill>
            <a:prstDash val="solid"/>
          </a:ln>
        </p:spPr>
      </p:sp>
      <p:sp>
        <p:nvSpPr>
          <p:cNvPr id="22" name="Text 20"/>
          <p:cNvSpPr/>
          <p:nvPr/>
        </p:nvSpPr>
        <p:spPr>
          <a:xfrm>
            <a:off x="384048" y="4526280"/>
            <a:ext cx="301752" cy="301752"/>
          </a:xfrm>
          <a:prstGeom prst="rect">
            <a:avLst/>
          </a:prstGeom>
          <a:noFill/>
          <a:ln/>
        </p:spPr>
        <p:txBody>
          <a:bodyPr wrap="square" rtlCol="0" anchor="ctr"/>
          <a:lstStyle/>
          <a:p>
            <a:pPr algn="ctr" indent="0" marL="0">
              <a:buNone/>
            </a:pPr>
            <a:r>
              <a:rPr lang="en-US" sz="1100" b="1" dirty="0">
                <a:solidFill>
                  <a:srgbClr val="FFFFFF"/>
                </a:solidFill>
              </a:rPr>
              <a:t>D</a:t>
            </a:r>
            <a:endParaRPr lang="en-US" sz="1100" dirty="0"/>
          </a:p>
        </p:txBody>
      </p:sp>
      <p:sp>
        <p:nvSpPr>
          <p:cNvPr id="23" name="Text 21"/>
          <p:cNvSpPr/>
          <p:nvPr/>
        </p:nvSpPr>
        <p:spPr>
          <a:xfrm>
            <a:off x="768096" y="4443984"/>
            <a:ext cx="8010144" cy="493776"/>
          </a:xfrm>
          <a:prstGeom prst="rect">
            <a:avLst/>
          </a:prstGeom>
          <a:noFill/>
          <a:ln/>
        </p:spPr>
        <p:txBody>
          <a:bodyPr wrap="square" rtlCol="0" anchor="ctr"/>
          <a:lstStyle/>
          <a:p>
            <a:pPr indent="0" marL="0">
              <a:buNone/>
            </a:pPr>
            <a:r>
              <a:rPr lang="en-US" sz="1150" dirty="0">
                <a:solidFill>
                  <a:srgbClr val="1B2A3B"/>
                </a:solidFill>
              </a:rPr>
              <a:t>Resource Groups contain actual resources, not just metadata. The group-resource relationship is lifecycled, not just logical.</a:t>
            </a:r>
            <a:endParaRPr lang="en-US" sz="11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4F8FD"/>
        </a:solidFill>
      </p:bgPr>
    </p:bg>
    <p:spTree>
      <p:nvGrpSpPr>
        <p:cNvPr id="1" name=""/>
        <p:cNvGrpSpPr/>
        <p:nvPr/>
      </p:nvGrpSpPr>
      <p:grpSpPr>
        <a:xfrm>
          <a:off x="0" y="0"/>
          <a:ext cx="0" cy="0"/>
          <a:chOff x="0" y="0"/>
          <a:chExt cx="0" cy="0"/>
        </a:xfrm>
      </p:grpSpPr>
      <p:sp>
        <p:nvSpPr>
          <p:cNvPr id="2" name="Shape 0"/>
          <p:cNvSpPr/>
          <p:nvPr/>
        </p:nvSpPr>
        <p:spPr>
          <a:xfrm>
            <a:off x="0" y="0"/>
            <a:ext cx="146304" cy="5143500"/>
          </a:xfrm>
          <a:prstGeom prst="rect">
            <a:avLst/>
          </a:prstGeom>
          <a:solidFill>
            <a:srgbClr val="0078D4"/>
          </a:solidFill>
          <a:ln w="12700">
            <a:solidFill>
              <a:srgbClr val="0078D4"/>
            </a:solidFill>
            <a:prstDash val="solid"/>
          </a:ln>
        </p:spPr>
      </p:sp>
      <p:sp>
        <p:nvSpPr>
          <p:cNvPr id="3" name="Shape 1"/>
          <p:cNvSpPr/>
          <p:nvPr/>
        </p:nvSpPr>
        <p:spPr>
          <a:xfrm>
            <a:off x="146304" y="0"/>
            <a:ext cx="8997696" cy="594360"/>
          </a:xfrm>
          <a:prstGeom prst="rect">
            <a:avLst/>
          </a:prstGeom>
          <a:solidFill>
            <a:srgbClr val="0A1628"/>
          </a:solidFill>
          <a:ln w="12700">
            <a:solidFill>
              <a:srgbClr val="0A1628"/>
            </a:solidFill>
            <a:prstDash val="solid"/>
          </a:ln>
        </p:spPr>
      </p:sp>
      <p:sp>
        <p:nvSpPr>
          <p:cNvPr id="4" name="Text 2"/>
          <p:cNvSpPr/>
          <p:nvPr/>
        </p:nvSpPr>
        <p:spPr>
          <a:xfrm>
            <a:off x="292608" y="0"/>
            <a:ext cx="6583680" cy="594360"/>
          </a:xfrm>
          <a:prstGeom prst="rect">
            <a:avLst/>
          </a:prstGeom>
          <a:noFill/>
          <a:ln/>
        </p:spPr>
        <p:txBody>
          <a:bodyPr wrap="square" lIns="0" tIns="0" rIns="0" bIns="0" rtlCol="0" anchor="ctr"/>
          <a:lstStyle/>
          <a:p>
            <a:pPr indent="0" marL="0">
              <a:buNone/>
            </a:pPr>
            <a:r>
              <a:rPr lang="en-US" sz="1200" b="1" dirty="0">
                <a:solidFill>
                  <a:srgbClr val="50E6FF"/>
                </a:solidFill>
              </a:rPr>
              <a:t>❓  QUESTION 17  ·  Microsoft Entra ID Licences</a:t>
            </a:r>
            <a:endParaRPr lang="en-US" sz="1200" dirty="0"/>
          </a:p>
        </p:txBody>
      </p:sp>
      <p:sp>
        <p:nvSpPr>
          <p:cNvPr id="5" name="Text 3"/>
          <p:cNvSpPr/>
          <p:nvPr/>
        </p:nvSpPr>
        <p:spPr>
          <a:xfrm>
            <a:off x="7498080" y="0"/>
            <a:ext cx="1499616" cy="594360"/>
          </a:xfrm>
          <a:prstGeom prst="rect">
            <a:avLst/>
          </a:prstGeom>
          <a:noFill/>
          <a:ln/>
        </p:spPr>
        <p:txBody>
          <a:bodyPr wrap="square" lIns="0" tIns="0" rIns="0" bIns="0" rtlCol="0" anchor="ctr"/>
          <a:lstStyle/>
          <a:p>
            <a:pPr algn="r" indent="0" marL="0">
              <a:buNone/>
            </a:pPr>
            <a:r>
              <a:rPr lang="en-US" sz="1200" b="1" dirty="0">
                <a:solidFill>
                  <a:srgbClr val="6C8EAD"/>
                </a:solidFill>
              </a:rPr>
              <a:t>17 / 20</a:t>
            </a:r>
            <a:endParaRPr lang="en-US" sz="1200" dirty="0"/>
          </a:p>
        </p:txBody>
      </p:sp>
      <p:sp>
        <p:nvSpPr>
          <p:cNvPr id="6" name="Shape 4"/>
          <p:cNvSpPr/>
          <p:nvPr/>
        </p:nvSpPr>
        <p:spPr>
          <a:xfrm>
            <a:off x="292608" y="685800"/>
            <a:ext cx="1097280" cy="256032"/>
          </a:xfrm>
          <a:prstGeom prst="rect">
            <a:avLst/>
          </a:prstGeom>
          <a:solidFill>
            <a:srgbClr val="0078D4"/>
          </a:solidFill>
          <a:ln w="12700">
            <a:solidFill>
              <a:srgbClr val="0078D4"/>
            </a:solidFill>
            <a:prstDash val="solid"/>
          </a:ln>
        </p:spPr>
      </p:sp>
      <p:sp>
        <p:nvSpPr>
          <p:cNvPr id="7" name="Text 5"/>
          <p:cNvSpPr/>
          <p:nvPr/>
        </p:nvSpPr>
        <p:spPr>
          <a:xfrm>
            <a:off x="292608" y="685800"/>
            <a:ext cx="1097280" cy="256032"/>
          </a:xfrm>
          <a:prstGeom prst="rect">
            <a:avLst/>
          </a:prstGeom>
          <a:noFill/>
          <a:ln/>
        </p:spPr>
        <p:txBody>
          <a:bodyPr wrap="square" rtlCol="0" anchor="ctr"/>
          <a:lstStyle/>
          <a:p>
            <a:pPr algn="ctr" indent="0" marL="0">
              <a:buNone/>
            </a:pPr>
            <a:r>
              <a:rPr lang="en-US" sz="800" b="1" dirty="0">
                <a:solidFill>
                  <a:srgbClr val="FFFFFF"/>
                </a:solidFill>
              </a:rPr>
              <a:t>SCENARIO</a:t>
            </a:r>
            <a:endParaRPr lang="en-US" sz="800" dirty="0"/>
          </a:p>
        </p:txBody>
      </p:sp>
      <p:sp>
        <p:nvSpPr>
          <p:cNvPr id="8" name="Shape 6"/>
          <p:cNvSpPr/>
          <p:nvPr/>
        </p:nvSpPr>
        <p:spPr>
          <a:xfrm>
            <a:off x="292608" y="978408"/>
            <a:ext cx="8558784" cy="960120"/>
          </a:xfrm>
          <a:prstGeom prst="rect">
            <a:avLst/>
          </a:prstGeom>
          <a:solidFill>
            <a:srgbClr val="EBF4FF"/>
          </a:solidFill>
          <a:ln w="12700">
            <a:solidFill>
              <a:srgbClr val="0078D4"/>
            </a:solidFill>
            <a:prstDash val="solid"/>
          </a:ln>
        </p:spPr>
      </p:sp>
      <p:sp>
        <p:nvSpPr>
          <p:cNvPr id="9" name="Text 7"/>
          <p:cNvSpPr/>
          <p:nvPr/>
        </p:nvSpPr>
        <p:spPr>
          <a:xfrm>
            <a:off x="420624" y="1024128"/>
            <a:ext cx="8321040" cy="868680"/>
          </a:xfrm>
          <a:prstGeom prst="rect">
            <a:avLst/>
          </a:prstGeom>
          <a:noFill/>
          <a:ln/>
        </p:spPr>
        <p:txBody>
          <a:bodyPr wrap="square" rtlCol="0" anchor="t"/>
          <a:lstStyle/>
          <a:p>
            <a:pPr indent="0" marL="0">
              <a:buNone/>
            </a:pPr>
            <a:r>
              <a:rPr lang="en-US" sz="1250" dirty="0">
                <a:solidFill>
                  <a:srgbClr val="1B2A3B"/>
                </a:solidFill>
              </a:rPr>
              <a:t>Proseware Inc. wants to use Conditional Access Policies and Microsoft Entra ID Identity Protection to protect their Azure environment. Their current licence is Microsoft Entra ID Free (included with Microsoft 365 Basic).</a:t>
            </a:r>
            <a:endParaRPr lang="en-US" sz="1250" dirty="0"/>
          </a:p>
        </p:txBody>
      </p:sp>
      <p:sp>
        <p:nvSpPr>
          <p:cNvPr id="10" name="Text 8"/>
          <p:cNvSpPr/>
          <p:nvPr/>
        </p:nvSpPr>
        <p:spPr>
          <a:xfrm>
            <a:off x="292608" y="2048256"/>
            <a:ext cx="8558784" cy="420624"/>
          </a:xfrm>
          <a:prstGeom prst="rect">
            <a:avLst/>
          </a:prstGeom>
          <a:noFill/>
          <a:ln/>
        </p:spPr>
        <p:txBody>
          <a:bodyPr wrap="square" rtlCol="0" anchor="ctr"/>
          <a:lstStyle/>
          <a:p>
            <a:pPr indent="0" marL="0">
              <a:buNone/>
            </a:pPr>
            <a:r>
              <a:rPr lang="en-US" sz="1350" b="1" dirty="0">
                <a:solidFill>
                  <a:srgbClr val="0A1628"/>
                </a:solidFill>
              </a:rPr>
              <a:t>What licence upgrade is required to access both Conditional Access and Identity Protection?</a:t>
            </a:r>
            <a:endParaRPr lang="en-US" sz="1350" dirty="0"/>
          </a:p>
        </p:txBody>
      </p:sp>
      <p:sp>
        <p:nvSpPr>
          <p:cNvPr id="11" name="Shape 9"/>
          <p:cNvSpPr/>
          <p:nvPr/>
        </p:nvSpPr>
        <p:spPr>
          <a:xfrm>
            <a:off x="292608" y="2523744"/>
            <a:ext cx="8558784" cy="539496"/>
          </a:xfrm>
          <a:prstGeom prst="rect">
            <a:avLst/>
          </a:prstGeom>
          <a:solidFill>
            <a:srgbClr val="FFFFFF"/>
          </a:solidFill>
          <a:ln w="12700">
            <a:solidFill>
              <a:srgbClr val="C5D8EE"/>
            </a:solidFill>
            <a:prstDash val="solid"/>
          </a:ln>
        </p:spPr>
      </p:sp>
      <p:sp>
        <p:nvSpPr>
          <p:cNvPr id="12" name="Shape 10"/>
          <p:cNvSpPr/>
          <p:nvPr/>
        </p:nvSpPr>
        <p:spPr>
          <a:xfrm>
            <a:off x="384048" y="2633472"/>
            <a:ext cx="329184" cy="329184"/>
          </a:xfrm>
          <a:prstGeom prst="ellipse">
            <a:avLst/>
          </a:prstGeom>
          <a:solidFill>
            <a:srgbClr val="1B3A5C"/>
          </a:solidFill>
          <a:ln w="12700">
            <a:solidFill>
              <a:srgbClr val="1B3A5C"/>
            </a:solidFill>
            <a:prstDash val="solid"/>
          </a:ln>
        </p:spPr>
      </p:sp>
      <p:sp>
        <p:nvSpPr>
          <p:cNvPr id="13" name="Text 11"/>
          <p:cNvSpPr/>
          <p:nvPr/>
        </p:nvSpPr>
        <p:spPr>
          <a:xfrm>
            <a:off x="384048" y="2633472"/>
            <a:ext cx="329184" cy="329184"/>
          </a:xfrm>
          <a:prstGeom prst="rect">
            <a:avLst/>
          </a:prstGeom>
          <a:noFill/>
          <a:ln/>
        </p:spPr>
        <p:txBody>
          <a:bodyPr wrap="square" rtlCol="0" anchor="ctr"/>
          <a:lstStyle/>
          <a:p>
            <a:pPr algn="ctr" indent="0" marL="0">
              <a:buNone/>
            </a:pPr>
            <a:r>
              <a:rPr lang="en-US" sz="1100" b="1" dirty="0">
                <a:solidFill>
                  <a:srgbClr val="FFFFFF"/>
                </a:solidFill>
              </a:rPr>
              <a:t>A</a:t>
            </a:r>
            <a:endParaRPr lang="en-US" sz="1100" dirty="0"/>
          </a:p>
        </p:txBody>
      </p:sp>
      <p:sp>
        <p:nvSpPr>
          <p:cNvPr id="14" name="Text 12"/>
          <p:cNvSpPr/>
          <p:nvPr/>
        </p:nvSpPr>
        <p:spPr>
          <a:xfrm>
            <a:off x="786384" y="2615184"/>
            <a:ext cx="7991856" cy="365760"/>
          </a:xfrm>
          <a:prstGeom prst="rect">
            <a:avLst/>
          </a:prstGeom>
          <a:noFill/>
          <a:ln/>
        </p:spPr>
        <p:txBody>
          <a:bodyPr wrap="square" rtlCol="0" anchor="ctr"/>
          <a:lstStyle/>
          <a:p>
            <a:pPr indent="0" marL="0">
              <a:buNone/>
            </a:pPr>
            <a:r>
              <a:rPr lang="en-US" sz="1250" dirty="0">
                <a:solidFill>
                  <a:srgbClr val="1B2A3B"/>
                </a:solidFill>
              </a:rPr>
              <a:t>Microsoft Entra ID P1 — provides Conditional Access only</a:t>
            </a:r>
            <a:endParaRPr lang="en-US" sz="1250" dirty="0"/>
          </a:p>
        </p:txBody>
      </p:sp>
      <p:sp>
        <p:nvSpPr>
          <p:cNvPr id="15" name="Shape 13"/>
          <p:cNvSpPr/>
          <p:nvPr/>
        </p:nvSpPr>
        <p:spPr>
          <a:xfrm>
            <a:off x="292608" y="3154680"/>
            <a:ext cx="8558784" cy="539496"/>
          </a:xfrm>
          <a:prstGeom prst="rect">
            <a:avLst/>
          </a:prstGeom>
          <a:solidFill>
            <a:srgbClr val="FFFFFF"/>
          </a:solidFill>
          <a:ln w="12700">
            <a:solidFill>
              <a:srgbClr val="C5D8EE"/>
            </a:solidFill>
            <a:prstDash val="solid"/>
          </a:ln>
        </p:spPr>
      </p:sp>
      <p:sp>
        <p:nvSpPr>
          <p:cNvPr id="16" name="Shape 14"/>
          <p:cNvSpPr/>
          <p:nvPr/>
        </p:nvSpPr>
        <p:spPr>
          <a:xfrm>
            <a:off x="384048" y="3264408"/>
            <a:ext cx="329184" cy="329184"/>
          </a:xfrm>
          <a:prstGeom prst="ellipse">
            <a:avLst/>
          </a:prstGeom>
          <a:solidFill>
            <a:srgbClr val="1B3A5C"/>
          </a:solidFill>
          <a:ln w="12700">
            <a:solidFill>
              <a:srgbClr val="1B3A5C"/>
            </a:solidFill>
            <a:prstDash val="solid"/>
          </a:ln>
        </p:spPr>
      </p:sp>
      <p:sp>
        <p:nvSpPr>
          <p:cNvPr id="17" name="Text 15"/>
          <p:cNvSpPr/>
          <p:nvPr/>
        </p:nvSpPr>
        <p:spPr>
          <a:xfrm>
            <a:off x="384048" y="3264408"/>
            <a:ext cx="329184" cy="329184"/>
          </a:xfrm>
          <a:prstGeom prst="rect">
            <a:avLst/>
          </a:prstGeom>
          <a:noFill/>
          <a:ln/>
        </p:spPr>
        <p:txBody>
          <a:bodyPr wrap="square" rtlCol="0" anchor="ctr"/>
          <a:lstStyle/>
          <a:p>
            <a:pPr algn="ctr" indent="0" marL="0">
              <a:buNone/>
            </a:pPr>
            <a:r>
              <a:rPr lang="en-US" sz="1100" b="1" dirty="0">
                <a:solidFill>
                  <a:srgbClr val="FFFFFF"/>
                </a:solidFill>
              </a:rPr>
              <a:t>B</a:t>
            </a:r>
            <a:endParaRPr lang="en-US" sz="1100" dirty="0"/>
          </a:p>
        </p:txBody>
      </p:sp>
      <p:sp>
        <p:nvSpPr>
          <p:cNvPr id="18" name="Text 16"/>
          <p:cNvSpPr/>
          <p:nvPr/>
        </p:nvSpPr>
        <p:spPr>
          <a:xfrm>
            <a:off x="786384" y="3246120"/>
            <a:ext cx="7991856" cy="365760"/>
          </a:xfrm>
          <a:prstGeom prst="rect">
            <a:avLst/>
          </a:prstGeom>
          <a:noFill/>
          <a:ln/>
        </p:spPr>
        <p:txBody>
          <a:bodyPr wrap="square" rtlCol="0" anchor="ctr"/>
          <a:lstStyle/>
          <a:p>
            <a:pPr indent="0" marL="0">
              <a:buNone/>
            </a:pPr>
            <a:r>
              <a:rPr lang="en-US" sz="1250" dirty="0">
                <a:solidFill>
                  <a:srgbClr val="1B2A3B"/>
                </a:solidFill>
              </a:rPr>
              <a:t>Microsoft Entra ID P2 — provides both Conditional Access and Identity Protection</a:t>
            </a:r>
            <a:endParaRPr lang="en-US" sz="1250" dirty="0"/>
          </a:p>
        </p:txBody>
      </p:sp>
      <p:sp>
        <p:nvSpPr>
          <p:cNvPr id="19" name="Shape 17"/>
          <p:cNvSpPr/>
          <p:nvPr/>
        </p:nvSpPr>
        <p:spPr>
          <a:xfrm>
            <a:off x="292608" y="3785616"/>
            <a:ext cx="8558784" cy="539496"/>
          </a:xfrm>
          <a:prstGeom prst="rect">
            <a:avLst/>
          </a:prstGeom>
          <a:solidFill>
            <a:srgbClr val="FFFFFF"/>
          </a:solidFill>
          <a:ln w="12700">
            <a:solidFill>
              <a:srgbClr val="C5D8EE"/>
            </a:solidFill>
            <a:prstDash val="solid"/>
          </a:ln>
        </p:spPr>
      </p:sp>
      <p:sp>
        <p:nvSpPr>
          <p:cNvPr id="20" name="Shape 18"/>
          <p:cNvSpPr/>
          <p:nvPr/>
        </p:nvSpPr>
        <p:spPr>
          <a:xfrm>
            <a:off x="384048" y="3895344"/>
            <a:ext cx="329184" cy="329184"/>
          </a:xfrm>
          <a:prstGeom prst="ellipse">
            <a:avLst/>
          </a:prstGeom>
          <a:solidFill>
            <a:srgbClr val="1B3A5C"/>
          </a:solidFill>
          <a:ln w="12700">
            <a:solidFill>
              <a:srgbClr val="1B3A5C"/>
            </a:solidFill>
            <a:prstDash val="solid"/>
          </a:ln>
        </p:spPr>
      </p:sp>
      <p:sp>
        <p:nvSpPr>
          <p:cNvPr id="21" name="Text 19"/>
          <p:cNvSpPr/>
          <p:nvPr/>
        </p:nvSpPr>
        <p:spPr>
          <a:xfrm>
            <a:off x="384048" y="3895344"/>
            <a:ext cx="329184" cy="329184"/>
          </a:xfrm>
          <a:prstGeom prst="rect">
            <a:avLst/>
          </a:prstGeom>
          <a:noFill/>
          <a:ln/>
        </p:spPr>
        <p:txBody>
          <a:bodyPr wrap="square" rtlCol="0" anchor="ctr"/>
          <a:lstStyle/>
          <a:p>
            <a:pPr algn="ctr" indent="0" marL="0">
              <a:buNone/>
            </a:pPr>
            <a:r>
              <a:rPr lang="en-US" sz="1100" b="1" dirty="0">
                <a:solidFill>
                  <a:srgbClr val="FFFFFF"/>
                </a:solidFill>
              </a:rPr>
              <a:t>C</a:t>
            </a:r>
            <a:endParaRPr lang="en-US" sz="1100" dirty="0"/>
          </a:p>
        </p:txBody>
      </p:sp>
      <p:sp>
        <p:nvSpPr>
          <p:cNvPr id="22" name="Text 20"/>
          <p:cNvSpPr/>
          <p:nvPr/>
        </p:nvSpPr>
        <p:spPr>
          <a:xfrm>
            <a:off x="786384" y="3877056"/>
            <a:ext cx="7991856" cy="365760"/>
          </a:xfrm>
          <a:prstGeom prst="rect">
            <a:avLst/>
          </a:prstGeom>
          <a:noFill/>
          <a:ln/>
        </p:spPr>
        <p:txBody>
          <a:bodyPr wrap="square" rtlCol="0" anchor="ctr"/>
          <a:lstStyle/>
          <a:p>
            <a:pPr indent="0" marL="0">
              <a:buNone/>
            </a:pPr>
            <a:r>
              <a:rPr lang="en-US" sz="1250" dirty="0">
                <a:solidFill>
                  <a:srgbClr val="1B2A3B"/>
                </a:solidFill>
              </a:rPr>
              <a:t>Microsoft 365 E3 — includes all Entra ID premium features</a:t>
            </a:r>
            <a:endParaRPr lang="en-US" sz="1250" dirty="0"/>
          </a:p>
        </p:txBody>
      </p:sp>
      <p:sp>
        <p:nvSpPr>
          <p:cNvPr id="23" name="Shape 21"/>
          <p:cNvSpPr/>
          <p:nvPr/>
        </p:nvSpPr>
        <p:spPr>
          <a:xfrm>
            <a:off x="292608" y="4416552"/>
            <a:ext cx="8558784" cy="539496"/>
          </a:xfrm>
          <a:prstGeom prst="rect">
            <a:avLst/>
          </a:prstGeom>
          <a:solidFill>
            <a:srgbClr val="FFFFFF"/>
          </a:solidFill>
          <a:ln w="12700">
            <a:solidFill>
              <a:srgbClr val="C5D8EE"/>
            </a:solidFill>
            <a:prstDash val="solid"/>
          </a:ln>
        </p:spPr>
      </p:sp>
      <p:sp>
        <p:nvSpPr>
          <p:cNvPr id="24" name="Shape 22"/>
          <p:cNvSpPr/>
          <p:nvPr/>
        </p:nvSpPr>
        <p:spPr>
          <a:xfrm>
            <a:off x="384048" y="4526280"/>
            <a:ext cx="329184" cy="329184"/>
          </a:xfrm>
          <a:prstGeom prst="ellipse">
            <a:avLst/>
          </a:prstGeom>
          <a:solidFill>
            <a:srgbClr val="1B3A5C"/>
          </a:solidFill>
          <a:ln w="12700">
            <a:solidFill>
              <a:srgbClr val="1B3A5C"/>
            </a:solidFill>
            <a:prstDash val="solid"/>
          </a:ln>
        </p:spPr>
      </p:sp>
      <p:sp>
        <p:nvSpPr>
          <p:cNvPr id="25" name="Text 23"/>
          <p:cNvSpPr/>
          <p:nvPr/>
        </p:nvSpPr>
        <p:spPr>
          <a:xfrm>
            <a:off x="384048" y="4526280"/>
            <a:ext cx="329184" cy="329184"/>
          </a:xfrm>
          <a:prstGeom prst="rect">
            <a:avLst/>
          </a:prstGeom>
          <a:noFill/>
          <a:ln/>
        </p:spPr>
        <p:txBody>
          <a:bodyPr wrap="square" rtlCol="0" anchor="ctr"/>
          <a:lstStyle/>
          <a:p>
            <a:pPr algn="ctr" indent="0" marL="0">
              <a:buNone/>
            </a:pPr>
            <a:r>
              <a:rPr lang="en-US" sz="1100" b="1" dirty="0">
                <a:solidFill>
                  <a:srgbClr val="FFFFFF"/>
                </a:solidFill>
              </a:rPr>
              <a:t>D</a:t>
            </a:r>
            <a:endParaRPr lang="en-US" sz="1100" dirty="0"/>
          </a:p>
        </p:txBody>
      </p:sp>
      <p:sp>
        <p:nvSpPr>
          <p:cNvPr id="26" name="Text 24"/>
          <p:cNvSpPr/>
          <p:nvPr/>
        </p:nvSpPr>
        <p:spPr>
          <a:xfrm>
            <a:off x="786384" y="4507992"/>
            <a:ext cx="7991856" cy="365760"/>
          </a:xfrm>
          <a:prstGeom prst="rect">
            <a:avLst/>
          </a:prstGeom>
          <a:noFill/>
          <a:ln/>
        </p:spPr>
        <p:txBody>
          <a:bodyPr wrap="square" rtlCol="0" anchor="ctr"/>
          <a:lstStyle/>
          <a:p>
            <a:pPr indent="0" marL="0">
              <a:buNone/>
            </a:pPr>
            <a:r>
              <a:rPr lang="en-US" sz="1250" dirty="0">
                <a:solidFill>
                  <a:srgbClr val="1B2A3B"/>
                </a:solidFill>
              </a:rPr>
              <a:t>No upgrade needed — both features are available in the Free tier</a:t>
            </a:r>
            <a:endParaRPr lang="en-US" sz="12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4F8FD"/>
        </a:solidFill>
      </p:bgPr>
    </p:bg>
    <p:spTree>
      <p:nvGrpSpPr>
        <p:cNvPr id="1" name=""/>
        <p:cNvGrpSpPr/>
        <p:nvPr/>
      </p:nvGrpSpPr>
      <p:grpSpPr>
        <a:xfrm>
          <a:off x="0" y="0"/>
          <a:ext cx="0" cy="0"/>
          <a:chOff x="0" y="0"/>
          <a:chExt cx="0" cy="0"/>
        </a:xfrm>
      </p:grpSpPr>
      <p:sp>
        <p:nvSpPr>
          <p:cNvPr id="2" name="Shape 0"/>
          <p:cNvSpPr/>
          <p:nvPr/>
        </p:nvSpPr>
        <p:spPr>
          <a:xfrm>
            <a:off x="0" y="0"/>
            <a:ext cx="146304" cy="5143500"/>
          </a:xfrm>
          <a:prstGeom prst="rect">
            <a:avLst/>
          </a:prstGeom>
          <a:solidFill>
            <a:srgbClr val="107C10"/>
          </a:solidFill>
          <a:ln w="12700">
            <a:solidFill>
              <a:srgbClr val="107C10"/>
            </a:solidFill>
            <a:prstDash val="solid"/>
          </a:ln>
        </p:spPr>
      </p:sp>
      <p:sp>
        <p:nvSpPr>
          <p:cNvPr id="3" name="Shape 1"/>
          <p:cNvSpPr/>
          <p:nvPr/>
        </p:nvSpPr>
        <p:spPr>
          <a:xfrm>
            <a:off x="146304" y="0"/>
            <a:ext cx="8997696" cy="594360"/>
          </a:xfrm>
          <a:prstGeom prst="rect">
            <a:avLst/>
          </a:prstGeom>
          <a:solidFill>
            <a:srgbClr val="0A1628"/>
          </a:solidFill>
          <a:ln w="12700">
            <a:solidFill>
              <a:srgbClr val="0A1628"/>
            </a:solidFill>
            <a:prstDash val="solid"/>
          </a:ln>
        </p:spPr>
      </p:sp>
      <p:sp>
        <p:nvSpPr>
          <p:cNvPr id="4" name="Text 2"/>
          <p:cNvSpPr/>
          <p:nvPr/>
        </p:nvSpPr>
        <p:spPr>
          <a:xfrm>
            <a:off x="292608" y="0"/>
            <a:ext cx="6583680" cy="594360"/>
          </a:xfrm>
          <a:prstGeom prst="rect">
            <a:avLst/>
          </a:prstGeom>
          <a:noFill/>
          <a:ln/>
        </p:spPr>
        <p:txBody>
          <a:bodyPr wrap="square" lIns="0" tIns="0" rIns="0" bIns="0" rtlCol="0" anchor="ctr"/>
          <a:lstStyle/>
          <a:p>
            <a:pPr indent="0" marL="0">
              <a:buNone/>
            </a:pPr>
            <a:r>
              <a:rPr lang="en-US" sz="1200" b="1" dirty="0">
                <a:solidFill>
                  <a:srgbClr val="00FF90"/>
                </a:solidFill>
              </a:rPr>
              <a:t>✅  ANSWER 17  ·  Microsoft Entra ID Licences</a:t>
            </a:r>
            <a:endParaRPr lang="en-US" sz="1200" dirty="0"/>
          </a:p>
        </p:txBody>
      </p:sp>
      <p:sp>
        <p:nvSpPr>
          <p:cNvPr id="5" name="Text 3"/>
          <p:cNvSpPr/>
          <p:nvPr/>
        </p:nvSpPr>
        <p:spPr>
          <a:xfrm>
            <a:off x="7498080" y="0"/>
            <a:ext cx="1499616" cy="594360"/>
          </a:xfrm>
          <a:prstGeom prst="rect">
            <a:avLst/>
          </a:prstGeom>
          <a:noFill/>
          <a:ln/>
        </p:spPr>
        <p:txBody>
          <a:bodyPr wrap="square" lIns="0" tIns="0" rIns="0" bIns="0" rtlCol="0" anchor="ctr"/>
          <a:lstStyle/>
          <a:p>
            <a:pPr algn="r" indent="0" marL="0">
              <a:buNone/>
            </a:pPr>
            <a:r>
              <a:rPr lang="en-US" sz="1200" b="1" dirty="0">
                <a:solidFill>
                  <a:srgbClr val="6C8EAD"/>
                </a:solidFill>
              </a:rPr>
              <a:t>17 / 20</a:t>
            </a:r>
            <a:endParaRPr lang="en-US" sz="1200" dirty="0"/>
          </a:p>
        </p:txBody>
      </p:sp>
      <p:sp>
        <p:nvSpPr>
          <p:cNvPr id="6" name="Shape 4"/>
          <p:cNvSpPr/>
          <p:nvPr/>
        </p:nvSpPr>
        <p:spPr>
          <a:xfrm>
            <a:off x="292608" y="658368"/>
            <a:ext cx="8558784" cy="475488"/>
          </a:xfrm>
          <a:prstGeom prst="rect">
            <a:avLst/>
          </a:prstGeom>
          <a:solidFill>
            <a:srgbClr val="E6F3E6"/>
          </a:solidFill>
          <a:ln w="25400">
            <a:solidFill>
              <a:srgbClr val="107C10"/>
            </a:solidFill>
            <a:prstDash val="solid"/>
          </a:ln>
        </p:spPr>
      </p:sp>
      <p:sp>
        <p:nvSpPr>
          <p:cNvPr id="7" name="Text 5"/>
          <p:cNvSpPr/>
          <p:nvPr/>
        </p:nvSpPr>
        <p:spPr>
          <a:xfrm>
            <a:off x="420624" y="658368"/>
            <a:ext cx="8321040" cy="475488"/>
          </a:xfrm>
          <a:prstGeom prst="rect">
            <a:avLst/>
          </a:prstGeom>
          <a:noFill/>
          <a:ln/>
        </p:spPr>
        <p:txBody>
          <a:bodyPr wrap="square" rtlCol="0" anchor="ctr"/>
          <a:lstStyle/>
          <a:p>
            <a:pPr indent="0" marL="0">
              <a:buNone/>
            </a:pPr>
            <a:r>
              <a:rPr lang="en-US" sz="1300" b="1" dirty="0">
                <a:solidFill>
                  <a:srgbClr val="107C10"/>
                </a:solidFill>
              </a:rPr>
              <a:t>✔  Correct: B — Microsoft Entra ID P2 — provides both Conditional Access and Identity Protection</a:t>
            </a:r>
            <a:endParaRPr lang="en-US" sz="1300" dirty="0"/>
          </a:p>
        </p:txBody>
      </p:sp>
      <p:sp>
        <p:nvSpPr>
          <p:cNvPr id="8" name="Text 6"/>
          <p:cNvSpPr/>
          <p:nvPr/>
        </p:nvSpPr>
        <p:spPr>
          <a:xfrm>
            <a:off x="292608" y="1216152"/>
            <a:ext cx="8558784" cy="292608"/>
          </a:xfrm>
          <a:prstGeom prst="rect">
            <a:avLst/>
          </a:prstGeom>
          <a:noFill/>
          <a:ln/>
        </p:spPr>
        <p:txBody>
          <a:bodyPr wrap="square" rtlCol="0" anchor="ctr"/>
          <a:lstStyle/>
          <a:p>
            <a:pPr indent="0" marL="0">
              <a:buNone/>
            </a:pPr>
            <a:r>
              <a:rPr lang="en-US" sz="1200" b="1" dirty="0">
                <a:solidFill>
                  <a:srgbClr val="0A1628"/>
                </a:solidFill>
              </a:rPr>
              <a:t>Why this is correct</a:t>
            </a:r>
            <a:endParaRPr lang="en-US" sz="1200" dirty="0"/>
          </a:p>
        </p:txBody>
      </p:sp>
      <p:sp>
        <p:nvSpPr>
          <p:cNvPr id="9" name="Shape 7"/>
          <p:cNvSpPr/>
          <p:nvPr/>
        </p:nvSpPr>
        <p:spPr>
          <a:xfrm>
            <a:off x="292608" y="1517904"/>
            <a:ext cx="8558784" cy="1097280"/>
          </a:xfrm>
          <a:prstGeom prst="rect">
            <a:avLst/>
          </a:prstGeom>
          <a:solidFill>
            <a:srgbClr val="FFFFFF"/>
          </a:solidFill>
          <a:ln w="12700">
            <a:solidFill>
              <a:srgbClr val="C5D8EE"/>
            </a:solidFill>
            <a:prstDash val="solid"/>
          </a:ln>
        </p:spPr>
      </p:sp>
      <p:sp>
        <p:nvSpPr>
          <p:cNvPr id="10" name="Text 8"/>
          <p:cNvSpPr/>
          <p:nvPr/>
        </p:nvSpPr>
        <p:spPr>
          <a:xfrm>
            <a:off x="420624" y="1563624"/>
            <a:ext cx="8321040" cy="1005840"/>
          </a:xfrm>
          <a:prstGeom prst="rect">
            <a:avLst/>
          </a:prstGeom>
          <a:noFill/>
          <a:ln/>
        </p:spPr>
        <p:txBody>
          <a:bodyPr wrap="square" rtlCol="0" anchor="t"/>
          <a:lstStyle/>
          <a:p>
            <a:pPr indent="0" marL="0">
              <a:buNone/>
            </a:pPr>
            <a:r>
              <a:rPr lang="en-US" sz="1150" dirty="0">
                <a:solidFill>
                  <a:srgbClr val="1B2A3B"/>
                </a:solidFill>
              </a:rPr>
              <a:t>Microsoft Entra ID P2 includes all P1 features (Conditional Access, group-based licensing, SSPR) plus P2-only features (Identity Protection, Privileged Identity Management). Conditional Access alone requires P1. Identity Protection requires P2. Microsoft 365 E3 includes Entra ID P1, not P2. The Free tier does not include Conditional Access.</a:t>
            </a:r>
            <a:endParaRPr lang="en-US" sz="1150" dirty="0"/>
          </a:p>
        </p:txBody>
      </p:sp>
      <p:sp>
        <p:nvSpPr>
          <p:cNvPr id="11" name="Text 9"/>
          <p:cNvSpPr/>
          <p:nvPr/>
        </p:nvSpPr>
        <p:spPr>
          <a:xfrm>
            <a:off x="292608" y="2697480"/>
            <a:ext cx="8558784" cy="292608"/>
          </a:xfrm>
          <a:prstGeom prst="rect">
            <a:avLst/>
          </a:prstGeom>
          <a:noFill/>
          <a:ln/>
        </p:spPr>
        <p:txBody>
          <a:bodyPr wrap="square" rtlCol="0" anchor="ctr"/>
          <a:lstStyle/>
          <a:p>
            <a:pPr indent="0" marL="0">
              <a:buNone/>
            </a:pPr>
            <a:r>
              <a:rPr lang="en-US" sz="1200" b="1" dirty="0">
                <a:solidFill>
                  <a:srgbClr val="0A1628"/>
                </a:solidFill>
              </a:rPr>
              <a:t>Why the other options are incorrect</a:t>
            </a:r>
            <a:endParaRPr lang="en-US" sz="1200" dirty="0"/>
          </a:p>
        </p:txBody>
      </p:sp>
      <p:sp>
        <p:nvSpPr>
          <p:cNvPr id="12" name="Shape 10"/>
          <p:cNvSpPr/>
          <p:nvPr/>
        </p:nvSpPr>
        <p:spPr>
          <a:xfrm>
            <a:off x="292608" y="3035808"/>
            <a:ext cx="8558784" cy="603504"/>
          </a:xfrm>
          <a:prstGeom prst="rect">
            <a:avLst/>
          </a:prstGeom>
          <a:solidFill>
            <a:srgbClr val="FAEAEA"/>
          </a:solidFill>
          <a:ln w="12700">
            <a:solidFill>
              <a:srgbClr val="F4AAAA"/>
            </a:solidFill>
            <a:prstDash val="solid"/>
          </a:ln>
        </p:spPr>
      </p:sp>
      <p:sp>
        <p:nvSpPr>
          <p:cNvPr id="13" name="Shape 11"/>
          <p:cNvSpPr/>
          <p:nvPr/>
        </p:nvSpPr>
        <p:spPr>
          <a:xfrm>
            <a:off x="384048" y="3172968"/>
            <a:ext cx="301752" cy="301752"/>
          </a:xfrm>
          <a:prstGeom prst="ellipse">
            <a:avLst/>
          </a:prstGeom>
          <a:solidFill>
            <a:srgbClr val="A80000"/>
          </a:solidFill>
          <a:ln w="12700">
            <a:solidFill>
              <a:srgbClr val="A80000"/>
            </a:solidFill>
            <a:prstDash val="solid"/>
          </a:ln>
        </p:spPr>
      </p:sp>
      <p:sp>
        <p:nvSpPr>
          <p:cNvPr id="14" name="Text 12"/>
          <p:cNvSpPr/>
          <p:nvPr/>
        </p:nvSpPr>
        <p:spPr>
          <a:xfrm>
            <a:off x="384048" y="3172968"/>
            <a:ext cx="301752" cy="301752"/>
          </a:xfrm>
          <a:prstGeom prst="rect">
            <a:avLst/>
          </a:prstGeom>
          <a:noFill/>
          <a:ln/>
        </p:spPr>
        <p:txBody>
          <a:bodyPr wrap="square" rtlCol="0" anchor="ctr"/>
          <a:lstStyle/>
          <a:p>
            <a:pPr algn="ctr" indent="0" marL="0">
              <a:buNone/>
            </a:pPr>
            <a:r>
              <a:rPr lang="en-US" sz="1100" b="1" dirty="0">
                <a:solidFill>
                  <a:srgbClr val="FFFFFF"/>
                </a:solidFill>
              </a:rPr>
              <a:t>A</a:t>
            </a:r>
            <a:endParaRPr lang="en-US" sz="1100" dirty="0"/>
          </a:p>
        </p:txBody>
      </p:sp>
      <p:sp>
        <p:nvSpPr>
          <p:cNvPr id="15" name="Text 13"/>
          <p:cNvSpPr/>
          <p:nvPr/>
        </p:nvSpPr>
        <p:spPr>
          <a:xfrm>
            <a:off x="768096" y="3090672"/>
            <a:ext cx="8010144" cy="493776"/>
          </a:xfrm>
          <a:prstGeom prst="rect">
            <a:avLst/>
          </a:prstGeom>
          <a:noFill/>
          <a:ln/>
        </p:spPr>
        <p:txBody>
          <a:bodyPr wrap="square" rtlCol="0" anchor="ctr"/>
          <a:lstStyle/>
          <a:p>
            <a:pPr indent="0" marL="0">
              <a:buNone/>
            </a:pPr>
            <a:r>
              <a:rPr lang="en-US" sz="1150" dirty="0">
                <a:solidFill>
                  <a:srgbClr val="1B2A3B"/>
                </a:solidFill>
              </a:rPr>
              <a:t>P1 provides Conditional Access but not Identity Protection — the scenario requires both, so P1 alone is insufficient.</a:t>
            </a:r>
            <a:endParaRPr lang="en-US" sz="1150" dirty="0"/>
          </a:p>
        </p:txBody>
      </p:sp>
      <p:sp>
        <p:nvSpPr>
          <p:cNvPr id="16" name="Shape 14"/>
          <p:cNvSpPr/>
          <p:nvPr/>
        </p:nvSpPr>
        <p:spPr>
          <a:xfrm>
            <a:off x="292608" y="3712464"/>
            <a:ext cx="8558784" cy="603504"/>
          </a:xfrm>
          <a:prstGeom prst="rect">
            <a:avLst/>
          </a:prstGeom>
          <a:solidFill>
            <a:srgbClr val="FAEAEA"/>
          </a:solidFill>
          <a:ln w="12700">
            <a:solidFill>
              <a:srgbClr val="F4AAAA"/>
            </a:solidFill>
            <a:prstDash val="solid"/>
          </a:ln>
        </p:spPr>
      </p:sp>
      <p:sp>
        <p:nvSpPr>
          <p:cNvPr id="17" name="Shape 15"/>
          <p:cNvSpPr/>
          <p:nvPr/>
        </p:nvSpPr>
        <p:spPr>
          <a:xfrm>
            <a:off x="384048" y="3849624"/>
            <a:ext cx="301752" cy="301752"/>
          </a:xfrm>
          <a:prstGeom prst="ellipse">
            <a:avLst/>
          </a:prstGeom>
          <a:solidFill>
            <a:srgbClr val="A80000"/>
          </a:solidFill>
          <a:ln w="12700">
            <a:solidFill>
              <a:srgbClr val="A80000"/>
            </a:solidFill>
            <a:prstDash val="solid"/>
          </a:ln>
        </p:spPr>
      </p:sp>
      <p:sp>
        <p:nvSpPr>
          <p:cNvPr id="18" name="Text 16"/>
          <p:cNvSpPr/>
          <p:nvPr/>
        </p:nvSpPr>
        <p:spPr>
          <a:xfrm>
            <a:off x="384048" y="3849624"/>
            <a:ext cx="301752" cy="301752"/>
          </a:xfrm>
          <a:prstGeom prst="rect">
            <a:avLst/>
          </a:prstGeom>
          <a:noFill/>
          <a:ln/>
        </p:spPr>
        <p:txBody>
          <a:bodyPr wrap="square" rtlCol="0" anchor="ctr"/>
          <a:lstStyle/>
          <a:p>
            <a:pPr algn="ctr" indent="0" marL="0">
              <a:buNone/>
            </a:pPr>
            <a:r>
              <a:rPr lang="en-US" sz="1100" b="1" dirty="0">
                <a:solidFill>
                  <a:srgbClr val="FFFFFF"/>
                </a:solidFill>
              </a:rPr>
              <a:t>C</a:t>
            </a:r>
            <a:endParaRPr lang="en-US" sz="1100" dirty="0"/>
          </a:p>
        </p:txBody>
      </p:sp>
      <p:sp>
        <p:nvSpPr>
          <p:cNvPr id="19" name="Text 17"/>
          <p:cNvSpPr/>
          <p:nvPr/>
        </p:nvSpPr>
        <p:spPr>
          <a:xfrm>
            <a:off x="768096" y="3767328"/>
            <a:ext cx="8010144" cy="493776"/>
          </a:xfrm>
          <a:prstGeom prst="rect">
            <a:avLst/>
          </a:prstGeom>
          <a:noFill/>
          <a:ln/>
        </p:spPr>
        <p:txBody>
          <a:bodyPr wrap="square" rtlCol="0" anchor="ctr"/>
          <a:lstStyle/>
          <a:p>
            <a:pPr indent="0" marL="0">
              <a:buNone/>
            </a:pPr>
            <a:r>
              <a:rPr lang="en-US" sz="1150" dirty="0">
                <a:solidFill>
                  <a:srgbClr val="1B2A3B"/>
                </a:solidFill>
              </a:rPr>
              <a:t>Microsoft 365 E3 includes Entra ID P1 licences, which provides Conditional Access — but not Identity Protection, which needs P2.</a:t>
            </a:r>
            <a:endParaRPr lang="en-US" sz="1150" dirty="0"/>
          </a:p>
        </p:txBody>
      </p:sp>
      <p:sp>
        <p:nvSpPr>
          <p:cNvPr id="20" name="Shape 18"/>
          <p:cNvSpPr/>
          <p:nvPr/>
        </p:nvSpPr>
        <p:spPr>
          <a:xfrm>
            <a:off x="292608" y="4389120"/>
            <a:ext cx="8558784" cy="603504"/>
          </a:xfrm>
          <a:prstGeom prst="rect">
            <a:avLst/>
          </a:prstGeom>
          <a:solidFill>
            <a:srgbClr val="FAEAEA"/>
          </a:solidFill>
          <a:ln w="12700">
            <a:solidFill>
              <a:srgbClr val="F4AAAA"/>
            </a:solidFill>
            <a:prstDash val="solid"/>
          </a:ln>
        </p:spPr>
      </p:sp>
      <p:sp>
        <p:nvSpPr>
          <p:cNvPr id="21" name="Shape 19"/>
          <p:cNvSpPr/>
          <p:nvPr/>
        </p:nvSpPr>
        <p:spPr>
          <a:xfrm>
            <a:off x="384048" y="4526280"/>
            <a:ext cx="301752" cy="301752"/>
          </a:xfrm>
          <a:prstGeom prst="ellipse">
            <a:avLst/>
          </a:prstGeom>
          <a:solidFill>
            <a:srgbClr val="A80000"/>
          </a:solidFill>
          <a:ln w="12700">
            <a:solidFill>
              <a:srgbClr val="A80000"/>
            </a:solidFill>
            <a:prstDash val="solid"/>
          </a:ln>
        </p:spPr>
      </p:sp>
      <p:sp>
        <p:nvSpPr>
          <p:cNvPr id="22" name="Text 20"/>
          <p:cNvSpPr/>
          <p:nvPr/>
        </p:nvSpPr>
        <p:spPr>
          <a:xfrm>
            <a:off x="384048" y="4526280"/>
            <a:ext cx="301752" cy="301752"/>
          </a:xfrm>
          <a:prstGeom prst="rect">
            <a:avLst/>
          </a:prstGeom>
          <a:noFill/>
          <a:ln/>
        </p:spPr>
        <p:txBody>
          <a:bodyPr wrap="square" rtlCol="0" anchor="ctr"/>
          <a:lstStyle/>
          <a:p>
            <a:pPr algn="ctr" indent="0" marL="0">
              <a:buNone/>
            </a:pPr>
            <a:r>
              <a:rPr lang="en-US" sz="1100" b="1" dirty="0">
                <a:solidFill>
                  <a:srgbClr val="FFFFFF"/>
                </a:solidFill>
              </a:rPr>
              <a:t>D</a:t>
            </a:r>
            <a:endParaRPr lang="en-US" sz="1100" dirty="0"/>
          </a:p>
        </p:txBody>
      </p:sp>
      <p:sp>
        <p:nvSpPr>
          <p:cNvPr id="23" name="Text 21"/>
          <p:cNvSpPr/>
          <p:nvPr/>
        </p:nvSpPr>
        <p:spPr>
          <a:xfrm>
            <a:off x="768096" y="4443984"/>
            <a:ext cx="8010144" cy="493776"/>
          </a:xfrm>
          <a:prstGeom prst="rect">
            <a:avLst/>
          </a:prstGeom>
          <a:noFill/>
          <a:ln/>
        </p:spPr>
        <p:txBody>
          <a:bodyPr wrap="square" rtlCol="0" anchor="ctr"/>
          <a:lstStyle/>
          <a:p>
            <a:pPr indent="0" marL="0">
              <a:buNone/>
            </a:pPr>
            <a:r>
              <a:rPr lang="en-US" sz="1150" dirty="0">
                <a:solidFill>
                  <a:srgbClr val="1B2A3B"/>
                </a:solidFill>
              </a:rPr>
              <a:t>The Free tier is very limited — it does not include Conditional Access Policies or Identity Protection.</a:t>
            </a:r>
            <a:endParaRPr lang="en-US" sz="11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4F8FD"/>
        </a:solidFill>
      </p:bgPr>
    </p:bg>
    <p:spTree>
      <p:nvGrpSpPr>
        <p:cNvPr id="1" name=""/>
        <p:cNvGrpSpPr/>
        <p:nvPr/>
      </p:nvGrpSpPr>
      <p:grpSpPr>
        <a:xfrm>
          <a:off x="0" y="0"/>
          <a:ext cx="0" cy="0"/>
          <a:chOff x="0" y="0"/>
          <a:chExt cx="0" cy="0"/>
        </a:xfrm>
      </p:grpSpPr>
      <p:sp>
        <p:nvSpPr>
          <p:cNvPr id="2" name="Shape 0"/>
          <p:cNvSpPr/>
          <p:nvPr/>
        </p:nvSpPr>
        <p:spPr>
          <a:xfrm>
            <a:off x="0" y="0"/>
            <a:ext cx="146304" cy="5143500"/>
          </a:xfrm>
          <a:prstGeom prst="rect">
            <a:avLst/>
          </a:prstGeom>
          <a:solidFill>
            <a:srgbClr val="0078D4"/>
          </a:solidFill>
          <a:ln w="12700">
            <a:solidFill>
              <a:srgbClr val="0078D4"/>
            </a:solidFill>
            <a:prstDash val="solid"/>
          </a:ln>
        </p:spPr>
      </p:sp>
      <p:sp>
        <p:nvSpPr>
          <p:cNvPr id="3" name="Shape 1"/>
          <p:cNvSpPr/>
          <p:nvPr/>
        </p:nvSpPr>
        <p:spPr>
          <a:xfrm>
            <a:off x="146304" y="0"/>
            <a:ext cx="8997696" cy="594360"/>
          </a:xfrm>
          <a:prstGeom prst="rect">
            <a:avLst/>
          </a:prstGeom>
          <a:solidFill>
            <a:srgbClr val="0A1628"/>
          </a:solidFill>
          <a:ln w="12700">
            <a:solidFill>
              <a:srgbClr val="0A1628"/>
            </a:solidFill>
            <a:prstDash val="solid"/>
          </a:ln>
        </p:spPr>
      </p:sp>
      <p:sp>
        <p:nvSpPr>
          <p:cNvPr id="4" name="Text 2"/>
          <p:cNvSpPr/>
          <p:nvPr/>
        </p:nvSpPr>
        <p:spPr>
          <a:xfrm>
            <a:off x="292608" y="0"/>
            <a:ext cx="6583680" cy="594360"/>
          </a:xfrm>
          <a:prstGeom prst="rect">
            <a:avLst/>
          </a:prstGeom>
          <a:noFill/>
          <a:ln/>
        </p:spPr>
        <p:txBody>
          <a:bodyPr wrap="square" lIns="0" tIns="0" rIns="0" bIns="0" rtlCol="0" anchor="ctr"/>
          <a:lstStyle/>
          <a:p>
            <a:pPr indent="0" marL="0">
              <a:buNone/>
            </a:pPr>
            <a:r>
              <a:rPr lang="en-US" sz="1200" b="1" dirty="0">
                <a:solidFill>
                  <a:srgbClr val="50E6FF"/>
                </a:solidFill>
              </a:rPr>
              <a:t>❓  QUESTION 18  ·  Azure Blueprints</a:t>
            </a:r>
            <a:endParaRPr lang="en-US" sz="1200" dirty="0"/>
          </a:p>
        </p:txBody>
      </p:sp>
      <p:sp>
        <p:nvSpPr>
          <p:cNvPr id="5" name="Text 3"/>
          <p:cNvSpPr/>
          <p:nvPr/>
        </p:nvSpPr>
        <p:spPr>
          <a:xfrm>
            <a:off x="7498080" y="0"/>
            <a:ext cx="1499616" cy="594360"/>
          </a:xfrm>
          <a:prstGeom prst="rect">
            <a:avLst/>
          </a:prstGeom>
          <a:noFill/>
          <a:ln/>
        </p:spPr>
        <p:txBody>
          <a:bodyPr wrap="square" lIns="0" tIns="0" rIns="0" bIns="0" rtlCol="0" anchor="ctr"/>
          <a:lstStyle/>
          <a:p>
            <a:pPr algn="r" indent="0" marL="0">
              <a:buNone/>
            </a:pPr>
            <a:r>
              <a:rPr lang="en-US" sz="1200" b="1" dirty="0">
                <a:solidFill>
                  <a:srgbClr val="6C8EAD"/>
                </a:solidFill>
              </a:rPr>
              <a:t>18 / 20</a:t>
            </a:r>
            <a:endParaRPr lang="en-US" sz="1200" dirty="0"/>
          </a:p>
        </p:txBody>
      </p:sp>
      <p:sp>
        <p:nvSpPr>
          <p:cNvPr id="6" name="Shape 4"/>
          <p:cNvSpPr/>
          <p:nvPr/>
        </p:nvSpPr>
        <p:spPr>
          <a:xfrm>
            <a:off x="292608" y="685800"/>
            <a:ext cx="1097280" cy="256032"/>
          </a:xfrm>
          <a:prstGeom prst="rect">
            <a:avLst/>
          </a:prstGeom>
          <a:solidFill>
            <a:srgbClr val="0078D4"/>
          </a:solidFill>
          <a:ln w="12700">
            <a:solidFill>
              <a:srgbClr val="0078D4"/>
            </a:solidFill>
            <a:prstDash val="solid"/>
          </a:ln>
        </p:spPr>
      </p:sp>
      <p:sp>
        <p:nvSpPr>
          <p:cNvPr id="7" name="Text 5"/>
          <p:cNvSpPr/>
          <p:nvPr/>
        </p:nvSpPr>
        <p:spPr>
          <a:xfrm>
            <a:off x="292608" y="685800"/>
            <a:ext cx="1097280" cy="256032"/>
          </a:xfrm>
          <a:prstGeom prst="rect">
            <a:avLst/>
          </a:prstGeom>
          <a:noFill/>
          <a:ln/>
        </p:spPr>
        <p:txBody>
          <a:bodyPr wrap="square" rtlCol="0" anchor="ctr"/>
          <a:lstStyle/>
          <a:p>
            <a:pPr algn="ctr" indent="0" marL="0">
              <a:buNone/>
            </a:pPr>
            <a:r>
              <a:rPr lang="en-US" sz="800" b="1" dirty="0">
                <a:solidFill>
                  <a:srgbClr val="FFFFFF"/>
                </a:solidFill>
              </a:rPr>
              <a:t>SCENARIO</a:t>
            </a:r>
            <a:endParaRPr lang="en-US" sz="800" dirty="0"/>
          </a:p>
        </p:txBody>
      </p:sp>
      <p:sp>
        <p:nvSpPr>
          <p:cNvPr id="8" name="Shape 6"/>
          <p:cNvSpPr/>
          <p:nvPr/>
        </p:nvSpPr>
        <p:spPr>
          <a:xfrm>
            <a:off x="292608" y="978408"/>
            <a:ext cx="8558784" cy="960120"/>
          </a:xfrm>
          <a:prstGeom prst="rect">
            <a:avLst/>
          </a:prstGeom>
          <a:solidFill>
            <a:srgbClr val="EBF4FF"/>
          </a:solidFill>
          <a:ln w="12700">
            <a:solidFill>
              <a:srgbClr val="0078D4"/>
            </a:solidFill>
            <a:prstDash val="solid"/>
          </a:ln>
        </p:spPr>
      </p:sp>
      <p:sp>
        <p:nvSpPr>
          <p:cNvPr id="9" name="Text 7"/>
          <p:cNvSpPr/>
          <p:nvPr/>
        </p:nvSpPr>
        <p:spPr>
          <a:xfrm>
            <a:off x="420624" y="1024128"/>
            <a:ext cx="8321040" cy="868680"/>
          </a:xfrm>
          <a:prstGeom prst="rect">
            <a:avLst/>
          </a:prstGeom>
          <a:noFill/>
          <a:ln/>
        </p:spPr>
        <p:txBody>
          <a:bodyPr wrap="square" rtlCol="0" anchor="t"/>
          <a:lstStyle/>
          <a:p>
            <a:pPr indent="0" marL="0">
              <a:buNone/>
            </a:pPr>
            <a:r>
              <a:rPr lang="en-US" sz="1250" dirty="0">
                <a:solidFill>
                  <a:srgbClr val="1B2A3B"/>
                </a:solidFill>
              </a:rPr>
              <a:t>A cloud governance team at Fabrikam needs to provision new Azure subscriptions for project teams. Each new subscription must automatically include: a specific RBAC role assignment, a set of Azure Policies, and a standard Resource Group with mandatory tags.</a:t>
            </a:r>
            <a:endParaRPr lang="en-US" sz="1250" dirty="0"/>
          </a:p>
        </p:txBody>
      </p:sp>
      <p:sp>
        <p:nvSpPr>
          <p:cNvPr id="10" name="Text 8"/>
          <p:cNvSpPr/>
          <p:nvPr/>
        </p:nvSpPr>
        <p:spPr>
          <a:xfrm>
            <a:off x="292608" y="2048256"/>
            <a:ext cx="8558784" cy="420624"/>
          </a:xfrm>
          <a:prstGeom prst="rect">
            <a:avLst/>
          </a:prstGeom>
          <a:noFill/>
          <a:ln/>
        </p:spPr>
        <p:txBody>
          <a:bodyPr wrap="square" rtlCol="0" anchor="ctr"/>
          <a:lstStyle/>
          <a:p>
            <a:pPr indent="0" marL="0">
              <a:buNone/>
            </a:pPr>
            <a:r>
              <a:rPr lang="en-US" sz="1350" b="1" dirty="0">
                <a:solidFill>
                  <a:srgbClr val="0A1628"/>
                </a:solidFill>
              </a:rPr>
              <a:t>Which Azure feature is best suited to package and deploy this standard environment repeatedly?</a:t>
            </a:r>
            <a:endParaRPr lang="en-US" sz="1350" dirty="0"/>
          </a:p>
        </p:txBody>
      </p:sp>
      <p:sp>
        <p:nvSpPr>
          <p:cNvPr id="11" name="Shape 9"/>
          <p:cNvSpPr/>
          <p:nvPr/>
        </p:nvSpPr>
        <p:spPr>
          <a:xfrm>
            <a:off x="292608" y="2523744"/>
            <a:ext cx="8558784" cy="539496"/>
          </a:xfrm>
          <a:prstGeom prst="rect">
            <a:avLst/>
          </a:prstGeom>
          <a:solidFill>
            <a:srgbClr val="FFFFFF"/>
          </a:solidFill>
          <a:ln w="12700">
            <a:solidFill>
              <a:srgbClr val="C5D8EE"/>
            </a:solidFill>
            <a:prstDash val="solid"/>
          </a:ln>
        </p:spPr>
      </p:sp>
      <p:sp>
        <p:nvSpPr>
          <p:cNvPr id="12" name="Shape 10"/>
          <p:cNvSpPr/>
          <p:nvPr/>
        </p:nvSpPr>
        <p:spPr>
          <a:xfrm>
            <a:off x="384048" y="2633472"/>
            <a:ext cx="329184" cy="329184"/>
          </a:xfrm>
          <a:prstGeom prst="ellipse">
            <a:avLst/>
          </a:prstGeom>
          <a:solidFill>
            <a:srgbClr val="1B3A5C"/>
          </a:solidFill>
          <a:ln w="12700">
            <a:solidFill>
              <a:srgbClr val="1B3A5C"/>
            </a:solidFill>
            <a:prstDash val="solid"/>
          </a:ln>
        </p:spPr>
      </p:sp>
      <p:sp>
        <p:nvSpPr>
          <p:cNvPr id="13" name="Text 11"/>
          <p:cNvSpPr/>
          <p:nvPr/>
        </p:nvSpPr>
        <p:spPr>
          <a:xfrm>
            <a:off x="384048" y="2633472"/>
            <a:ext cx="329184" cy="329184"/>
          </a:xfrm>
          <a:prstGeom prst="rect">
            <a:avLst/>
          </a:prstGeom>
          <a:noFill/>
          <a:ln/>
        </p:spPr>
        <p:txBody>
          <a:bodyPr wrap="square" rtlCol="0" anchor="ctr"/>
          <a:lstStyle/>
          <a:p>
            <a:pPr algn="ctr" indent="0" marL="0">
              <a:buNone/>
            </a:pPr>
            <a:r>
              <a:rPr lang="en-US" sz="1100" b="1" dirty="0">
                <a:solidFill>
                  <a:srgbClr val="FFFFFF"/>
                </a:solidFill>
              </a:rPr>
              <a:t>A</a:t>
            </a:r>
            <a:endParaRPr lang="en-US" sz="1100" dirty="0"/>
          </a:p>
        </p:txBody>
      </p:sp>
      <p:sp>
        <p:nvSpPr>
          <p:cNvPr id="14" name="Text 12"/>
          <p:cNvSpPr/>
          <p:nvPr/>
        </p:nvSpPr>
        <p:spPr>
          <a:xfrm>
            <a:off x="786384" y="2615184"/>
            <a:ext cx="7991856" cy="365760"/>
          </a:xfrm>
          <a:prstGeom prst="rect">
            <a:avLst/>
          </a:prstGeom>
          <a:noFill/>
          <a:ln/>
        </p:spPr>
        <p:txBody>
          <a:bodyPr wrap="square" rtlCol="0" anchor="ctr"/>
          <a:lstStyle/>
          <a:p>
            <a:pPr indent="0" marL="0">
              <a:buNone/>
            </a:pPr>
            <a:r>
              <a:rPr lang="en-US" sz="1250" dirty="0">
                <a:solidFill>
                  <a:srgbClr val="1B2A3B"/>
                </a:solidFill>
              </a:rPr>
              <a:t>ARM Templates (JSON) deployed to each subscription</a:t>
            </a:r>
            <a:endParaRPr lang="en-US" sz="1250" dirty="0"/>
          </a:p>
        </p:txBody>
      </p:sp>
      <p:sp>
        <p:nvSpPr>
          <p:cNvPr id="15" name="Shape 13"/>
          <p:cNvSpPr/>
          <p:nvPr/>
        </p:nvSpPr>
        <p:spPr>
          <a:xfrm>
            <a:off x="292608" y="3154680"/>
            <a:ext cx="8558784" cy="539496"/>
          </a:xfrm>
          <a:prstGeom prst="rect">
            <a:avLst/>
          </a:prstGeom>
          <a:solidFill>
            <a:srgbClr val="FFFFFF"/>
          </a:solidFill>
          <a:ln w="12700">
            <a:solidFill>
              <a:srgbClr val="C5D8EE"/>
            </a:solidFill>
            <a:prstDash val="solid"/>
          </a:ln>
        </p:spPr>
      </p:sp>
      <p:sp>
        <p:nvSpPr>
          <p:cNvPr id="16" name="Shape 14"/>
          <p:cNvSpPr/>
          <p:nvPr/>
        </p:nvSpPr>
        <p:spPr>
          <a:xfrm>
            <a:off x="384048" y="3264408"/>
            <a:ext cx="329184" cy="329184"/>
          </a:xfrm>
          <a:prstGeom prst="ellipse">
            <a:avLst/>
          </a:prstGeom>
          <a:solidFill>
            <a:srgbClr val="1B3A5C"/>
          </a:solidFill>
          <a:ln w="12700">
            <a:solidFill>
              <a:srgbClr val="1B3A5C"/>
            </a:solidFill>
            <a:prstDash val="solid"/>
          </a:ln>
        </p:spPr>
      </p:sp>
      <p:sp>
        <p:nvSpPr>
          <p:cNvPr id="17" name="Text 15"/>
          <p:cNvSpPr/>
          <p:nvPr/>
        </p:nvSpPr>
        <p:spPr>
          <a:xfrm>
            <a:off x="384048" y="3264408"/>
            <a:ext cx="329184" cy="329184"/>
          </a:xfrm>
          <a:prstGeom prst="rect">
            <a:avLst/>
          </a:prstGeom>
          <a:noFill/>
          <a:ln/>
        </p:spPr>
        <p:txBody>
          <a:bodyPr wrap="square" rtlCol="0" anchor="ctr"/>
          <a:lstStyle/>
          <a:p>
            <a:pPr algn="ctr" indent="0" marL="0">
              <a:buNone/>
            </a:pPr>
            <a:r>
              <a:rPr lang="en-US" sz="1100" b="1" dirty="0">
                <a:solidFill>
                  <a:srgbClr val="FFFFFF"/>
                </a:solidFill>
              </a:rPr>
              <a:t>B</a:t>
            </a:r>
            <a:endParaRPr lang="en-US" sz="1100" dirty="0"/>
          </a:p>
        </p:txBody>
      </p:sp>
      <p:sp>
        <p:nvSpPr>
          <p:cNvPr id="18" name="Text 16"/>
          <p:cNvSpPr/>
          <p:nvPr/>
        </p:nvSpPr>
        <p:spPr>
          <a:xfrm>
            <a:off x="786384" y="3246120"/>
            <a:ext cx="7991856" cy="365760"/>
          </a:xfrm>
          <a:prstGeom prst="rect">
            <a:avLst/>
          </a:prstGeom>
          <a:noFill/>
          <a:ln/>
        </p:spPr>
        <p:txBody>
          <a:bodyPr wrap="square" rtlCol="0" anchor="ctr"/>
          <a:lstStyle/>
          <a:p>
            <a:pPr indent="0" marL="0">
              <a:buNone/>
            </a:pPr>
            <a:r>
              <a:rPr lang="en-US" sz="1250" dirty="0">
                <a:solidFill>
                  <a:srgbClr val="1B2A3B"/>
                </a:solidFill>
              </a:rPr>
              <a:t>Azure Blueprints — to package policies, roles, and resource groups as a versioned artefact</a:t>
            </a:r>
            <a:endParaRPr lang="en-US" sz="1250" dirty="0"/>
          </a:p>
        </p:txBody>
      </p:sp>
      <p:sp>
        <p:nvSpPr>
          <p:cNvPr id="19" name="Shape 17"/>
          <p:cNvSpPr/>
          <p:nvPr/>
        </p:nvSpPr>
        <p:spPr>
          <a:xfrm>
            <a:off x="292608" y="3785616"/>
            <a:ext cx="8558784" cy="539496"/>
          </a:xfrm>
          <a:prstGeom prst="rect">
            <a:avLst/>
          </a:prstGeom>
          <a:solidFill>
            <a:srgbClr val="FFFFFF"/>
          </a:solidFill>
          <a:ln w="12700">
            <a:solidFill>
              <a:srgbClr val="C5D8EE"/>
            </a:solidFill>
            <a:prstDash val="solid"/>
          </a:ln>
        </p:spPr>
      </p:sp>
      <p:sp>
        <p:nvSpPr>
          <p:cNvPr id="20" name="Shape 18"/>
          <p:cNvSpPr/>
          <p:nvPr/>
        </p:nvSpPr>
        <p:spPr>
          <a:xfrm>
            <a:off x="384048" y="3895344"/>
            <a:ext cx="329184" cy="329184"/>
          </a:xfrm>
          <a:prstGeom prst="ellipse">
            <a:avLst/>
          </a:prstGeom>
          <a:solidFill>
            <a:srgbClr val="1B3A5C"/>
          </a:solidFill>
          <a:ln w="12700">
            <a:solidFill>
              <a:srgbClr val="1B3A5C"/>
            </a:solidFill>
            <a:prstDash val="solid"/>
          </a:ln>
        </p:spPr>
      </p:sp>
      <p:sp>
        <p:nvSpPr>
          <p:cNvPr id="21" name="Text 19"/>
          <p:cNvSpPr/>
          <p:nvPr/>
        </p:nvSpPr>
        <p:spPr>
          <a:xfrm>
            <a:off x="384048" y="3895344"/>
            <a:ext cx="329184" cy="329184"/>
          </a:xfrm>
          <a:prstGeom prst="rect">
            <a:avLst/>
          </a:prstGeom>
          <a:noFill/>
          <a:ln/>
        </p:spPr>
        <p:txBody>
          <a:bodyPr wrap="square" rtlCol="0" anchor="ctr"/>
          <a:lstStyle/>
          <a:p>
            <a:pPr algn="ctr" indent="0" marL="0">
              <a:buNone/>
            </a:pPr>
            <a:r>
              <a:rPr lang="en-US" sz="1100" b="1" dirty="0">
                <a:solidFill>
                  <a:srgbClr val="FFFFFF"/>
                </a:solidFill>
              </a:rPr>
              <a:t>C</a:t>
            </a:r>
            <a:endParaRPr lang="en-US" sz="1100" dirty="0"/>
          </a:p>
        </p:txBody>
      </p:sp>
      <p:sp>
        <p:nvSpPr>
          <p:cNvPr id="22" name="Text 20"/>
          <p:cNvSpPr/>
          <p:nvPr/>
        </p:nvSpPr>
        <p:spPr>
          <a:xfrm>
            <a:off x="786384" y="3877056"/>
            <a:ext cx="7991856" cy="365760"/>
          </a:xfrm>
          <a:prstGeom prst="rect">
            <a:avLst/>
          </a:prstGeom>
          <a:noFill/>
          <a:ln/>
        </p:spPr>
        <p:txBody>
          <a:bodyPr wrap="square" rtlCol="0" anchor="ctr"/>
          <a:lstStyle/>
          <a:p>
            <a:pPr indent="0" marL="0">
              <a:buNone/>
            </a:pPr>
            <a:r>
              <a:rPr lang="en-US" sz="1250" dirty="0">
                <a:solidFill>
                  <a:srgbClr val="1B2A3B"/>
                </a:solidFill>
              </a:rPr>
              <a:t>Azure Policy Initiative assigned at the Management Group level</a:t>
            </a:r>
            <a:endParaRPr lang="en-US" sz="1250" dirty="0"/>
          </a:p>
        </p:txBody>
      </p:sp>
      <p:sp>
        <p:nvSpPr>
          <p:cNvPr id="23" name="Shape 21"/>
          <p:cNvSpPr/>
          <p:nvPr/>
        </p:nvSpPr>
        <p:spPr>
          <a:xfrm>
            <a:off x="292608" y="4416552"/>
            <a:ext cx="8558784" cy="539496"/>
          </a:xfrm>
          <a:prstGeom prst="rect">
            <a:avLst/>
          </a:prstGeom>
          <a:solidFill>
            <a:srgbClr val="FFFFFF"/>
          </a:solidFill>
          <a:ln w="12700">
            <a:solidFill>
              <a:srgbClr val="C5D8EE"/>
            </a:solidFill>
            <a:prstDash val="solid"/>
          </a:ln>
        </p:spPr>
      </p:sp>
      <p:sp>
        <p:nvSpPr>
          <p:cNvPr id="24" name="Shape 22"/>
          <p:cNvSpPr/>
          <p:nvPr/>
        </p:nvSpPr>
        <p:spPr>
          <a:xfrm>
            <a:off x="384048" y="4526280"/>
            <a:ext cx="329184" cy="329184"/>
          </a:xfrm>
          <a:prstGeom prst="ellipse">
            <a:avLst/>
          </a:prstGeom>
          <a:solidFill>
            <a:srgbClr val="1B3A5C"/>
          </a:solidFill>
          <a:ln w="12700">
            <a:solidFill>
              <a:srgbClr val="1B3A5C"/>
            </a:solidFill>
            <a:prstDash val="solid"/>
          </a:ln>
        </p:spPr>
      </p:sp>
      <p:sp>
        <p:nvSpPr>
          <p:cNvPr id="25" name="Text 23"/>
          <p:cNvSpPr/>
          <p:nvPr/>
        </p:nvSpPr>
        <p:spPr>
          <a:xfrm>
            <a:off x="384048" y="4526280"/>
            <a:ext cx="329184" cy="329184"/>
          </a:xfrm>
          <a:prstGeom prst="rect">
            <a:avLst/>
          </a:prstGeom>
          <a:noFill/>
          <a:ln/>
        </p:spPr>
        <p:txBody>
          <a:bodyPr wrap="square" rtlCol="0" anchor="ctr"/>
          <a:lstStyle/>
          <a:p>
            <a:pPr algn="ctr" indent="0" marL="0">
              <a:buNone/>
            </a:pPr>
            <a:r>
              <a:rPr lang="en-US" sz="1100" b="1" dirty="0">
                <a:solidFill>
                  <a:srgbClr val="FFFFFF"/>
                </a:solidFill>
              </a:rPr>
              <a:t>D</a:t>
            </a:r>
            <a:endParaRPr lang="en-US" sz="1100" dirty="0"/>
          </a:p>
        </p:txBody>
      </p:sp>
      <p:sp>
        <p:nvSpPr>
          <p:cNvPr id="26" name="Text 24"/>
          <p:cNvSpPr/>
          <p:nvPr/>
        </p:nvSpPr>
        <p:spPr>
          <a:xfrm>
            <a:off x="786384" y="4507992"/>
            <a:ext cx="7991856" cy="365760"/>
          </a:xfrm>
          <a:prstGeom prst="rect">
            <a:avLst/>
          </a:prstGeom>
          <a:noFill/>
          <a:ln/>
        </p:spPr>
        <p:txBody>
          <a:bodyPr wrap="square" rtlCol="0" anchor="ctr"/>
          <a:lstStyle/>
          <a:p>
            <a:pPr indent="0" marL="0">
              <a:buNone/>
            </a:pPr>
            <a:r>
              <a:rPr lang="en-US" sz="1250" dirty="0">
                <a:solidFill>
                  <a:srgbClr val="1B2A3B"/>
                </a:solidFill>
              </a:rPr>
              <a:t>Terraform scripts stored in Azure DevOps</a:t>
            </a:r>
            <a:endParaRPr lang="en-US" sz="12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4F8FD"/>
        </a:solidFill>
      </p:bgPr>
    </p:bg>
    <p:spTree>
      <p:nvGrpSpPr>
        <p:cNvPr id="1" name=""/>
        <p:cNvGrpSpPr/>
        <p:nvPr/>
      </p:nvGrpSpPr>
      <p:grpSpPr>
        <a:xfrm>
          <a:off x="0" y="0"/>
          <a:ext cx="0" cy="0"/>
          <a:chOff x="0" y="0"/>
          <a:chExt cx="0" cy="0"/>
        </a:xfrm>
      </p:grpSpPr>
      <p:sp>
        <p:nvSpPr>
          <p:cNvPr id="2" name="Shape 0"/>
          <p:cNvSpPr/>
          <p:nvPr/>
        </p:nvSpPr>
        <p:spPr>
          <a:xfrm>
            <a:off x="0" y="0"/>
            <a:ext cx="146304" cy="5143500"/>
          </a:xfrm>
          <a:prstGeom prst="rect">
            <a:avLst/>
          </a:prstGeom>
          <a:solidFill>
            <a:srgbClr val="107C10"/>
          </a:solidFill>
          <a:ln w="12700">
            <a:solidFill>
              <a:srgbClr val="107C10"/>
            </a:solidFill>
            <a:prstDash val="solid"/>
          </a:ln>
        </p:spPr>
      </p:sp>
      <p:sp>
        <p:nvSpPr>
          <p:cNvPr id="3" name="Shape 1"/>
          <p:cNvSpPr/>
          <p:nvPr/>
        </p:nvSpPr>
        <p:spPr>
          <a:xfrm>
            <a:off x="146304" y="0"/>
            <a:ext cx="8997696" cy="594360"/>
          </a:xfrm>
          <a:prstGeom prst="rect">
            <a:avLst/>
          </a:prstGeom>
          <a:solidFill>
            <a:srgbClr val="0A1628"/>
          </a:solidFill>
          <a:ln w="12700">
            <a:solidFill>
              <a:srgbClr val="0A1628"/>
            </a:solidFill>
            <a:prstDash val="solid"/>
          </a:ln>
        </p:spPr>
      </p:sp>
      <p:sp>
        <p:nvSpPr>
          <p:cNvPr id="4" name="Text 2"/>
          <p:cNvSpPr/>
          <p:nvPr/>
        </p:nvSpPr>
        <p:spPr>
          <a:xfrm>
            <a:off x="292608" y="0"/>
            <a:ext cx="6583680" cy="594360"/>
          </a:xfrm>
          <a:prstGeom prst="rect">
            <a:avLst/>
          </a:prstGeom>
          <a:noFill/>
          <a:ln/>
        </p:spPr>
        <p:txBody>
          <a:bodyPr wrap="square" lIns="0" tIns="0" rIns="0" bIns="0" rtlCol="0" anchor="ctr"/>
          <a:lstStyle/>
          <a:p>
            <a:pPr indent="0" marL="0">
              <a:buNone/>
            </a:pPr>
            <a:r>
              <a:rPr lang="en-US" sz="1200" b="1" dirty="0">
                <a:solidFill>
                  <a:srgbClr val="00FF90"/>
                </a:solidFill>
              </a:rPr>
              <a:t>✅  ANSWER 18  ·  Azure Blueprints</a:t>
            </a:r>
            <a:endParaRPr lang="en-US" sz="1200" dirty="0"/>
          </a:p>
        </p:txBody>
      </p:sp>
      <p:sp>
        <p:nvSpPr>
          <p:cNvPr id="5" name="Text 3"/>
          <p:cNvSpPr/>
          <p:nvPr/>
        </p:nvSpPr>
        <p:spPr>
          <a:xfrm>
            <a:off x="7498080" y="0"/>
            <a:ext cx="1499616" cy="594360"/>
          </a:xfrm>
          <a:prstGeom prst="rect">
            <a:avLst/>
          </a:prstGeom>
          <a:noFill/>
          <a:ln/>
        </p:spPr>
        <p:txBody>
          <a:bodyPr wrap="square" lIns="0" tIns="0" rIns="0" bIns="0" rtlCol="0" anchor="ctr"/>
          <a:lstStyle/>
          <a:p>
            <a:pPr algn="r" indent="0" marL="0">
              <a:buNone/>
            </a:pPr>
            <a:r>
              <a:rPr lang="en-US" sz="1200" b="1" dirty="0">
                <a:solidFill>
                  <a:srgbClr val="6C8EAD"/>
                </a:solidFill>
              </a:rPr>
              <a:t>18 / 20</a:t>
            </a:r>
            <a:endParaRPr lang="en-US" sz="1200" dirty="0"/>
          </a:p>
        </p:txBody>
      </p:sp>
      <p:sp>
        <p:nvSpPr>
          <p:cNvPr id="6" name="Shape 4"/>
          <p:cNvSpPr/>
          <p:nvPr/>
        </p:nvSpPr>
        <p:spPr>
          <a:xfrm>
            <a:off x="292608" y="658368"/>
            <a:ext cx="8558784" cy="475488"/>
          </a:xfrm>
          <a:prstGeom prst="rect">
            <a:avLst/>
          </a:prstGeom>
          <a:solidFill>
            <a:srgbClr val="E6F3E6"/>
          </a:solidFill>
          <a:ln w="25400">
            <a:solidFill>
              <a:srgbClr val="107C10"/>
            </a:solidFill>
            <a:prstDash val="solid"/>
          </a:ln>
        </p:spPr>
      </p:sp>
      <p:sp>
        <p:nvSpPr>
          <p:cNvPr id="7" name="Text 5"/>
          <p:cNvSpPr/>
          <p:nvPr/>
        </p:nvSpPr>
        <p:spPr>
          <a:xfrm>
            <a:off x="420624" y="658368"/>
            <a:ext cx="8321040" cy="475488"/>
          </a:xfrm>
          <a:prstGeom prst="rect">
            <a:avLst/>
          </a:prstGeom>
          <a:noFill/>
          <a:ln/>
        </p:spPr>
        <p:txBody>
          <a:bodyPr wrap="square" rtlCol="0" anchor="ctr"/>
          <a:lstStyle/>
          <a:p>
            <a:pPr indent="0" marL="0">
              <a:buNone/>
            </a:pPr>
            <a:r>
              <a:rPr lang="en-US" sz="1300" b="1" dirty="0">
                <a:solidFill>
                  <a:srgbClr val="107C10"/>
                </a:solidFill>
              </a:rPr>
              <a:t>✔  Correct: B — Azure Blueprints — to package policies, roles, and resource groups as a versioned artefact</a:t>
            </a:r>
            <a:endParaRPr lang="en-US" sz="1300" dirty="0"/>
          </a:p>
        </p:txBody>
      </p:sp>
      <p:sp>
        <p:nvSpPr>
          <p:cNvPr id="8" name="Text 6"/>
          <p:cNvSpPr/>
          <p:nvPr/>
        </p:nvSpPr>
        <p:spPr>
          <a:xfrm>
            <a:off x="292608" y="1216152"/>
            <a:ext cx="8558784" cy="292608"/>
          </a:xfrm>
          <a:prstGeom prst="rect">
            <a:avLst/>
          </a:prstGeom>
          <a:noFill/>
          <a:ln/>
        </p:spPr>
        <p:txBody>
          <a:bodyPr wrap="square" rtlCol="0" anchor="ctr"/>
          <a:lstStyle/>
          <a:p>
            <a:pPr indent="0" marL="0">
              <a:buNone/>
            </a:pPr>
            <a:r>
              <a:rPr lang="en-US" sz="1200" b="1" dirty="0">
                <a:solidFill>
                  <a:srgbClr val="0A1628"/>
                </a:solidFill>
              </a:rPr>
              <a:t>Why this is correct</a:t>
            </a:r>
            <a:endParaRPr lang="en-US" sz="1200" dirty="0"/>
          </a:p>
        </p:txBody>
      </p:sp>
      <p:sp>
        <p:nvSpPr>
          <p:cNvPr id="9" name="Shape 7"/>
          <p:cNvSpPr/>
          <p:nvPr/>
        </p:nvSpPr>
        <p:spPr>
          <a:xfrm>
            <a:off x="292608" y="1517904"/>
            <a:ext cx="8558784" cy="1097280"/>
          </a:xfrm>
          <a:prstGeom prst="rect">
            <a:avLst/>
          </a:prstGeom>
          <a:solidFill>
            <a:srgbClr val="FFFFFF"/>
          </a:solidFill>
          <a:ln w="12700">
            <a:solidFill>
              <a:srgbClr val="C5D8EE"/>
            </a:solidFill>
            <a:prstDash val="solid"/>
          </a:ln>
        </p:spPr>
      </p:sp>
      <p:sp>
        <p:nvSpPr>
          <p:cNvPr id="10" name="Text 8"/>
          <p:cNvSpPr/>
          <p:nvPr/>
        </p:nvSpPr>
        <p:spPr>
          <a:xfrm>
            <a:off x="420624" y="1563624"/>
            <a:ext cx="8321040" cy="1005840"/>
          </a:xfrm>
          <a:prstGeom prst="rect">
            <a:avLst/>
          </a:prstGeom>
          <a:noFill/>
          <a:ln/>
        </p:spPr>
        <p:txBody>
          <a:bodyPr wrap="square" rtlCol="0" anchor="t"/>
          <a:lstStyle/>
          <a:p>
            <a:pPr indent="0" marL="0">
              <a:buNone/>
            </a:pPr>
            <a:r>
              <a:rPr lang="en-US" sz="1150" dirty="0">
                <a:solidFill>
                  <a:srgbClr val="1B2A3B"/>
                </a:solidFill>
              </a:rPr>
              <a:t>Azure Blueprints are designed to package policies, RBAC role assignments, ARM templates, and resource groups into a single versioned artefact that can be assigned to subscriptions. Blueprints track the relationship between the assignment and the deployed resources. ARM Templates handle infrastructure but not policy/RBAC bundling. Policy Initiatives handle policies only, not roles or RGs. Terraform is IaC but is not a native Azure governance artefact.</a:t>
            </a:r>
            <a:endParaRPr lang="en-US" sz="1150" dirty="0"/>
          </a:p>
        </p:txBody>
      </p:sp>
      <p:sp>
        <p:nvSpPr>
          <p:cNvPr id="11" name="Text 9"/>
          <p:cNvSpPr/>
          <p:nvPr/>
        </p:nvSpPr>
        <p:spPr>
          <a:xfrm>
            <a:off x="292608" y="2697480"/>
            <a:ext cx="8558784" cy="292608"/>
          </a:xfrm>
          <a:prstGeom prst="rect">
            <a:avLst/>
          </a:prstGeom>
          <a:noFill/>
          <a:ln/>
        </p:spPr>
        <p:txBody>
          <a:bodyPr wrap="square" rtlCol="0" anchor="ctr"/>
          <a:lstStyle/>
          <a:p>
            <a:pPr indent="0" marL="0">
              <a:buNone/>
            </a:pPr>
            <a:r>
              <a:rPr lang="en-US" sz="1200" b="1" dirty="0">
                <a:solidFill>
                  <a:srgbClr val="0A1628"/>
                </a:solidFill>
              </a:rPr>
              <a:t>Why the other options are incorrect</a:t>
            </a:r>
            <a:endParaRPr lang="en-US" sz="1200" dirty="0"/>
          </a:p>
        </p:txBody>
      </p:sp>
      <p:sp>
        <p:nvSpPr>
          <p:cNvPr id="12" name="Shape 10"/>
          <p:cNvSpPr/>
          <p:nvPr/>
        </p:nvSpPr>
        <p:spPr>
          <a:xfrm>
            <a:off x="292608" y="3035808"/>
            <a:ext cx="8558784" cy="603504"/>
          </a:xfrm>
          <a:prstGeom prst="rect">
            <a:avLst/>
          </a:prstGeom>
          <a:solidFill>
            <a:srgbClr val="FAEAEA"/>
          </a:solidFill>
          <a:ln w="12700">
            <a:solidFill>
              <a:srgbClr val="F4AAAA"/>
            </a:solidFill>
            <a:prstDash val="solid"/>
          </a:ln>
        </p:spPr>
      </p:sp>
      <p:sp>
        <p:nvSpPr>
          <p:cNvPr id="13" name="Shape 11"/>
          <p:cNvSpPr/>
          <p:nvPr/>
        </p:nvSpPr>
        <p:spPr>
          <a:xfrm>
            <a:off x="384048" y="3172968"/>
            <a:ext cx="301752" cy="301752"/>
          </a:xfrm>
          <a:prstGeom prst="ellipse">
            <a:avLst/>
          </a:prstGeom>
          <a:solidFill>
            <a:srgbClr val="A80000"/>
          </a:solidFill>
          <a:ln w="12700">
            <a:solidFill>
              <a:srgbClr val="A80000"/>
            </a:solidFill>
            <a:prstDash val="solid"/>
          </a:ln>
        </p:spPr>
      </p:sp>
      <p:sp>
        <p:nvSpPr>
          <p:cNvPr id="14" name="Text 12"/>
          <p:cNvSpPr/>
          <p:nvPr/>
        </p:nvSpPr>
        <p:spPr>
          <a:xfrm>
            <a:off x="384048" y="3172968"/>
            <a:ext cx="301752" cy="301752"/>
          </a:xfrm>
          <a:prstGeom prst="rect">
            <a:avLst/>
          </a:prstGeom>
          <a:noFill/>
          <a:ln/>
        </p:spPr>
        <p:txBody>
          <a:bodyPr wrap="square" rtlCol="0" anchor="ctr"/>
          <a:lstStyle/>
          <a:p>
            <a:pPr algn="ctr" indent="0" marL="0">
              <a:buNone/>
            </a:pPr>
            <a:r>
              <a:rPr lang="en-US" sz="1100" b="1" dirty="0">
                <a:solidFill>
                  <a:srgbClr val="FFFFFF"/>
                </a:solidFill>
              </a:rPr>
              <a:t>A</a:t>
            </a:r>
            <a:endParaRPr lang="en-US" sz="1100" dirty="0"/>
          </a:p>
        </p:txBody>
      </p:sp>
      <p:sp>
        <p:nvSpPr>
          <p:cNvPr id="15" name="Text 13"/>
          <p:cNvSpPr/>
          <p:nvPr/>
        </p:nvSpPr>
        <p:spPr>
          <a:xfrm>
            <a:off x="768096" y="3090672"/>
            <a:ext cx="8010144" cy="493776"/>
          </a:xfrm>
          <a:prstGeom prst="rect">
            <a:avLst/>
          </a:prstGeom>
          <a:noFill/>
          <a:ln/>
        </p:spPr>
        <p:txBody>
          <a:bodyPr wrap="square" rtlCol="0" anchor="ctr"/>
          <a:lstStyle/>
          <a:p>
            <a:pPr indent="0" marL="0">
              <a:buNone/>
            </a:pPr>
            <a:r>
              <a:rPr lang="en-US" sz="1150" dirty="0">
                <a:solidFill>
                  <a:srgbClr val="1B2A3B"/>
                </a:solidFill>
              </a:rPr>
              <a:t>ARM Templates can deploy resources and configurations but do not natively bundle RBAC assignments and policy assignments in a tracked, versioned governance artefact.</a:t>
            </a:r>
            <a:endParaRPr lang="en-US" sz="1150" dirty="0"/>
          </a:p>
        </p:txBody>
      </p:sp>
      <p:sp>
        <p:nvSpPr>
          <p:cNvPr id="16" name="Shape 14"/>
          <p:cNvSpPr/>
          <p:nvPr/>
        </p:nvSpPr>
        <p:spPr>
          <a:xfrm>
            <a:off x="292608" y="3712464"/>
            <a:ext cx="8558784" cy="603504"/>
          </a:xfrm>
          <a:prstGeom prst="rect">
            <a:avLst/>
          </a:prstGeom>
          <a:solidFill>
            <a:srgbClr val="FAEAEA"/>
          </a:solidFill>
          <a:ln w="12700">
            <a:solidFill>
              <a:srgbClr val="F4AAAA"/>
            </a:solidFill>
            <a:prstDash val="solid"/>
          </a:ln>
        </p:spPr>
      </p:sp>
      <p:sp>
        <p:nvSpPr>
          <p:cNvPr id="17" name="Shape 15"/>
          <p:cNvSpPr/>
          <p:nvPr/>
        </p:nvSpPr>
        <p:spPr>
          <a:xfrm>
            <a:off x="384048" y="3849624"/>
            <a:ext cx="301752" cy="301752"/>
          </a:xfrm>
          <a:prstGeom prst="ellipse">
            <a:avLst/>
          </a:prstGeom>
          <a:solidFill>
            <a:srgbClr val="A80000"/>
          </a:solidFill>
          <a:ln w="12700">
            <a:solidFill>
              <a:srgbClr val="A80000"/>
            </a:solidFill>
            <a:prstDash val="solid"/>
          </a:ln>
        </p:spPr>
      </p:sp>
      <p:sp>
        <p:nvSpPr>
          <p:cNvPr id="18" name="Text 16"/>
          <p:cNvSpPr/>
          <p:nvPr/>
        </p:nvSpPr>
        <p:spPr>
          <a:xfrm>
            <a:off x="384048" y="3849624"/>
            <a:ext cx="301752" cy="301752"/>
          </a:xfrm>
          <a:prstGeom prst="rect">
            <a:avLst/>
          </a:prstGeom>
          <a:noFill/>
          <a:ln/>
        </p:spPr>
        <p:txBody>
          <a:bodyPr wrap="square" rtlCol="0" anchor="ctr"/>
          <a:lstStyle/>
          <a:p>
            <a:pPr algn="ctr" indent="0" marL="0">
              <a:buNone/>
            </a:pPr>
            <a:r>
              <a:rPr lang="en-US" sz="1100" b="1" dirty="0">
                <a:solidFill>
                  <a:srgbClr val="FFFFFF"/>
                </a:solidFill>
              </a:rPr>
              <a:t>C</a:t>
            </a:r>
            <a:endParaRPr lang="en-US" sz="1100" dirty="0"/>
          </a:p>
        </p:txBody>
      </p:sp>
      <p:sp>
        <p:nvSpPr>
          <p:cNvPr id="19" name="Text 17"/>
          <p:cNvSpPr/>
          <p:nvPr/>
        </p:nvSpPr>
        <p:spPr>
          <a:xfrm>
            <a:off x="768096" y="3767328"/>
            <a:ext cx="8010144" cy="493776"/>
          </a:xfrm>
          <a:prstGeom prst="rect">
            <a:avLst/>
          </a:prstGeom>
          <a:noFill/>
          <a:ln/>
        </p:spPr>
        <p:txBody>
          <a:bodyPr wrap="square" rtlCol="0" anchor="ctr"/>
          <a:lstStyle/>
          <a:p>
            <a:pPr indent="0" marL="0">
              <a:buNone/>
            </a:pPr>
            <a:r>
              <a:rPr lang="en-US" sz="1150" dirty="0">
                <a:solidFill>
                  <a:srgbClr val="1B2A3B"/>
                </a:solidFill>
              </a:rPr>
              <a:t>Policy Initiatives bundle multiple policy definitions but do not include RBAC assignments or Resource Group creation.</a:t>
            </a:r>
            <a:endParaRPr lang="en-US" sz="1150" dirty="0"/>
          </a:p>
        </p:txBody>
      </p:sp>
      <p:sp>
        <p:nvSpPr>
          <p:cNvPr id="20" name="Shape 18"/>
          <p:cNvSpPr/>
          <p:nvPr/>
        </p:nvSpPr>
        <p:spPr>
          <a:xfrm>
            <a:off x="292608" y="4389120"/>
            <a:ext cx="8558784" cy="603504"/>
          </a:xfrm>
          <a:prstGeom prst="rect">
            <a:avLst/>
          </a:prstGeom>
          <a:solidFill>
            <a:srgbClr val="FAEAEA"/>
          </a:solidFill>
          <a:ln w="12700">
            <a:solidFill>
              <a:srgbClr val="F4AAAA"/>
            </a:solidFill>
            <a:prstDash val="solid"/>
          </a:ln>
        </p:spPr>
      </p:sp>
      <p:sp>
        <p:nvSpPr>
          <p:cNvPr id="21" name="Shape 19"/>
          <p:cNvSpPr/>
          <p:nvPr/>
        </p:nvSpPr>
        <p:spPr>
          <a:xfrm>
            <a:off x="384048" y="4526280"/>
            <a:ext cx="301752" cy="301752"/>
          </a:xfrm>
          <a:prstGeom prst="ellipse">
            <a:avLst/>
          </a:prstGeom>
          <a:solidFill>
            <a:srgbClr val="A80000"/>
          </a:solidFill>
          <a:ln w="12700">
            <a:solidFill>
              <a:srgbClr val="A80000"/>
            </a:solidFill>
            <a:prstDash val="solid"/>
          </a:ln>
        </p:spPr>
      </p:sp>
      <p:sp>
        <p:nvSpPr>
          <p:cNvPr id="22" name="Text 20"/>
          <p:cNvSpPr/>
          <p:nvPr/>
        </p:nvSpPr>
        <p:spPr>
          <a:xfrm>
            <a:off x="384048" y="4526280"/>
            <a:ext cx="301752" cy="301752"/>
          </a:xfrm>
          <a:prstGeom prst="rect">
            <a:avLst/>
          </a:prstGeom>
          <a:noFill/>
          <a:ln/>
        </p:spPr>
        <p:txBody>
          <a:bodyPr wrap="square" rtlCol="0" anchor="ctr"/>
          <a:lstStyle/>
          <a:p>
            <a:pPr algn="ctr" indent="0" marL="0">
              <a:buNone/>
            </a:pPr>
            <a:r>
              <a:rPr lang="en-US" sz="1100" b="1" dirty="0">
                <a:solidFill>
                  <a:srgbClr val="FFFFFF"/>
                </a:solidFill>
              </a:rPr>
              <a:t>D</a:t>
            </a:r>
            <a:endParaRPr lang="en-US" sz="1100" dirty="0"/>
          </a:p>
        </p:txBody>
      </p:sp>
      <p:sp>
        <p:nvSpPr>
          <p:cNvPr id="23" name="Text 21"/>
          <p:cNvSpPr/>
          <p:nvPr/>
        </p:nvSpPr>
        <p:spPr>
          <a:xfrm>
            <a:off x="768096" y="4443984"/>
            <a:ext cx="8010144" cy="493776"/>
          </a:xfrm>
          <a:prstGeom prst="rect">
            <a:avLst/>
          </a:prstGeom>
          <a:noFill/>
          <a:ln/>
        </p:spPr>
        <p:txBody>
          <a:bodyPr wrap="square" rtlCol="0" anchor="ctr"/>
          <a:lstStyle/>
          <a:p>
            <a:pPr indent="0" marL="0">
              <a:buNone/>
            </a:pPr>
            <a:r>
              <a:rPr lang="en-US" sz="1150" dirty="0">
                <a:solidFill>
                  <a:srgbClr val="1B2A3B"/>
                </a:solidFill>
              </a:rPr>
              <a:t>Terraform is a powerful IaC tool but is third-party and not an Azure-native governance artefact with subscription assignment tracking.</a:t>
            </a:r>
            <a:endParaRPr lang="en-US" sz="11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4F8FD"/>
        </a:solidFill>
      </p:bgPr>
    </p:bg>
    <p:spTree>
      <p:nvGrpSpPr>
        <p:cNvPr id="1" name=""/>
        <p:cNvGrpSpPr/>
        <p:nvPr/>
      </p:nvGrpSpPr>
      <p:grpSpPr>
        <a:xfrm>
          <a:off x="0" y="0"/>
          <a:ext cx="0" cy="0"/>
          <a:chOff x="0" y="0"/>
          <a:chExt cx="0" cy="0"/>
        </a:xfrm>
      </p:grpSpPr>
      <p:sp>
        <p:nvSpPr>
          <p:cNvPr id="2" name="Shape 0"/>
          <p:cNvSpPr/>
          <p:nvPr/>
        </p:nvSpPr>
        <p:spPr>
          <a:xfrm>
            <a:off x="0" y="0"/>
            <a:ext cx="146304" cy="5143500"/>
          </a:xfrm>
          <a:prstGeom prst="rect">
            <a:avLst/>
          </a:prstGeom>
          <a:solidFill>
            <a:srgbClr val="0078D4"/>
          </a:solidFill>
          <a:ln w="12700">
            <a:solidFill>
              <a:srgbClr val="0078D4"/>
            </a:solidFill>
            <a:prstDash val="solid"/>
          </a:ln>
        </p:spPr>
      </p:sp>
      <p:sp>
        <p:nvSpPr>
          <p:cNvPr id="3" name="Shape 1"/>
          <p:cNvSpPr/>
          <p:nvPr/>
        </p:nvSpPr>
        <p:spPr>
          <a:xfrm>
            <a:off x="146304" y="0"/>
            <a:ext cx="8997696" cy="594360"/>
          </a:xfrm>
          <a:prstGeom prst="rect">
            <a:avLst/>
          </a:prstGeom>
          <a:solidFill>
            <a:srgbClr val="0A1628"/>
          </a:solidFill>
          <a:ln w="12700">
            <a:solidFill>
              <a:srgbClr val="0A1628"/>
            </a:solidFill>
            <a:prstDash val="solid"/>
          </a:ln>
        </p:spPr>
      </p:sp>
      <p:sp>
        <p:nvSpPr>
          <p:cNvPr id="4" name="Text 2"/>
          <p:cNvSpPr/>
          <p:nvPr/>
        </p:nvSpPr>
        <p:spPr>
          <a:xfrm>
            <a:off x="292608" y="0"/>
            <a:ext cx="6583680" cy="594360"/>
          </a:xfrm>
          <a:prstGeom prst="rect">
            <a:avLst/>
          </a:prstGeom>
          <a:noFill/>
          <a:ln/>
        </p:spPr>
        <p:txBody>
          <a:bodyPr wrap="square" lIns="0" tIns="0" rIns="0" bIns="0" rtlCol="0" anchor="ctr"/>
          <a:lstStyle/>
          <a:p>
            <a:pPr indent="0" marL="0">
              <a:buNone/>
            </a:pPr>
            <a:r>
              <a:rPr lang="en-US" sz="1200" b="1" dirty="0">
                <a:solidFill>
                  <a:srgbClr val="50E6FF"/>
                </a:solidFill>
              </a:rPr>
              <a:t>❓  QUESTION 19  ·  Privileged Identity Management</a:t>
            </a:r>
            <a:endParaRPr lang="en-US" sz="1200" dirty="0"/>
          </a:p>
        </p:txBody>
      </p:sp>
      <p:sp>
        <p:nvSpPr>
          <p:cNvPr id="5" name="Text 3"/>
          <p:cNvSpPr/>
          <p:nvPr/>
        </p:nvSpPr>
        <p:spPr>
          <a:xfrm>
            <a:off x="7498080" y="0"/>
            <a:ext cx="1499616" cy="594360"/>
          </a:xfrm>
          <a:prstGeom prst="rect">
            <a:avLst/>
          </a:prstGeom>
          <a:noFill/>
          <a:ln/>
        </p:spPr>
        <p:txBody>
          <a:bodyPr wrap="square" lIns="0" tIns="0" rIns="0" bIns="0" rtlCol="0" anchor="ctr"/>
          <a:lstStyle/>
          <a:p>
            <a:pPr algn="r" indent="0" marL="0">
              <a:buNone/>
            </a:pPr>
            <a:r>
              <a:rPr lang="en-US" sz="1200" b="1" dirty="0">
                <a:solidFill>
                  <a:srgbClr val="6C8EAD"/>
                </a:solidFill>
              </a:rPr>
              <a:t>19 / 20</a:t>
            </a:r>
            <a:endParaRPr lang="en-US" sz="1200" dirty="0"/>
          </a:p>
        </p:txBody>
      </p:sp>
      <p:sp>
        <p:nvSpPr>
          <p:cNvPr id="6" name="Shape 4"/>
          <p:cNvSpPr/>
          <p:nvPr/>
        </p:nvSpPr>
        <p:spPr>
          <a:xfrm>
            <a:off x="292608" y="685800"/>
            <a:ext cx="1097280" cy="256032"/>
          </a:xfrm>
          <a:prstGeom prst="rect">
            <a:avLst/>
          </a:prstGeom>
          <a:solidFill>
            <a:srgbClr val="0078D4"/>
          </a:solidFill>
          <a:ln w="12700">
            <a:solidFill>
              <a:srgbClr val="0078D4"/>
            </a:solidFill>
            <a:prstDash val="solid"/>
          </a:ln>
        </p:spPr>
      </p:sp>
      <p:sp>
        <p:nvSpPr>
          <p:cNvPr id="7" name="Text 5"/>
          <p:cNvSpPr/>
          <p:nvPr/>
        </p:nvSpPr>
        <p:spPr>
          <a:xfrm>
            <a:off x="292608" y="685800"/>
            <a:ext cx="1097280" cy="256032"/>
          </a:xfrm>
          <a:prstGeom prst="rect">
            <a:avLst/>
          </a:prstGeom>
          <a:noFill/>
          <a:ln/>
        </p:spPr>
        <p:txBody>
          <a:bodyPr wrap="square" rtlCol="0" anchor="ctr"/>
          <a:lstStyle/>
          <a:p>
            <a:pPr algn="ctr" indent="0" marL="0">
              <a:buNone/>
            </a:pPr>
            <a:r>
              <a:rPr lang="en-US" sz="800" b="1" dirty="0">
                <a:solidFill>
                  <a:srgbClr val="FFFFFF"/>
                </a:solidFill>
              </a:rPr>
              <a:t>SCENARIO</a:t>
            </a:r>
            <a:endParaRPr lang="en-US" sz="800" dirty="0"/>
          </a:p>
        </p:txBody>
      </p:sp>
      <p:sp>
        <p:nvSpPr>
          <p:cNvPr id="8" name="Shape 6"/>
          <p:cNvSpPr/>
          <p:nvPr/>
        </p:nvSpPr>
        <p:spPr>
          <a:xfrm>
            <a:off x="292608" y="978408"/>
            <a:ext cx="8558784" cy="960120"/>
          </a:xfrm>
          <a:prstGeom prst="rect">
            <a:avLst/>
          </a:prstGeom>
          <a:solidFill>
            <a:srgbClr val="EBF4FF"/>
          </a:solidFill>
          <a:ln w="12700">
            <a:solidFill>
              <a:srgbClr val="0078D4"/>
            </a:solidFill>
            <a:prstDash val="solid"/>
          </a:ln>
        </p:spPr>
      </p:sp>
      <p:sp>
        <p:nvSpPr>
          <p:cNvPr id="9" name="Text 7"/>
          <p:cNvSpPr/>
          <p:nvPr/>
        </p:nvSpPr>
        <p:spPr>
          <a:xfrm>
            <a:off x="420624" y="1024128"/>
            <a:ext cx="8321040" cy="868680"/>
          </a:xfrm>
          <a:prstGeom prst="rect">
            <a:avLst/>
          </a:prstGeom>
          <a:noFill/>
          <a:ln/>
        </p:spPr>
        <p:txBody>
          <a:bodyPr wrap="square" rtlCol="0" anchor="t"/>
          <a:lstStyle/>
          <a:p>
            <a:pPr indent="0" marL="0">
              <a:buNone/>
            </a:pPr>
            <a:r>
              <a:rPr lang="en-US" sz="1250" dirty="0">
                <a:solidFill>
                  <a:srgbClr val="1B2A3B"/>
                </a:solidFill>
              </a:rPr>
              <a:t>The security team at Woodgrove Bank is concerned that several Global Administrator accounts are permanently active. They want to ensure Global Admin access is only active when needed, requires approval, and is time-limited.</a:t>
            </a:r>
            <a:endParaRPr lang="en-US" sz="1250" dirty="0"/>
          </a:p>
        </p:txBody>
      </p:sp>
      <p:sp>
        <p:nvSpPr>
          <p:cNvPr id="10" name="Text 8"/>
          <p:cNvSpPr/>
          <p:nvPr/>
        </p:nvSpPr>
        <p:spPr>
          <a:xfrm>
            <a:off x="292608" y="2048256"/>
            <a:ext cx="8558784" cy="420624"/>
          </a:xfrm>
          <a:prstGeom prst="rect">
            <a:avLst/>
          </a:prstGeom>
          <a:noFill/>
          <a:ln/>
        </p:spPr>
        <p:txBody>
          <a:bodyPr wrap="square" rtlCol="0" anchor="ctr"/>
          <a:lstStyle/>
          <a:p>
            <a:pPr indent="0" marL="0">
              <a:buNone/>
            </a:pPr>
            <a:r>
              <a:rPr lang="en-US" sz="1350" b="1" dirty="0">
                <a:solidFill>
                  <a:srgbClr val="0A1628"/>
                </a:solidFill>
              </a:rPr>
              <a:t>Which Microsoft Entra ID feature implements just-in-time privileged access?</a:t>
            </a:r>
            <a:endParaRPr lang="en-US" sz="1350" dirty="0"/>
          </a:p>
        </p:txBody>
      </p:sp>
      <p:sp>
        <p:nvSpPr>
          <p:cNvPr id="11" name="Shape 9"/>
          <p:cNvSpPr/>
          <p:nvPr/>
        </p:nvSpPr>
        <p:spPr>
          <a:xfrm>
            <a:off x="292608" y="2523744"/>
            <a:ext cx="8558784" cy="539496"/>
          </a:xfrm>
          <a:prstGeom prst="rect">
            <a:avLst/>
          </a:prstGeom>
          <a:solidFill>
            <a:srgbClr val="FFFFFF"/>
          </a:solidFill>
          <a:ln w="12700">
            <a:solidFill>
              <a:srgbClr val="C5D8EE"/>
            </a:solidFill>
            <a:prstDash val="solid"/>
          </a:ln>
        </p:spPr>
      </p:sp>
      <p:sp>
        <p:nvSpPr>
          <p:cNvPr id="12" name="Shape 10"/>
          <p:cNvSpPr/>
          <p:nvPr/>
        </p:nvSpPr>
        <p:spPr>
          <a:xfrm>
            <a:off x="384048" y="2633472"/>
            <a:ext cx="329184" cy="329184"/>
          </a:xfrm>
          <a:prstGeom prst="ellipse">
            <a:avLst/>
          </a:prstGeom>
          <a:solidFill>
            <a:srgbClr val="1B3A5C"/>
          </a:solidFill>
          <a:ln w="12700">
            <a:solidFill>
              <a:srgbClr val="1B3A5C"/>
            </a:solidFill>
            <a:prstDash val="solid"/>
          </a:ln>
        </p:spPr>
      </p:sp>
      <p:sp>
        <p:nvSpPr>
          <p:cNvPr id="13" name="Text 11"/>
          <p:cNvSpPr/>
          <p:nvPr/>
        </p:nvSpPr>
        <p:spPr>
          <a:xfrm>
            <a:off x="384048" y="2633472"/>
            <a:ext cx="329184" cy="329184"/>
          </a:xfrm>
          <a:prstGeom prst="rect">
            <a:avLst/>
          </a:prstGeom>
          <a:noFill/>
          <a:ln/>
        </p:spPr>
        <p:txBody>
          <a:bodyPr wrap="square" rtlCol="0" anchor="ctr"/>
          <a:lstStyle/>
          <a:p>
            <a:pPr algn="ctr" indent="0" marL="0">
              <a:buNone/>
            </a:pPr>
            <a:r>
              <a:rPr lang="en-US" sz="1100" b="1" dirty="0">
                <a:solidFill>
                  <a:srgbClr val="FFFFFF"/>
                </a:solidFill>
              </a:rPr>
              <a:t>A</a:t>
            </a:r>
            <a:endParaRPr lang="en-US" sz="1100" dirty="0"/>
          </a:p>
        </p:txBody>
      </p:sp>
      <p:sp>
        <p:nvSpPr>
          <p:cNvPr id="14" name="Text 12"/>
          <p:cNvSpPr/>
          <p:nvPr/>
        </p:nvSpPr>
        <p:spPr>
          <a:xfrm>
            <a:off x="786384" y="2615184"/>
            <a:ext cx="7991856" cy="365760"/>
          </a:xfrm>
          <a:prstGeom prst="rect">
            <a:avLst/>
          </a:prstGeom>
          <a:noFill/>
          <a:ln/>
        </p:spPr>
        <p:txBody>
          <a:bodyPr wrap="square" rtlCol="0" anchor="ctr"/>
          <a:lstStyle/>
          <a:p>
            <a:pPr indent="0" marL="0">
              <a:buNone/>
            </a:pPr>
            <a:r>
              <a:rPr lang="en-US" sz="1250" dirty="0">
                <a:solidFill>
                  <a:srgbClr val="1B2A3B"/>
                </a:solidFill>
              </a:rPr>
              <a:t>Conditional Access Policy requiring MFA for Global Admin sign-in</a:t>
            </a:r>
            <a:endParaRPr lang="en-US" sz="1250" dirty="0"/>
          </a:p>
        </p:txBody>
      </p:sp>
      <p:sp>
        <p:nvSpPr>
          <p:cNvPr id="15" name="Shape 13"/>
          <p:cNvSpPr/>
          <p:nvPr/>
        </p:nvSpPr>
        <p:spPr>
          <a:xfrm>
            <a:off x="292608" y="3154680"/>
            <a:ext cx="8558784" cy="539496"/>
          </a:xfrm>
          <a:prstGeom prst="rect">
            <a:avLst/>
          </a:prstGeom>
          <a:solidFill>
            <a:srgbClr val="FFFFFF"/>
          </a:solidFill>
          <a:ln w="12700">
            <a:solidFill>
              <a:srgbClr val="C5D8EE"/>
            </a:solidFill>
            <a:prstDash val="solid"/>
          </a:ln>
        </p:spPr>
      </p:sp>
      <p:sp>
        <p:nvSpPr>
          <p:cNvPr id="16" name="Shape 14"/>
          <p:cNvSpPr/>
          <p:nvPr/>
        </p:nvSpPr>
        <p:spPr>
          <a:xfrm>
            <a:off x="384048" y="3264408"/>
            <a:ext cx="329184" cy="329184"/>
          </a:xfrm>
          <a:prstGeom prst="ellipse">
            <a:avLst/>
          </a:prstGeom>
          <a:solidFill>
            <a:srgbClr val="1B3A5C"/>
          </a:solidFill>
          <a:ln w="12700">
            <a:solidFill>
              <a:srgbClr val="1B3A5C"/>
            </a:solidFill>
            <a:prstDash val="solid"/>
          </a:ln>
        </p:spPr>
      </p:sp>
      <p:sp>
        <p:nvSpPr>
          <p:cNvPr id="17" name="Text 15"/>
          <p:cNvSpPr/>
          <p:nvPr/>
        </p:nvSpPr>
        <p:spPr>
          <a:xfrm>
            <a:off x="384048" y="3264408"/>
            <a:ext cx="329184" cy="329184"/>
          </a:xfrm>
          <a:prstGeom prst="rect">
            <a:avLst/>
          </a:prstGeom>
          <a:noFill/>
          <a:ln/>
        </p:spPr>
        <p:txBody>
          <a:bodyPr wrap="square" rtlCol="0" anchor="ctr"/>
          <a:lstStyle/>
          <a:p>
            <a:pPr algn="ctr" indent="0" marL="0">
              <a:buNone/>
            </a:pPr>
            <a:r>
              <a:rPr lang="en-US" sz="1100" b="1" dirty="0">
                <a:solidFill>
                  <a:srgbClr val="FFFFFF"/>
                </a:solidFill>
              </a:rPr>
              <a:t>B</a:t>
            </a:r>
            <a:endParaRPr lang="en-US" sz="1100" dirty="0"/>
          </a:p>
        </p:txBody>
      </p:sp>
      <p:sp>
        <p:nvSpPr>
          <p:cNvPr id="18" name="Text 16"/>
          <p:cNvSpPr/>
          <p:nvPr/>
        </p:nvSpPr>
        <p:spPr>
          <a:xfrm>
            <a:off x="786384" y="3246120"/>
            <a:ext cx="7991856" cy="365760"/>
          </a:xfrm>
          <a:prstGeom prst="rect">
            <a:avLst/>
          </a:prstGeom>
          <a:noFill/>
          <a:ln/>
        </p:spPr>
        <p:txBody>
          <a:bodyPr wrap="square" rtlCol="0" anchor="ctr"/>
          <a:lstStyle/>
          <a:p>
            <a:pPr indent="0" marL="0">
              <a:buNone/>
            </a:pPr>
            <a:r>
              <a:rPr lang="en-US" sz="1250" dirty="0">
                <a:solidFill>
                  <a:srgbClr val="1B2A3B"/>
                </a:solidFill>
              </a:rPr>
              <a:t>Privileged Identity Management (PIM) with eligible role assignments</a:t>
            </a:r>
            <a:endParaRPr lang="en-US" sz="1250" dirty="0"/>
          </a:p>
        </p:txBody>
      </p:sp>
      <p:sp>
        <p:nvSpPr>
          <p:cNvPr id="19" name="Shape 17"/>
          <p:cNvSpPr/>
          <p:nvPr/>
        </p:nvSpPr>
        <p:spPr>
          <a:xfrm>
            <a:off x="292608" y="3785616"/>
            <a:ext cx="8558784" cy="539496"/>
          </a:xfrm>
          <a:prstGeom prst="rect">
            <a:avLst/>
          </a:prstGeom>
          <a:solidFill>
            <a:srgbClr val="FFFFFF"/>
          </a:solidFill>
          <a:ln w="12700">
            <a:solidFill>
              <a:srgbClr val="C5D8EE"/>
            </a:solidFill>
            <a:prstDash val="solid"/>
          </a:ln>
        </p:spPr>
      </p:sp>
      <p:sp>
        <p:nvSpPr>
          <p:cNvPr id="20" name="Shape 18"/>
          <p:cNvSpPr/>
          <p:nvPr/>
        </p:nvSpPr>
        <p:spPr>
          <a:xfrm>
            <a:off x="384048" y="3895344"/>
            <a:ext cx="329184" cy="329184"/>
          </a:xfrm>
          <a:prstGeom prst="ellipse">
            <a:avLst/>
          </a:prstGeom>
          <a:solidFill>
            <a:srgbClr val="1B3A5C"/>
          </a:solidFill>
          <a:ln w="12700">
            <a:solidFill>
              <a:srgbClr val="1B3A5C"/>
            </a:solidFill>
            <a:prstDash val="solid"/>
          </a:ln>
        </p:spPr>
      </p:sp>
      <p:sp>
        <p:nvSpPr>
          <p:cNvPr id="21" name="Text 19"/>
          <p:cNvSpPr/>
          <p:nvPr/>
        </p:nvSpPr>
        <p:spPr>
          <a:xfrm>
            <a:off x="384048" y="3895344"/>
            <a:ext cx="329184" cy="329184"/>
          </a:xfrm>
          <a:prstGeom prst="rect">
            <a:avLst/>
          </a:prstGeom>
          <a:noFill/>
          <a:ln/>
        </p:spPr>
        <p:txBody>
          <a:bodyPr wrap="square" rtlCol="0" anchor="ctr"/>
          <a:lstStyle/>
          <a:p>
            <a:pPr algn="ctr" indent="0" marL="0">
              <a:buNone/>
            </a:pPr>
            <a:r>
              <a:rPr lang="en-US" sz="1100" b="1" dirty="0">
                <a:solidFill>
                  <a:srgbClr val="FFFFFF"/>
                </a:solidFill>
              </a:rPr>
              <a:t>C</a:t>
            </a:r>
            <a:endParaRPr lang="en-US" sz="1100" dirty="0"/>
          </a:p>
        </p:txBody>
      </p:sp>
      <p:sp>
        <p:nvSpPr>
          <p:cNvPr id="22" name="Text 20"/>
          <p:cNvSpPr/>
          <p:nvPr/>
        </p:nvSpPr>
        <p:spPr>
          <a:xfrm>
            <a:off x="786384" y="3877056"/>
            <a:ext cx="7991856" cy="365760"/>
          </a:xfrm>
          <a:prstGeom prst="rect">
            <a:avLst/>
          </a:prstGeom>
          <a:noFill/>
          <a:ln/>
        </p:spPr>
        <p:txBody>
          <a:bodyPr wrap="square" rtlCol="0" anchor="ctr"/>
          <a:lstStyle/>
          <a:p>
            <a:pPr indent="0" marL="0">
              <a:buNone/>
            </a:pPr>
            <a:r>
              <a:rPr lang="en-US" sz="1250" dirty="0">
                <a:solidFill>
                  <a:srgbClr val="1B2A3B"/>
                </a:solidFill>
              </a:rPr>
              <a:t>RBAC with a custom role scoped to specific resources</a:t>
            </a:r>
            <a:endParaRPr lang="en-US" sz="1250" dirty="0"/>
          </a:p>
        </p:txBody>
      </p:sp>
      <p:sp>
        <p:nvSpPr>
          <p:cNvPr id="23" name="Shape 21"/>
          <p:cNvSpPr/>
          <p:nvPr/>
        </p:nvSpPr>
        <p:spPr>
          <a:xfrm>
            <a:off x="292608" y="4416552"/>
            <a:ext cx="8558784" cy="539496"/>
          </a:xfrm>
          <a:prstGeom prst="rect">
            <a:avLst/>
          </a:prstGeom>
          <a:solidFill>
            <a:srgbClr val="FFFFFF"/>
          </a:solidFill>
          <a:ln w="12700">
            <a:solidFill>
              <a:srgbClr val="C5D8EE"/>
            </a:solidFill>
            <a:prstDash val="solid"/>
          </a:ln>
        </p:spPr>
      </p:sp>
      <p:sp>
        <p:nvSpPr>
          <p:cNvPr id="24" name="Shape 22"/>
          <p:cNvSpPr/>
          <p:nvPr/>
        </p:nvSpPr>
        <p:spPr>
          <a:xfrm>
            <a:off x="384048" y="4526280"/>
            <a:ext cx="329184" cy="329184"/>
          </a:xfrm>
          <a:prstGeom prst="ellipse">
            <a:avLst/>
          </a:prstGeom>
          <a:solidFill>
            <a:srgbClr val="1B3A5C"/>
          </a:solidFill>
          <a:ln w="12700">
            <a:solidFill>
              <a:srgbClr val="1B3A5C"/>
            </a:solidFill>
            <a:prstDash val="solid"/>
          </a:ln>
        </p:spPr>
      </p:sp>
      <p:sp>
        <p:nvSpPr>
          <p:cNvPr id="25" name="Text 23"/>
          <p:cNvSpPr/>
          <p:nvPr/>
        </p:nvSpPr>
        <p:spPr>
          <a:xfrm>
            <a:off x="384048" y="4526280"/>
            <a:ext cx="329184" cy="329184"/>
          </a:xfrm>
          <a:prstGeom prst="rect">
            <a:avLst/>
          </a:prstGeom>
          <a:noFill/>
          <a:ln/>
        </p:spPr>
        <p:txBody>
          <a:bodyPr wrap="square" rtlCol="0" anchor="ctr"/>
          <a:lstStyle/>
          <a:p>
            <a:pPr algn="ctr" indent="0" marL="0">
              <a:buNone/>
            </a:pPr>
            <a:r>
              <a:rPr lang="en-US" sz="1100" b="1" dirty="0">
                <a:solidFill>
                  <a:srgbClr val="FFFFFF"/>
                </a:solidFill>
              </a:rPr>
              <a:t>D</a:t>
            </a:r>
            <a:endParaRPr lang="en-US" sz="1100" dirty="0"/>
          </a:p>
        </p:txBody>
      </p:sp>
      <p:sp>
        <p:nvSpPr>
          <p:cNvPr id="26" name="Text 24"/>
          <p:cNvSpPr/>
          <p:nvPr/>
        </p:nvSpPr>
        <p:spPr>
          <a:xfrm>
            <a:off x="786384" y="4507992"/>
            <a:ext cx="7991856" cy="365760"/>
          </a:xfrm>
          <a:prstGeom prst="rect">
            <a:avLst/>
          </a:prstGeom>
          <a:noFill/>
          <a:ln/>
        </p:spPr>
        <p:txBody>
          <a:bodyPr wrap="square" rtlCol="0" anchor="ctr"/>
          <a:lstStyle/>
          <a:p>
            <a:pPr indent="0" marL="0">
              <a:buNone/>
            </a:pPr>
            <a:r>
              <a:rPr lang="en-US" sz="1250" dirty="0">
                <a:solidFill>
                  <a:srgbClr val="1B2A3B"/>
                </a:solidFill>
              </a:rPr>
              <a:t>Microsoft Entra ID Identity Protection risk policies</a:t>
            </a:r>
            <a:endParaRPr lang="en-US" sz="12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4F8FD"/>
        </a:solidFill>
      </p:bgPr>
    </p:bg>
    <p:spTree>
      <p:nvGrpSpPr>
        <p:cNvPr id="1" name=""/>
        <p:cNvGrpSpPr/>
        <p:nvPr/>
      </p:nvGrpSpPr>
      <p:grpSpPr>
        <a:xfrm>
          <a:off x="0" y="0"/>
          <a:ext cx="0" cy="0"/>
          <a:chOff x="0" y="0"/>
          <a:chExt cx="0" cy="0"/>
        </a:xfrm>
      </p:grpSpPr>
      <p:sp>
        <p:nvSpPr>
          <p:cNvPr id="2" name="Shape 0"/>
          <p:cNvSpPr/>
          <p:nvPr/>
        </p:nvSpPr>
        <p:spPr>
          <a:xfrm>
            <a:off x="0" y="0"/>
            <a:ext cx="146304" cy="5143500"/>
          </a:xfrm>
          <a:prstGeom prst="rect">
            <a:avLst/>
          </a:prstGeom>
          <a:solidFill>
            <a:srgbClr val="107C10"/>
          </a:solidFill>
          <a:ln w="12700">
            <a:solidFill>
              <a:srgbClr val="107C10"/>
            </a:solidFill>
            <a:prstDash val="solid"/>
          </a:ln>
        </p:spPr>
      </p:sp>
      <p:sp>
        <p:nvSpPr>
          <p:cNvPr id="3" name="Shape 1"/>
          <p:cNvSpPr/>
          <p:nvPr/>
        </p:nvSpPr>
        <p:spPr>
          <a:xfrm>
            <a:off x="146304" y="0"/>
            <a:ext cx="8997696" cy="594360"/>
          </a:xfrm>
          <a:prstGeom prst="rect">
            <a:avLst/>
          </a:prstGeom>
          <a:solidFill>
            <a:srgbClr val="0A1628"/>
          </a:solidFill>
          <a:ln w="12700">
            <a:solidFill>
              <a:srgbClr val="0A1628"/>
            </a:solidFill>
            <a:prstDash val="solid"/>
          </a:ln>
        </p:spPr>
      </p:sp>
      <p:sp>
        <p:nvSpPr>
          <p:cNvPr id="4" name="Text 2"/>
          <p:cNvSpPr/>
          <p:nvPr/>
        </p:nvSpPr>
        <p:spPr>
          <a:xfrm>
            <a:off x="292608" y="0"/>
            <a:ext cx="6583680" cy="594360"/>
          </a:xfrm>
          <a:prstGeom prst="rect">
            <a:avLst/>
          </a:prstGeom>
          <a:noFill/>
          <a:ln/>
        </p:spPr>
        <p:txBody>
          <a:bodyPr wrap="square" lIns="0" tIns="0" rIns="0" bIns="0" rtlCol="0" anchor="ctr"/>
          <a:lstStyle/>
          <a:p>
            <a:pPr indent="0" marL="0">
              <a:buNone/>
            </a:pPr>
            <a:r>
              <a:rPr lang="en-US" sz="1200" b="1" dirty="0">
                <a:solidFill>
                  <a:srgbClr val="00FF90"/>
                </a:solidFill>
              </a:rPr>
              <a:t>✅  ANSWER 19  ·  Privileged Identity Management</a:t>
            </a:r>
            <a:endParaRPr lang="en-US" sz="1200" dirty="0"/>
          </a:p>
        </p:txBody>
      </p:sp>
      <p:sp>
        <p:nvSpPr>
          <p:cNvPr id="5" name="Text 3"/>
          <p:cNvSpPr/>
          <p:nvPr/>
        </p:nvSpPr>
        <p:spPr>
          <a:xfrm>
            <a:off x="7498080" y="0"/>
            <a:ext cx="1499616" cy="594360"/>
          </a:xfrm>
          <a:prstGeom prst="rect">
            <a:avLst/>
          </a:prstGeom>
          <a:noFill/>
          <a:ln/>
        </p:spPr>
        <p:txBody>
          <a:bodyPr wrap="square" lIns="0" tIns="0" rIns="0" bIns="0" rtlCol="0" anchor="ctr"/>
          <a:lstStyle/>
          <a:p>
            <a:pPr algn="r" indent="0" marL="0">
              <a:buNone/>
            </a:pPr>
            <a:r>
              <a:rPr lang="en-US" sz="1200" b="1" dirty="0">
                <a:solidFill>
                  <a:srgbClr val="6C8EAD"/>
                </a:solidFill>
              </a:rPr>
              <a:t>19 / 20</a:t>
            </a:r>
            <a:endParaRPr lang="en-US" sz="1200" dirty="0"/>
          </a:p>
        </p:txBody>
      </p:sp>
      <p:sp>
        <p:nvSpPr>
          <p:cNvPr id="6" name="Shape 4"/>
          <p:cNvSpPr/>
          <p:nvPr/>
        </p:nvSpPr>
        <p:spPr>
          <a:xfrm>
            <a:off x="292608" y="658368"/>
            <a:ext cx="8558784" cy="475488"/>
          </a:xfrm>
          <a:prstGeom prst="rect">
            <a:avLst/>
          </a:prstGeom>
          <a:solidFill>
            <a:srgbClr val="E6F3E6"/>
          </a:solidFill>
          <a:ln w="25400">
            <a:solidFill>
              <a:srgbClr val="107C10"/>
            </a:solidFill>
            <a:prstDash val="solid"/>
          </a:ln>
        </p:spPr>
      </p:sp>
      <p:sp>
        <p:nvSpPr>
          <p:cNvPr id="7" name="Text 5"/>
          <p:cNvSpPr/>
          <p:nvPr/>
        </p:nvSpPr>
        <p:spPr>
          <a:xfrm>
            <a:off x="420624" y="658368"/>
            <a:ext cx="8321040" cy="475488"/>
          </a:xfrm>
          <a:prstGeom prst="rect">
            <a:avLst/>
          </a:prstGeom>
          <a:noFill/>
          <a:ln/>
        </p:spPr>
        <p:txBody>
          <a:bodyPr wrap="square" rtlCol="0" anchor="ctr"/>
          <a:lstStyle/>
          <a:p>
            <a:pPr indent="0" marL="0">
              <a:buNone/>
            </a:pPr>
            <a:r>
              <a:rPr lang="en-US" sz="1300" b="1" dirty="0">
                <a:solidFill>
                  <a:srgbClr val="107C10"/>
                </a:solidFill>
              </a:rPr>
              <a:t>✔  Correct: B — Privileged Identity Management (PIM) with eligible role assignments</a:t>
            </a:r>
            <a:endParaRPr lang="en-US" sz="1300" dirty="0"/>
          </a:p>
        </p:txBody>
      </p:sp>
      <p:sp>
        <p:nvSpPr>
          <p:cNvPr id="8" name="Text 6"/>
          <p:cNvSpPr/>
          <p:nvPr/>
        </p:nvSpPr>
        <p:spPr>
          <a:xfrm>
            <a:off x="292608" y="1216152"/>
            <a:ext cx="8558784" cy="292608"/>
          </a:xfrm>
          <a:prstGeom prst="rect">
            <a:avLst/>
          </a:prstGeom>
          <a:noFill/>
          <a:ln/>
        </p:spPr>
        <p:txBody>
          <a:bodyPr wrap="square" rtlCol="0" anchor="ctr"/>
          <a:lstStyle/>
          <a:p>
            <a:pPr indent="0" marL="0">
              <a:buNone/>
            </a:pPr>
            <a:r>
              <a:rPr lang="en-US" sz="1200" b="1" dirty="0">
                <a:solidFill>
                  <a:srgbClr val="0A1628"/>
                </a:solidFill>
              </a:rPr>
              <a:t>Why this is correct</a:t>
            </a:r>
            <a:endParaRPr lang="en-US" sz="1200" dirty="0"/>
          </a:p>
        </p:txBody>
      </p:sp>
      <p:sp>
        <p:nvSpPr>
          <p:cNvPr id="9" name="Shape 7"/>
          <p:cNvSpPr/>
          <p:nvPr/>
        </p:nvSpPr>
        <p:spPr>
          <a:xfrm>
            <a:off x="292608" y="1517904"/>
            <a:ext cx="8558784" cy="1097280"/>
          </a:xfrm>
          <a:prstGeom prst="rect">
            <a:avLst/>
          </a:prstGeom>
          <a:solidFill>
            <a:srgbClr val="FFFFFF"/>
          </a:solidFill>
          <a:ln w="12700">
            <a:solidFill>
              <a:srgbClr val="C5D8EE"/>
            </a:solidFill>
            <a:prstDash val="solid"/>
          </a:ln>
        </p:spPr>
      </p:sp>
      <p:sp>
        <p:nvSpPr>
          <p:cNvPr id="10" name="Text 8"/>
          <p:cNvSpPr/>
          <p:nvPr/>
        </p:nvSpPr>
        <p:spPr>
          <a:xfrm>
            <a:off x="420624" y="1563624"/>
            <a:ext cx="8321040" cy="1005840"/>
          </a:xfrm>
          <a:prstGeom prst="rect">
            <a:avLst/>
          </a:prstGeom>
          <a:noFill/>
          <a:ln/>
        </p:spPr>
        <p:txBody>
          <a:bodyPr wrap="square" rtlCol="0" anchor="t"/>
          <a:lstStyle/>
          <a:p>
            <a:pPr indent="0" marL="0">
              <a:buNone/>
            </a:pPr>
            <a:r>
              <a:rPr lang="en-US" sz="1150" dirty="0">
                <a:solidFill>
                  <a:srgbClr val="1B2A3B"/>
                </a:solidFill>
              </a:rPr>
              <a:t>Privileged Identity Management (PIM) in Microsoft Entra ID P2 allows administrators to be 'eligible' for a role rather than permanently assigned. When access is needed, the user activates the role for a time-limited period, with optional MFA and approval workflow requirements. This is the definition of just-in-time (JIT) access. Conditional Access + MFA still allows permanent assignment. Custom RBAC roles don't provide time-limited activation.</a:t>
            </a:r>
            <a:endParaRPr lang="en-US" sz="1150" dirty="0"/>
          </a:p>
        </p:txBody>
      </p:sp>
      <p:sp>
        <p:nvSpPr>
          <p:cNvPr id="11" name="Text 9"/>
          <p:cNvSpPr/>
          <p:nvPr/>
        </p:nvSpPr>
        <p:spPr>
          <a:xfrm>
            <a:off x="292608" y="2697480"/>
            <a:ext cx="8558784" cy="292608"/>
          </a:xfrm>
          <a:prstGeom prst="rect">
            <a:avLst/>
          </a:prstGeom>
          <a:noFill/>
          <a:ln/>
        </p:spPr>
        <p:txBody>
          <a:bodyPr wrap="square" rtlCol="0" anchor="ctr"/>
          <a:lstStyle/>
          <a:p>
            <a:pPr indent="0" marL="0">
              <a:buNone/>
            </a:pPr>
            <a:r>
              <a:rPr lang="en-US" sz="1200" b="1" dirty="0">
                <a:solidFill>
                  <a:srgbClr val="0A1628"/>
                </a:solidFill>
              </a:rPr>
              <a:t>Why the other options are incorrect</a:t>
            </a:r>
            <a:endParaRPr lang="en-US" sz="1200" dirty="0"/>
          </a:p>
        </p:txBody>
      </p:sp>
      <p:sp>
        <p:nvSpPr>
          <p:cNvPr id="12" name="Shape 10"/>
          <p:cNvSpPr/>
          <p:nvPr/>
        </p:nvSpPr>
        <p:spPr>
          <a:xfrm>
            <a:off x="292608" y="3035808"/>
            <a:ext cx="8558784" cy="603504"/>
          </a:xfrm>
          <a:prstGeom prst="rect">
            <a:avLst/>
          </a:prstGeom>
          <a:solidFill>
            <a:srgbClr val="FAEAEA"/>
          </a:solidFill>
          <a:ln w="12700">
            <a:solidFill>
              <a:srgbClr val="F4AAAA"/>
            </a:solidFill>
            <a:prstDash val="solid"/>
          </a:ln>
        </p:spPr>
      </p:sp>
      <p:sp>
        <p:nvSpPr>
          <p:cNvPr id="13" name="Shape 11"/>
          <p:cNvSpPr/>
          <p:nvPr/>
        </p:nvSpPr>
        <p:spPr>
          <a:xfrm>
            <a:off x="384048" y="3172968"/>
            <a:ext cx="301752" cy="301752"/>
          </a:xfrm>
          <a:prstGeom prst="ellipse">
            <a:avLst/>
          </a:prstGeom>
          <a:solidFill>
            <a:srgbClr val="A80000"/>
          </a:solidFill>
          <a:ln w="12700">
            <a:solidFill>
              <a:srgbClr val="A80000"/>
            </a:solidFill>
            <a:prstDash val="solid"/>
          </a:ln>
        </p:spPr>
      </p:sp>
      <p:sp>
        <p:nvSpPr>
          <p:cNvPr id="14" name="Text 12"/>
          <p:cNvSpPr/>
          <p:nvPr/>
        </p:nvSpPr>
        <p:spPr>
          <a:xfrm>
            <a:off x="384048" y="3172968"/>
            <a:ext cx="301752" cy="301752"/>
          </a:xfrm>
          <a:prstGeom prst="rect">
            <a:avLst/>
          </a:prstGeom>
          <a:noFill/>
          <a:ln/>
        </p:spPr>
        <p:txBody>
          <a:bodyPr wrap="square" rtlCol="0" anchor="ctr"/>
          <a:lstStyle/>
          <a:p>
            <a:pPr algn="ctr" indent="0" marL="0">
              <a:buNone/>
            </a:pPr>
            <a:r>
              <a:rPr lang="en-US" sz="1100" b="1" dirty="0">
                <a:solidFill>
                  <a:srgbClr val="FFFFFF"/>
                </a:solidFill>
              </a:rPr>
              <a:t>A</a:t>
            </a:r>
            <a:endParaRPr lang="en-US" sz="1100" dirty="0"/>
          </a:p>
        </p:txBody>
      </p:sp>
      <p:sp>
        <p:nvSpPr>
          <p:cNvPr id="15" name="Text 13"/>
          <p:cNvSpPr/>
          <p:nvPr/>
        </p:nvSpPr>
        <p:spPr>
          <a:xfrm>
            <a:off x="768096" y="3090672"/>
            <a:ext cx="8010144" cy="493776"/>
          </a:xfrm>
          <a:prstGeom prst="rect">
            <a:avLst/>
          </a:prstGeom>
          <a:noFill/>
          <a:ln/>
        </p:spPr>
        <p:txBody>
          <a:bodyPr wrap="square" rtlCol="0" anchor="ctr"/>
          <a:lstStyle/>
          <a:p>
            <a:pPr indent="0" marL="0">
              <a:buNone/>
            </a:pPr>
            <a:r>
              <a:rPr lang="en-US" sz="1150" dirty="0">
                <a:solidFill>
                  <a:srgbClr val="1B2A3B"/>
                </a:solidFill>
              </a:rPr>
              <a:t>Conditional Access + MFA still allows Global Admins to remain permanently active — it just adds an extra step at sign-in, not time-limiting the role.</a:t>
            </a:r>
            <a:endParaRPr lang="en-US" sz="1150" dirty="0"/>
          </a:p>
        </p:txBody>
      </p:sp>
      <p:sp>
        <p:nvSpPr>
          <p:cNvPr id="16" name="Shape 14"/>
          <p:cNvSpPr/>
          <p:nvPr/>
        </p:nvSpPr>
        <p:spPr>
          <a:xfrm>
            <a:off x="292608" y="3712464"/>
            <a:ext cx="8558784" cy="603504"/>
          </a:xfrm>
          <a:prstGeom prst="rect">
            <a:avLst/>
          </a:prstGeom>
          <a:solidFill>
            <a:srgbClr val="FAEAEA"/>
          </a:solidFill>
          <a:ln w="12700">
            <a:solidFill>
              <a:srgbClr val="F4AAAA"/>
            </a:solidFill>
            <a:prstDash val="solid"/>
          </a:ln>
        </p:spPr>
      </p:sp>
      <p:sp>
        <p:nvSpPr>
          <p:cNvPr id="17" name="Shape 15"/>
          <p:cNvSpPr/>
          <p:nvPr/>
        </p:nvSpPr>
        <p:spPr>
          <a:xfrm>
            <a:off x="384048" y="3849624"/>
            <a:ext cx="301752" cy="301752"/>
          </a:xfrm>
          <a:prstGeom prst="ellipse">
            <a:avLst/>
          </a:prstGeom>
          <a:solidFill>
            <a:srgbClr val="A80000"/>
          </a:solidFill>
          <a:ln w="12700">
            <a:solidFill>
              <a:srgbClr val="A80000"/>
            </a:solidFill>
            <a:prstDash val="solid"/>
          </a:ln>
        </p:spPr>
      </p:sp>
      <p:sp>
        <p:nvSpPr>
          <p:cNvPr id="18" name="Text 16"/>
          <p:cNvSpPr/>
          <p:nvPr/>
        </p:nvSpPr>
        <p:spPr>
          <a:xfrm>
            <a:off x="384048" y="3849624"/>
            <a:ext cx="301752" cy="301752"/>
          </a:xfrm>
          <a:prstGeom prst="rect">
            <a:avLst/>
          </a:prstGeom>
          <a:noFill/>
          <a:ln/>
        </p:spPr>
        <p:txBody>
          <a:bodyPr wrap="square" rtlCol="0" anchor="ctr"/>
          <a:lstStyle/>
          <a:p>
            <a:pPr algn="ctr" indent="0" marL="0">
              <a:buNone/>
            </a:pPr>
            <a:r>
              <a:rPr lang="en-US" sz="1100" b="1" dirty="0">
                <a:solidFill>
                  <a:srgbClr val="FFFFFF"/>
                </a:solidFill>
              </a:rPr>
              <a:t>C</a:t>
            </a:r>
            <a:endParaRPr lang="en-US" sz="1100" dirty="0"/>
          </a:p>
        </p:txBody>
      </p:sp>
      <p:sp>
        <p:nvSpPr>
          <p:cNvPr id="19" name="Text 17"/>
          <p:cNvSpPr/>
          <p:nvPr/>
        </p:nvSpPr>
        <p:spPr>
          <a:xfrm>
            <a:off x="768096" y="3767328"/>
            <a:ext cx="8010144" cy="493776"/>
          </a:xfrm>
          <a:prstGeom prst="rect">
            <a:avLst/>
          </a:prstGeom>
          <a:noFill/>
          <a:ln/>
        </p:spPr>
        <p:txBody>
          <a:bodyPr wrap="square" rtlCol="0" anchor="ctr"/>
          <a:lstStyle/>
          <a:p>
            <a:pPr indent="0" marL="0">
              <a:buNone/>
            </a:pPr>
            <a:r>
              <a:rPr lang="en-US" sz="1150" dirty="0">
                <a:solidFill>
                  <a:srgbClr val="1B2A3B"/>
                </a:solidFill>
              </a:rPr>
              <a:t>Custom RBAC roles define what actions are allowed, but do not provide time-limited, approval-gated role activation.</a:t>
            </a:r>
            <a:endParaRPr lang="en-US" sz="1150" dirty="0"/>
          </a:p>
        </p:txBody>
      </p:sp>
      <p:sp>
        <p:nvSpPr>
          <p:cNvPr id="20" name="Shape 18"/>
          <p:cNvSpPr/>
          <p:nvPr/>
        </p:nvSpPr>
        <p:spPr>
          <a:xfrm>
            <a:off x="292608" y="4389120"/>
            <a:ext cx="8558784" cy="603504"/>
          </a:xfrm>
          <a:prstGeom prst="rect">
            <a:avLst/>
          </a:prstGeom>
          <a:solidFill>
            <a:srgbClr val="FAEAEA"/>
          </a:solidFill>
          <a:ln w="12700">
            <a:solidFill>
              <a:srgbClr val="F4AAAA"/>
            </a:solidFill>
            <a:prstDash val="solid"/>
          </a:ln>
        </p:spPr>
      </p:sp>
      <p:sp>
        <p:nvSpPr>
          <p:cNvPr id="21" name="Shape 19"/>
          <p:cNvSpPr/>
          <p:nvPr/>
        </p:nvSpPr>
        <p:spPr>
          <a:xfrm>
            <a:off x="384048" y="4526280"/>
            <a:ext cx="301752" cy="301752"/>
          </a:xfrm>
          <a:prstGeom prst="ellipse">
            <a:avLst/>
          </a:prstGeom>
          <a:solidFill>
            <a:srgbClr val="A80000"/>
          </a:solidFill>
          <a:ln w="12700">
            <a:solidFill>
              <a:srgbClr val="A80000"/>
            </a:solidFill>
            <a:prstDash val="solid"/>
          </a:ln>
        </p:spPr>
      </p:sp>
      <p:sp>
        <p:nvSpPr>
          <p:cNvPr id="22" name="Text 20"/>
          <p:cNvSpPr/>
          <p:nvPr/>
        </p:nvSpPr>
        <p:spPr>
          <a:xfrm>
            <a:off x="384048" y="4526280"/>
            <a:ext cx="301752" cy="301752"/>
          </a:xfrm>
          <a:prstGeom prst="rect">
            <a:avLst/>
          </a:prstGeom>
          <a:noFill/>
          <a:ln/>
        </p:spPr>
        <p:txBody>
          <a:bodyPr wrap="square" rtlCol="0" anchor="ctr"/>
          <a:lstStyle/>
          <a:p>
            <a:pPr algn="ctr" indent="0" marL="0">
              <a:buNone/>
            </a:pPr>
            <a:r>
              <a:rPr lang="en-US" sz="1100" b="1" dirty="0">
                <a:solidFill>
                  <a:srgbClr val="FFFFFF"/>
                </a:solidFill>
              </a:rPr>
              <a:t>D</a:t>
            </a:r>
            <a:endParaRPr lang="en-US" sz="1100" dirty="0"/>
          </a:p>
        </p:txBody>
      </p:sp>
      <p:sp>
        <p:nvSpPr>
          <p:cNvPr id="23" name="Text 21"/>
          <p:cNvSpPr/>
          <p:nvPr/>
        </p:nvSpPr>
        <p:spPr>
          <a:xfrm>
            <a:off x="768096" y="4443984"/>
            <a:ext cx="8010144" cy="493776"/>
          </a:xfrm>
          <a:prstGeom prst="rect">
            <a:avLst/>
          </a:prstGeom>
          <a:noFill/>
          <a:ln/>
        </p:spPr>
        <p:txBody>
          <a:bodyPr wrap="square" rtlCol="0" anchor="ctr"/>
          <a:lstStyle/>
          <a:p>
            <a:pPr indent="0" marL="0">
              <a:buNone/>
            </a:pPr>
            <a:r>
              <a:rPr lang="en-US" sz="1150" dirty="0">
                <a:solidFill>
                  <a:srgbClr val="1B2A3B"/>
                </a:solidFill>
              </a:rPr>
              <a:t>Identity Protection detects risky sign-ins and users and can enforce remediation, but does not manage just-in-time role activation.</a:t>
            </a:r>
            <a:endParaRPr lang="en-US" sz="11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4F8FD"/>
        </a:solidFill>
      </p:bgPr>
    </p:bg>
    <p:spTree>
      <p:nvGrpSpPr>
        <p:cNvPr id="1" name=""/>
        <p:cNvGrpSpPr/>
        <p:nvPr/>
      </p:nvGrpSpPr>
      <p:grpSpPr>
        <a:xfrm>
          <a:off x="0" y="0"/>
          <a:ext cx="0" cy="0"/>
          <a:chOff x="0" y="0"/>
          <a:chExt cx="0" cy="0"/>
        </a:xfrm>
      </p:grpSpPr>
      <p:sp>
        <p:nvSpPr>
          <p:cNvPr id="2" name="Shape 0"/>
          <p:cNvSpPr/>
          <p:nvPr/>
        </p:nvSpPr>
        <p:spPr>
          <a:xfrm>
            <a:off x="0" y="0"/>
            <a:ext cx="146304" cy="5143500"/>
          </a:xfrm>
          <a:prstGeom prst="rect">
            <a:avLst/>
          </a:prstGeom>
          <a:solidFill>
            <a:srgbClr val="0078D4"/>
          </a:solidFill>
          <a:ln w="12700">
            <a:solidFill>
              <a:srgbClr val="0078D4"/>
            </a:solidFill>
            <a:prstDash val="solid"/>
          </a:ln>
        </p:spPr>
      </p:sp>
      <p:sp>
        <p:nvSpPr>
          <p:cNvPr id="3" name="Shape 1"/>
          <p:cNvSpPr/>
          <p:nvPr/>
        </p:nvSpPr>
        <p:spPr>
          <a:xfrm>
            <a:off x="146304" y="0"/>
            <a:ext cx="8997696" cy="594360"/>
          </a:xfrm>
          <a:prstGeom prst="rect">
            <a:avLst/>
          </a:prstGeom>
          <a:solidFill>
            <a:srgbClr val="0A1628"/>
          </a:solidFill>
          <a:ln w="12700">
            <a:solidFill>
              <a:srgbClr val="0A1628"/>
            </a:solidFill>
            <a:prstDash val="solid"/>
          </a:ln>
        </p:spPr>
      </p:sp>
      <p:sp>
        <p:nvSpPr>
          <p:cNvPr id="4" name="Text 2"/>
          <p:cNvSpPr/>
          <p:nvPr/>
        </p:nvSpPr>
        <p:spPr>
          <a:xfrm>
            <a:off x="292608" y="0"/>
            <a:ext cx="6583680" cy="594360"/>
          </a:xfrm>
          <a:prstGeom prst="rect">
            <a:avLst/>
          </a:prstGeom>
          <a:noFill/>
          <a:ln/>
        </p:spPr>
        <p:txBody>
          <a:bodyPr wrap="square" lIns="0" tIns="0" rIns="0" bIns="0" rtlCol="0" anchor="ctr"/>
          <a:lstStyle/>
          <a:p>
            <a:pPr indent="0" marL="0">
              <a:buNone/>
            </a:pPr>
            <a:r>
              <a:rPr lang="en-US" sz="1200" b="1" dirty="0">
                <a:solidFill>
                  <a:srgbClr val="50E6FF"/>
                </a:solidFill>
              </a:rPr>
              <a:t>❓  QUESTION 20  ·  Managed Identities</a:t>
            </a:r>
            <a:endParaRPr lang="en-US" sz="1200" dirty="0"/>
          </a:p>
        </p:txBody>
      </p:sp>
      <p:sp>
        <p:nvSpPr>
          <p:cNvPr id="5" name="Text 3"/>
          <p:cNvSpPr/>
          <p:nvPr/>
        </p:nvSpPr>
        <p:spPr>
          <a:xfrm>
            <a:off x="7498080" y="0"/>
            <a:ext cx="1499616" cy="594360"/>
          </a:xfrm>
          <a:prstGeom prst="rect">
            <a:avLst/>
          </a:prstGeom>
          <a:noFill/>
          <a:ln/>
        </p:spPr>
        <p:txBody>
          <a:bodyPr wrap="square" lIns="0" tIns="0" rIns="0" bIns="0" rtlCol="0" anchor="ctr"/>
          <a:lstStyle/>
          <a:p>
            <a:pPr algn="r" indent="0" marL="0">
              <a:buNone/>
            </a:pPr>
            <a:r>
              <a:rPr lang="en-US" sz="1200" b="1" dirty="0">
                <a:solidFill>
                  <a:srgbClr val="6C8EAD"/>
                </a:solidFill>
              </a:rPr>
              <a:t>20 / 20</a:t>
            </a:r>
            <a:endParaRPr lang="en-US" sz="1200" dirty="0"/>
          </a:p>
        </p:txBody>
      </p:sp>
      <p:sp>
        <p:nvSpPr>
          <p:cNvPr id="6" name="Shape 4"/>
          <p:cNvSpPr/>
          <p:nvPr/>
        </p:nvSpPr>
        <p:spPr>
          <a:xfrm>
            <a:off x="292608" y="685800"/>
            <a:ext cx="1097280" cy="256032"/>
          </a:xfrm>
          <a:prstGeom prst="rect">
            <a:avLst/>
          </a:prstGeom>
          <a:solidFill>
            <a:srgbClr val="0078D4"/>
          </a:solidFill>
          <a:ln w="12700">
            <a:solidFill>
              <a:srgbClr val="0078D4"/>
            </a:solidFill>
            <a:prstDash val="solid"/>
          </a:ln>
        </p:spPr>
      </p:sp>
      <p:sp>
        <p:nvSpPr>
          <p:cNvPr id="7" name="Text 5"/>
          <p:cNvSpPr/>
          <p:nvPr/>
        </p:nvSpPr>
        <p:spPr>
          <a:xfrm>
            <a:off x="292608" y="685800"/>
            <a:ext cx="1097280" cy="256032"/>
          </a:xfrm>
          <a:prstGeom prst="rect">
            <a:avLst/>
          </a:prstGeom>
          <a:noFill/>
          <a:ln/>
        </p:spPr>
        <p:txBody>
          <a:bodyPr wrap="square" rtlCol="0" anchor="ctr"/>
          <a:lstStyle/>
          <a:p>
            <a:pPr algn="ctr" indent="0" marL="0">
              <a:buNone/>
            </a:pPr>
            <a:r>
              <a:rPr lang="en-US" sz="800" b="1" dirty="0">
                <a:solidFill>
                  <a:srgbClr val="FFFFFF"/>
                </a:solidFill>
              </a:rPr>
              <a:t>SCENARIO</a:t>
            </a:r>
            <a:endParaRPr lang="en-US" sz="800" dirty="0"/>
          </a:p>
        </p:txBody>
      </p:sp>
      <p:sp>
        <p:nvSpPr>
          <p:cNvPr id="8" name="Shape 6"/>
          <p:cNvSpPr/>
          <p:nvPr/>
        </p:nvSpPr>
        <p:spPr>
          <a:xfrm>
            <a:off x="292608" y="978408"/>
            <a:ext cx="8558784" cy="960120"/>
          </a:xfrm>
          <a:prstGeom prst="rect">
            <a:avLst/>
          </a:prstGeom>
          <a:solidFill>
            <a:srgbClr val="EBF4FF"/>
          </a:solidFill>
          <a:ln w="12700">
            <a:solidFill>
              <a:srgbClr val="0078D4"/>
            </a:solidFill>
            <a:prstDash val="solid"/>
          </a:ln>
        </p:spPr>
      </p:sp>
      <p:sp>
        <p:nvSpPr>
          <p:cNvPr id="9" name="Text 7"/>
          <p:cNvSpPr/>
          <p:nvPr/>
        </p:nvSpPr>
        <p:spPr>
          <a:xfrm>
            <a:off x="420624" y="1024128"/>
            <a:ext cx="8321040" cy="868680"/>
          </a:xfrm>
          <a:prstGeom prst="rect">
            <a:avLst/>
          </a:prstGeom>
          <a:noFill/>
          <a:ln/>
        </p:spPr>
        <p:txBody>
          <a:bodyPr wrap="square" rtlCol="0" anchor="t"/>
          <a:lstStyle/>
          <a:p>
            <a:pPr indent="0" marL="0">
              <a:buNone/>
            </a:pPr>
            <a:r>
              <a:rPr lang="en-US" sz="1250" dirty="0">
                <a:solidFill>
                  <a:srgbClr val="1B2A3B"/>
                </a:solidFill>
              </a:rPr>
              <a:t>A developer has hard-coded Azure Storage Account credentials (access keys) in an Azure Function's application code to allow it to read blobs. The security team flags this as a vulnerability and requires credentials to be removed from code entirely.</a:t>
            </a:r>
            <a:endParaRPr lang="en-US" sz="1250" dirty="0"/>
          </a:p>
        </p:txBody>
      </p:sp>
      <p:sp>
        <p:nvSpPr>
          <p:cNvPr id="10" name="Text 8"/>
          <p:cNvSpPr/>
          <p:nvPr/>
        </p:nvSpPr>
        <p:spPr>
          <a:xfrm>
            <a:off x="292608" y="2048256"/>
            <a:ext cx="8558784" cy="420624"/>
          </a:xfrm>
          <a:prstGeom prst="rect">
            <a:avLst/>
          </a:prstGeom>
          <a:noFill/>
          <a:ln/>
        </p:spPr>
        <p:txBody>
          <a:bodyPr wrap="square" rtlCol="0" anchor="ctr"/>
          <a:lstStyle/>
          <a:p>
            <a:pPr indent="0" marL="0">
              <a:buNone/>
            </a:pPr>
            <a:r>
              <a:rPr lang="en-US" sz="1350" b="1" dirty="0">
                <a:solidFill>
                  <a:srgbClr val="0A1628"/>
                </a:solidFill>
              </a:rPr>
              <a:t>What is the recommended Azure-native solution to eliminate stored credentials?</a:t>
            </a:r>
            <a:endParaRPr lang="en-US" sz="1350" dirty="0"/>
          </a:p>
        </p:txBody>
      </p:sp>
      <p:sp>
        <p:nvSpPr>
          <p:cNvPr id="11" name="Shape 9"/>
          <p:cNvSpPr/>
          <p:nvPr/>
        </p:nvSpPr>
        <p:spPr>
          <a:xfrm>
            <a:off x="292608" y="2523744"/>
            <a:ext cx="8558784" cy="539496"/>
          </a:xfrm>
          <a:prstGeom prst="rect">
            <a:avLst/>
          </a:prstGeom>
          <a:solidFill>
            <a:srgbClr val="FFFFFF"/>
          </a:solidFill>
          <a:ln w="12700">
            <a:solidFill>
              <a:srgbClr val="C5D8EE"/>
            </a:solidFill>
            <a:prstDash val="solid"/>
          </a:ln>
        </p:spPr>
      </p:sp>
      <p:sp>
        <p:nvSpPr>
          <p:cNvPr id="12" name="Shape 10"/>
          <p:cNvSpPr/>
          <p:nvPr/>
        </p:nvSpPr>
        <p:spPr>
          <a:xfrm>
            <a:off x="384048" y="2633472"/>
            <a:ext cx="329184" cy="329184"/>
          </a:xfrm>
          <a:prstGeom prst="ellipse">
            <a:avLst/>
          </a:prstGeom>
          <a:solidFill>
            <a:srgbClr val="1B3A5C"/>
          </a:solidFill>
          <a:ln w="12700">
            <a:solidFill>
              <a:srgbClr val="1B3A5C"/>
            </a:solidFill>
            <a:prstDash val="solid"/>
          </a:ln>
        </p:spPr>
      </p:sp>
      <p:sp>
        <p:nvSpPr>
          <p:cNvPr id="13" name="Text 11"/>
          <p:cNvSpPr/>
          <p:nvPr/>
        </p:nvSpPr>
        <p:spPr>
          <a:xfrm>
            <a:off x="384048" y="2633472"/>
            <a:ext cx="329184" cy="329184"/>
          </a:xfrm>
          <a:prstGeom prst="rect">
            <a:avLst/>
          </a:prstGeom>
          <a:noFill/>
          <a:ln/>
        </p:spPr>
        <p:txBody>
          <a:bodyPr wrap="square" rtlCol="0" anchor="ctr"/>
          <a:lstStyle/>
          <a:p>
            <a:pPr algn="ctr" indent="0" marL="0">
              <a:buNone/>
            </a:pPr>
            <a:r>
              <a:rPr lang="en-US" sz="1100" b="1" dirty="0">
                <a:solidFill>
                  <a:srgbClr val="FFFFFF"/>
                </a:solidFill>
              </a:rPr>
              <a:t>A</a:t>
            </a:r>
            <a:endParaRPr lang="en-US" sz="1100" dirty="0"/>
          </a:p>
        </p:txBody>
      </p:sp>
      <p:sp>
        <p:nvSpPr>
          <p:cNvPr id="14" name="Text 12"/>
          <p:cNvSpPr/>
          <p:nvPr/>
        </p:nvSpPr>
        <p:spPr>
          <a:xfrm>
            <a:off x="786384" y="2615184"/>
            <a:ext cx="7991856" cy="365760"/>
          </a:xfrm>
          <a:prstGeom prst="rect">
            <a:avLst/>
          </a:prstGeom>
          <a:noFill/>
          <a:ln/>
        </p:spPr>
        <p:txBody>
          <a:bodyPr wrap="square" rtlCol="0" anchor="ctr"/>
          <a:lstStyle/>
          <a:p>
            <a:pPr indent="0" marL="0">
              <a:buNone/>
            </a:pPr>
            <a:r>
              <a:rPr lang="en-US" sz="1250" dirty="0">
                <a:solidFill>
                  <a:srgbClr val="1B2A3B"/>
                </a:solidFill>
              </a:rPr>
              <a:t>Store the credentials in Azure Key Vault and reference them in code</a:t>
            </a:r>
            <a:endParaRPr lang="en-US" sz="1250" dirty="0"/>
          </a:p>
        </p:txBody>
      </p:sp>
      <p:sp>
        <p:nvSpPr>
          <p:cNvPr id="15" name="Shape 13"/>
          <p:cNvSpPr/>
          <p:nvPr/>
        </p:nvSpPr>
        <p:spPr>
          <a:xfrm>
            <a:off x="292608" y="3154680"/>
            <a:ext cx="8558784" cy="539496"/>
          </a:xfrm>
          <a:prstGeom prst="rect">
            <a:avLst/>
          </a:prstGeom>
          <a:solidFill>
            <a:srgbClr val="FFFFFF"/>
          </a:solidFill>
          <a:ln w="12700">
            <a:solidFill>
              <a:srgbClr val="C5D8EE"/>
            </a:solidFill>
            <a:prstDash val="solid"/>
          </a:ln>
        </p:spPr>
      </p:sp>
      <p:sp>
        <p:nvSpPr>
          <p:cNvPr id="16" name="Shape 14"/>
          <p:cNvSpPr/>
          <p:nvPr/>
        </p:nvSpPr>
        <p:spPr>
          <a:xfrm>
            <a:off x="384048" y="3264408"/>
            <a:ext cx="329184" cy="329184"/>
          </a:xfrm>
          <a:prstGeom prst="ellipse">
            <a:avLst/>
          </a:prstGeom>
          <a:solidFill>
            <a:srgbClr val="1B3A5C"/>
          </a:solidFill>
          <a:ln w="12700">
            <a:solidFill>
              <a:srgbClr val="1B3A5C"/>
            </a:solidFill>
            <a:prstDash val="solid"/>
          </a:ln>
        </p:spPr>
      </p:sp>
      <p:sp>
        <p:nvSpPr>
          <p:cNvPr id="17" name="Text 15"/>
          <p:cNvSpPr/>
          <p:nvPr/>
        </p:nvSpPr>
        <p:spPr>
          <a:xfrm>
            <a:off x="384048" y="3264408"/>
            <a:ext cx="329184" cy="329184"/>
          </a:xfrm>
          <a:prstGeom prst="rect">
            <a:avLst/>
          </a:prstGeom>
          <a:noFill/>
          <a:ln/>
        </p:spPr>
        <p:txBody>
          <a:bodyPr wrap="square" rtlCol="0" anchor="ctr"/>
          <a:lstStyle/>
          <a:p>
            <a:pPr algn="ctr" indent="0" marL="0">
              <a:buNone/>
            </a:pPr>
            <a:r>
              <a:rPr lang="en-US" sz="1100" b="1" dirty="0">
                <a:solidFill>
                  <a:srgbClr val="FFFFFF"/>
                </a:solidFill>
              </a:rPr>
              <a:t>B</a:t>
            </a:r>
            <a:endParaRPr lang="en-US" sz="1100" dirty="0"/>
          </a:p>
        </p:txBody>
      </p:sp>
      <p:sp>
        <p:nvSpPr>
          <p:cNvPr id="18" name="Text 16"/>
          <p:cNvSpPr/>
          <p:nvPr/>
        </p:nvSpPr>
        <p:spPr>
          <a:xfrm>
            <a:off x="786384" y="3246120"/>
            <a:ext cx="7991856" cy="365760"/>
          </a:xfrm>
          <a:prstGeom prst="rect">
            <a:avLst/>
          </a:prstGeom>
          <a:noFill/>
          <a:ln/>
        </p:spPr>
        <p:txBody>
          <a:bodyPr wrap="square" rtlCol="0" anchor="ctr"/>
          <a:lstStyle/>
          <a:p>
            <a:pPr indent="0" marL="0">
              <a:buNone/>
            </a:pPr>
            <a:r>
              <a:rPr lang="en-US" sz="1250" dirty="0">
                <a:solidFill>
                  <a:srgbClr val="1B2A3B"/>
                </a:solidFill>
              </a:rPr>
              <a:t>Assign a Managed Identity to the Azure Function and grant it RBAC access to the Storage Account</a:t>
            </a:r>
            <a:endParaRPr lang="en-US" sz="1250" dirty="0"/>
          </a:p>
        </p:txBody>
      </p:sp>
      <p:sp>
        <p:nvSpPr>
          <p:cNvPr id="19" name="Shape 17"/>
          <p:cNvSpPr/>
          <p:nvPr/>
        </p:nvSpPr>
        <p:spPr>
          <a:xfrm>
            <a:off x="292608" y="3785616"/>
            <a:ext cx="8558784" cy="539496"/>
          </a:xfrm>
          <a:prstGeom prst="rect">
            <a:avLst/>
          </a:prstGeom>
          <a:solidFill>
            <a:srgbClr val="FFFFFF"/>
          </a:solidFill>
          <a:ln w="12700">
            <a:solidFill>
              <a:srgbClr val="C5D8EE"/>
            </a:solidFill>
            <a:prstDash val="solid"/>
          </a:ln>
        </p:spPr>
      </p:sp>
      <p:sp>
        <p:nvSpPr>
          <p:cNvPr id="20" name="Shape 18"/>
          <p:cNvSpPr/>
          <p:nvPr/>
        </p:nvSpPr>
        <p:spPr>
          <a:xfrm>
            <a:off x="384048" y="3895344"/>
            <a:ext cx="329184" cy="329184"/>
          </a:xfrm>
          <a:prstGeom prst="ellipse">
            <a:avLst/>
          </a:prstGeom>
          <a:solidFill>
            <a:srgbClr val="1B3A5C"/>
          </a:solidFill>
          <a:ln w="12700">
            <a:solidFill>
              <a:srgbClr val="1B3A5C"/>
            </a:solidFill>
            <a:prstDash val="solid"/>
          </a:ln>
        </p:spPr>
      </p:sp>
      <p:sp>
        <p:nvSpPr>
          <p:cNvPr id="21" name="Text 19"/>
          <p:cNvSpPr/>
          <p:nvPr/>
        </p:nvSpPr>
        <p:spPr>
          <a:xfrm>
            <a:off x="384048" y="3895344"/>
            <a:ext cx="329184" cy="329184"/>
          </a:xfrm>
          <a:prstGeom prst="rect">
            <a:avLst/>
          </a:prstGeom>
          <a:noFill/>
          <a:ln/>
        </p:spPr>
        <p:txBody>
          <a:bodyPr wrap="square" rtlCol="0" anchor="ctr"/>
          <a:lstStyle/>
          <a:p>
            <a:pPr algn="ctr" indent="0" marL="0">
              <a:buNone/>
            </a:pPr>
            <a:r>
              <a:rPr lang="en-US" sz="1100" b="1" dirty="0">
                <a:solidFill>
                  <a:srgbClr val="FFFFFF"/>
                </a:solidFill>
              </a:rPr>
              <a:t>C</a:t>
            </a:r>
            <a:endParaRPr lang="en-US" sz="1100" dirty="0"/>
          </a:p>
        </p:txBody>
      </p:sp>
      <p:sp>
        <p:nvSpPr>
          <p:cNvPr id="22" name="Text 20"/>
          <p:cNvSpPr/>
          <p:nvPr/>
        </p:nvSpPr>
        <p:spPr>
          <a:xfrm>
            <a:off x="786384" y="3877056"/>
            <a:ext cx="7991856" cy="365760"/>
          </a:xfrm>
          <a:prstGeom prst="rect">
            <a:avLst/>
          </a:prstGeom>
          <a:noFill/>
          <a:ln/>
        </p:spPr>
        <p:txBody>
          <a:bodyPr wrap="square" rtlCol="0" anchor="ctr"/>
          <a:lstStyle/>
          <a:p>
            <a:pPr indent="0" marL="0">
              <a:buNone/>
            </a:pPr>
            <a:r>
              <a:rPr lang="en-US" sz="1250" dirty="0">
                <a:solidFill>
                  <a:srgbClr val="1B2A3B"/>
                </a:solidFill>
              </a:rPr>
              <a:t>Rotate the access keys every 30 days using an automation script</a:t>
            </a:r>
            <a:endParaRPr lang="en-US" sz="1250" dirty="0"/>
          </a:p>
        </p:txBody>
      </p:sp>
      <p:sp>
        <p:nvSpPr>
          <p:cNvPr id="23" name="Shape 21"/>
          <p:cNvSpPr/>
          <p:nvPr/>
        </p:nvSpPr>
        <p:spPr>
          <a:xfrm>
            <a:off x="292608" y="4416552"/>
            <a:ext cx="8558784" cy="539496"/>
          </a:xfrm>
          <a:prstGeom prst="rect">
            <a:avLst/>
          </a:prstGeom>
          <a:solidFill>
            <a:srgbClr val="FFFFFF"/>
          </a:solidFill>
          <a:ln w="12700">
            <a:solidFill>
              <a:srgbClr val="C5D8EE"/>
            </a:solidFill>
            <a:prstDash val="solid"/>
          </a:ln>
        </p:spPr>
      </p:sp>
      <p:sp>
        <p:nvSpPr>
          <p:cNvPr id="24" name="Shape 22"/>
          <p:cNvSpPr/>
          <p:nvPr/>
        </p:nvSpPr>
        <p:spPr>
          <a:xfrm>
            <a:off x="384048" y="4526280"/>
            <a:ext cx="329184" cy="329184"/>
          </a:xfrm>
          <a:prstGeom prst="ellipse">
            <a:avLst/>
          </a:prstGeom>
          <a:solidFill>
            <a:srgbClr val="1B3A5C"/>
          </a:solidFill>
          <a:ln w="12700">
            <a:solidFill>
              <a:srgbClr val="1B3A5C"/>
            </a:solidFill>
            <a:prstDash val="solid"/>
          </a:ln>
        </p:spPr>
      </p:sp>
      <p:sp>
        <p:nvSpPr>
          <p:cNvPr id="25" name="Text 23"/>
          <p:cNvSpPr/>
          <p:nvPr/>
        </p:nvSpPr>
        <p:spPr>
          <a:xfrm>
            <a:off x="384048" y="4526280"/>
            <a:ext cx="329184" cy="329184"/>
          </a:xfrm>
          <a:prstGeom prst="rect">
            <a:avLst/>
          </a:prstGeom>
          <a:noFill/>
          <a:ln/>
        </p:spPr>
        <p:txBody>
          <a:bodyPr wrap="square" rtlCol="0" anchor="ctr"/>
          <a:lstStyle/>
          <a:p>
            <a:pPr algn="ctr" indent="0" marL="0">
              <a:buNone/>
            </a:pPr>
            <a:r>
              <a:rPr lang="en-US" sz="1100" b="1" dirty="0">
                <a:solidFill>
                  <a:srgbClr val="FFFFFF"/>
                </a:solidFill>
              </a:rPr>
              <a:t>D</a:t>
            </a:r>
            <a:endParaRPr lang="en-US" sz="1100" dirty="0"/>
          </a:p>
        </p:txBody>
      </p:sp>
      <p:sp>
        <p:nvSpPr>
          <p:cNvPr id="26" name="Text 24"/>
          <p:cNvSpPr/>
          <p:nvPr/>
        </p:nvSpPr>
        <p:spPr>
          <a:xfrm>
            <a:off x="786384" y="4507992"/>
            <a:ext cx="7991856" cy="365760"/>
          </a:xfrm>
          <a:prstGeom prst="rect">
            <a:avLst/>
          </a:prstGeom>
          <a:noFill/>
          <a:ln/>
        </p:spPr>
        <p:txBody>
          <a:bodyPr wrap="square" rtlCol="0" anchor="ctr"/>
          <a:lstStyle/>
          <a:p>
            <a:pPr indent="0" marL="0">
              <a:buNone/>
            </a:pPr>
            <a:r>
              <a:rPr lang="en-US" sz="1250" dirty="0">
                <a:solidFill>
                  <a:srgbClr val="1B2A3B"/>
                </a:solidFill>
              </a:rPr>
              <a:t>Use a Service Principal with a certificate instead of a password</a:t>
            </a:r>
            <a:endParaRPr lang="en-US" sz="12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4F8FD"/>
        </a:solidFill>
      </p:bgPr>
    </p:bg>
    <p:spTree>
      <p:nvGrpSpPr>
        <p:cNvPr id="1" name=""/>
        <p:cNvGrpSpPr/>
        <p:nvPr/>
      </p:nvGrpSpPr>
      <p:grpSpPr>
        <a:xfrm>
          <a:off x="0" y="0"/>
          <a:ext cx="0" cy="0"/>
          <a:chOff x="0" y="0"/>
          <a:chExt cx="0" cy="0"/>
        </a:xfrm>
      </p:grpSpPr>
      <p:sp>
        <p:nvSpPr>
          <p:cNvPr id="2" name="Shape 0"/>
          <p:cNvSpPr/>
          <p:nvPr/>
        </p:nvSpPr>
        <p:spPr>
          <a:xfrm>
            <a:off x="0" y="0"/>
            <a:ext cx="146304" cy="5143500"/>
          </a:xfrm>
          <a:prstGeom prst="rect">
            <a:avLst/>
          </a:prstGeom>
          <a:solidFill>
            <a:srgbClr val="107C10"/>
          </a:solidFill>
          <a:ln w="12700">
            <a:solidFill>
              <a:srgbClr val="107C10"/>
            </a:solidFill>
            <a:prstDash val="solid"/>
          </a:ln>
        </p:spPr>
      </p:sp>
      <p:sp>
        <p:nvSpPr>
          <p:cNvPr id="3" name="Shape 1"/>
          <p:cNvSpPr/>
          <p:nvPr/>
        </p:nvSpPr>
        <p:spPr>
          <a:xfrm>
            <a:off x="146304" y="0"/>
            <a:ext cx="8997696" cy="594360"/>
          </a:xfrm>
          <a:prstGeom prst="rect">
            <a:avLst/>
          </a:prstGeom>
          <a:solidFill>
            <a:srgbClr val="0A1628"/>
          </a:solidFill>
          <a:ln w="12700">
            <a:solidFill>
              <a:srgbClr val="0A1628"/>
            </a:solidFill>
            <a:prstDash val="solid"/>
          </a:ln>
        </p:spPr>
      </p:sp>
      <p:sp>
        <p:nvSpPr>
          <p:cNvPr id="4" name="Text 2"/>
          <p:cNvSpPr/>
          <p:nvPr/>
        </p:nvSpPr>
        <p:spPr>
          <a:xfrm>
            <a:off x="292608" y="0"/>
            <a:ext cx="6583680" cy="594360"/>
          </a:xfrm>
          <a:prstGeom prst="rect">
            <a:avLst/>
          </a:prstGeom>
          <a:noFill/>
          <a:ln/>
        </p:spPr>
        <p:txBody>
          <a:bodyPr wrap="square" lIns="0" tIns="0" rIns="0" bIns="0" rtlCol="0" anchor="ctr"/>
          <a:lstStyle/>
          <a:p>
            <a:pPr indent="0" marL="0">
              <a:buNone/>
            </a:pPr>
            <a:r>
              <a:rPr lang="en-US" sz="1200" b="1" dirty="0">
                <a:solidFill>
                  <a:srgbClr val="00FF90"/>
                </a:solidFill>
              </a:rPr>
              <a:t>✅  ANSWER 20  ·  Managed Identities</a:t>
            </a:r>
            <a:endParaRPr lang="en-US" sz="1200" dirty="0"/>
          </a:p>
        </p:txBody>
      </p:sp>
      <p:sp>
        <p:nvSpPr>
          <p:cNvPr id="5" name="Text 3"/>
          <p:cNvSpPr/>
          <p:nvPr/>
        </p:nvSpPr>
        <p:spPr>
          <a:xfrm>
            <a:off x="7498080" y="0"/>
            <a:ext cx="1499616" cy="594360"/>
          </a:xfrm>
          <a:prstGeom prst="rect">
            <a:avLst/>
          </a:prstGeom>
          <a:noFill/>
          <a:ln/>
        </p:spPr>
        <p:txBody>
          <a:bodyPr wrap="square" lIns="0" tIns="0" rIns="0" bIns="0" rtlCol="0" anchor="ctr"/>
          <a:lstStyle/>
          <a:p>
            <a:pPr algn="r" indent="0" marL="0">
              <a:buNone/>
            </a:pPr>
            <a:r>
              <a:rPr lang="en-US" sz="1200" b="1" dirty="0">
                <a:solidFill>
                  <a:srgbClr val="6C8EAD"/>
                </a:solidFill>
              </a:rPr>
              <a:t>20 / 20</a:t>
            </a:r>
            <a:endParaRPr lang="en-US" sz="1200" dirty="0"/>
          </a:p>
        </p:txBody>
      </p:sp>
      <p:sp>
        <p:nvSpPr>
          <p:cNvPr id="6" name="Shape 4"/>
          <p:cNvSpPr/>
          <p:nvPr/>
        </p:nvSpPr>
        <p:spPr>
          <a:xfrm>
            <a:off x="292608" y="658368"/>
            <a:ext cx="8558784" cy="475488"/>
          </a:xfrm>
          <a:prstGeom prst="rect">
            <a:avLst/>
          </a:prstGeom>
          <a:solidFill>
            <a:srgbClr val="E6F3E6"/>
          </a:solidFill>
          <a:ln w="25400">
            <a:solidFill>
              <a:srgbClr val="107C10"/>
            </a:solidFill>
            <a:prstDash val="solid"/>
          </a:ln>
        </p:spPr>
      </p:sp>
      <p:sp>
        <p:nvSpPr>
          <p:cNvPr id="7" name="Text 5"/>
          <p:cNvSpPr/>
          <p:nvPr/>
        </p:nvSpPr>
        <p:spPr>
          <a:xfrm>
            <a:off x="420624" y="658368"/>
            <a:ext cx="8321040" cy="475488"/>
          </a:xfrm>
          <a:prstGeom prst="rect">
            <a:avLst/>
          </a:prstGeom>
          <a:noFill/>
          <a:ln/>
        </p:spPr>
        <p:txBody>
          <a:bodyPr wrap="square" rtlCol="0" anchor="ctr"/>
          <a:lstStyle/>
          <a:p>
            <a:pPr indent="0" marL="0">
              <a:buNone/>
            </a:pPr>
            <a:r>
              <a:rPr lang="en-US" sz="1300" b="1" dirty="0">
                <a:solidFill>
                  <a:srgbClr val="107C10"/>
                </a:solidFill>
              </a:rPr>
              <a:t>✔  Correct: B — Assign a Managed Identity to the Azure Function and grant it RBAC access to the Storage Account</a:t>
            </a:r>
            <a:endParaRPr lang="en-US" sz="1300" dirty="0"/>
          </a:p>
        </p:txBody>
      </p:sp>
      <p:sp>
        <p:nvSpPr>
          <p:cNvPr id="8" name="Text 6"/>
          <p:cNvSpPr/>
          <p:nvPr/>
        </p:nvSpPr>
        <p:spPr>
          <a:xfrm>
            <a:off x="292608" y="1216152"/>
            <a:ext cx="8558784" cy="292608"/>
          </a:xfrm>
          <a:prstGeom prst="rect">
            <a:avLst/>
          </a:prstGeom>
          <a:noFill/>
          <a:ln/>
        </p:spPr>
        <p:txBody>
          <a:bodyPr wrap="square" rtlCol="0" anchor="ctr"/>
          <a:lstStyle/>
          <a:p>
            <a:pPr indent="0" marL="0">
              <a:buNone/>
            </a:pPr>
            <a:r>
              <a:rPr lang="en-US" sz="1200" b="1" dirty="0">
                <a:solidFill>
                  <a:srgbClr val="0A1628"/>
                </a:solidFill>
              </a:rPr>
              <a:t>Why this is correct</a:t>
            </a:r>
            <a:endParaRPr lang="en-US" sz="1200" dirty="0"/>
          </a:p>
        </p:txBody>
      </p:sp>
      <p:sp>
        <p:nvSpPr>
          <p:cNvPr id="9" name="Shape 7"/>
          <p:cNvSpPr/>
          <p:nvPr/>
        </p:nvSpPr>
        <p:spPr>
          <a:xfrm>
            <a:off x="292608" y="1517904"/>
            <a:ext cx="8558784" cy="1097280"/>
          </a:xfrm>
          <a:prstGeom prst="rect">
            <a:avLst/>
          </a:prstGeom>
          <a:solidFill>
            <a:srgbClr val="FFFFFF"/>
          </a:solidFill>
          <a:ln w="12700">
            <a:solidFill>
              <a:srgbClr val="C5D8EE"/>
            </a:solidFill>
            <a:prstDash val="solid"/>
          </a:ln>
        </p:spPr>
      </p:sp>
      <p:sp>
        <p:nvSpPr>
          <p:cNvPr id="10" name="Text 8"/>
          <p:cNvSpPr/>
          <p:nvPr/>
        </p:nvSpPr>
        <p:spPr>
          <a:xfrm>
            <a:off x="420624" y="1563624"/>
            <a:ext cx="8321040" cy="1005840"/>
          </a:xfrm>
          <a:prstGeom prst="rect">
            <a:avLst/>
          </a:prstGeom>
          <a:noFill/>
          <a:ln/>
        </p:spPr>
        <p:txBody>
          <a:bodyPr wrap="square" rtlCol="0" anchor="t"/>
          <a:lstStyle/>
          <a:p>
            <a:pPr indent="0" marL="0">
              <a:buNone/>
            </a:pPr>
            <a:r>
              <a:rPr lang="en-US" sz="1150" dirty="0">
                <a:solidFill>
                  <a:srgbClr val="1B2A3B"/>
                </a:solidFill>
              </a:rPr>
              <a:t>A Managed Identity is an Azure AD identity automatically managed by Azure for a resource (like an Azure Function). It eliminates the need for any credentials in code. You assign the identity the Storage Blob Data Reader role on the storage account, and the function obtains tokens automatically via the Azure Instance Metadata Service. No keys, no secrets, no rotation needed. Key Vault is an improvement but still requires code to fetch secrets.</a:t>
            </a:r>
            <a:endParaRPr lang="en-US" sz="1150" dirty="0"/>
          </a:p>
        </p:txBody>
      </p:sp>
      <p:sp>
        <p:nvSpPr>
          <p:cNvPr id="11" name="Text 9"/>
          <p:cNvSpPr/>
          <p:nvPr/>
        </p:nvSpPr>
        <p:spPr>
          <a:xfrm>
            <a:off x="292608" y="2697480"/>
            <a:ext cx="8558784" cy="292608"/>
          </a:xfrm>
          <a:prstGeom prst="rect">
            <a:avLst/>
          </a:prstGeom>
          <a:noFill/>
          <a:ln/>
        </p:spPr>
        <p:txBody>
          <a:bodyPr wrap="square" rtlCol="0" anchor="ctr"/>
          <a:lstStyle/>
          <a:p>
            <a:pPr indent="0" marL="0">
              <a:buNone/>
            </a:pPr>
            <a:r>
              <a:rPr lang="en-US" sz="1200" b="1" dirty="0">
                <a:solidFill>
                  <a:srgbClr val="0A1628"/>
                </a:solidFill>
              </a:rPr>
              <a:t>Why the other options are incorrect</a:t>
            </a:r>
            <a:endParaRPr lang="en-US" sz="1200" dirty="0"/>
          </a:p>
        </p:txBody>
      </p:sp>
      <p:sp>
        <p:nvSpPr>
          <p:cNvPr id="12" name="Shape 10"/>
          <p:cNvSpPr/>
          <p:nvPr/>
        </p:nvSpPr>
        <p:spPr>
          <a:xfrm>
            <a:off x="292608" y="3035808"/>
            <a:ext cx="8558784" cy="603504"/>
          </a:xfrm>
          <a:prstGeom prst="rect">
            <a:avLst/>
          </a:prstGeom>
          <a:solidFill>
            <a:srgbClr val="FAEAEA"/>
          </a:solidFill>
          <a:ln w="12700">
            <a:solidFill>
              <a:srgbClr val="F4AAAA"/>
            </a:solidFill>
            <a:prstDash val="solid"/>
          </a:ln>
        </p:spPr>
      </p:sp>
      <p:sp>
        <p:nvSpPr>
          <p:cNvPr id="13" name="Shape 11"/>
          <p:cNvSpPr/>
          <p:nvPr/>
        </p:nvSpPr>
        <p:spPr>
          <a:xfrm>
            <a:off x="384048" y="3172968"/>
            <a:ext cx="301752" cy="301752"/>
          </a:xfrm>
          <a:prstGeom prst="ellipse">
            <a:avLst/>
          </a:prstGeom>
          <a:solidFill>
            <a:srgbClr val="A80000"/>
          </a:solidFill>
          <a:ln w="12700">
            <a:solidFill>
              <a:srgbClr val="A80000"/>
            </a:solidFill>
            <a:prstDash val="solid"/>
          </a:ln>
        </p:spPr>
      </p:sp>
      <p:sp>
        <p:nvSpPr>
          <p:cNvPr id="14" name="Text 12"/>
          <p:cNvSpPr/>
          <p:nvPr/>
        </p:nvSpPr>
        <p:spPr>
          <a:xfrm>
            <a:off x="384048" y="3172968"/>
            <a:ext cx="301752" cy="301752"/>
          </a:xfrm>
          <a:prstGeom prst="rect">
            <a:avLst/>
          </a:prstGeom>
          <a:noFill/>
          <a:ln/>
        </p:spPr>
        <p:txBody>
          <a:bodyPr wrap="square" rtlCol="0" anchor="ctr"/>
          <a:lstStyle/>
          <a:p>
            <a:pPr algn="ctr" indent="0" marL="0">
              <a:buNone/>
            </a:pPr>
            <a:r>
              <a:rPr lang="en-US" sz="1100" b="1" dirty="0">
                <a:solidFill>
                  <a:srgbClr val="FFFFFF"/>
                </a:solidFill>
              </a:rPr>
              <a:t>A</a:t>
            </a:r>
            <a:endParaRPr lang="en-US" sz="1100" dirty="0"/>
          </a:p>
        </p:txBody>
      </p:sp>
      <p:sp>
        <p:nvSpPr>
          <p:cNvPr id="15" name="Text 13"/>
          <p:cNvSpPr/>
          <p:nvPr/>
        </p:nvSpPr>
        <p:spPr>
          <a:xfrm>
            <a:off x="768096" y="3090672"/>
            <a:ext cx="8010144" cy="493776"/>
          </a:xfrm>
          <a:prstGeom prst="rect">
            <a:avLst/>
          </a:prstGeom>
          <a:noFill/>
          <a:ln/>
        </p:spPr>
        <p:txBody>
          <a:bodyPr wrap="square" rtlCol="0" anchor="ctr"/>
          <a:lstStyle/>
          <a:p>
            <a:pPr indent="0" marL="0">
              <a:buNone/>
            </a:pPr>
            <a:r>
              <a:rPr lang="en-US" sz="1150" dirty="0">
                <a:solidFill>
                  <a:srgbClr val="1B2A3B"/>
                </a:solidFill>
              </a:rPr>
              <a:t>Storing credentials in Key Vault is better than hard-coding, but still requires the function to authenticate to Key Vault — Managed Identity solves this entirely without any credential.</a:t>
            </a:r>
            <a:endParaRPr lang="en-US" sz="1150" dirty="0"/>
          </a:p>
        </p:txBody>
      </p:sp>
      <p:sp>
        <p:nvSpPr>
          <p:cNvPr id="16" name="Shape 14"/>
          <p:cNvSpPr/>
          <p:nvPr/>
        </p:nvSpPr>
        <p:spPr>
          <a:xfrm>
            <a:off x="292608" y="3712464"/>
            <a:ext cx="8558784" cy="603504"/>
          </a:xfrm>
          <a:prstGeom prst="rect">
            <a:avLst/>
          </a:prstGeom>
          <a:solidFill>
            <a:srgbClr val="FAEAEA"/>
          </a:solidFill>
          <a:ln w="12700">
            <a:solidFill>
              <a:srgbClr val="F4AAAA"/>
            </a:solidFill>
            <a:prstDash val="solid"/>
          </a:ln>
        </p:spPr>
      </p:sp>
      <p:sp>
        <p:nvSpPr>
          <p:cNvPr id="17" name="Shape 15"/>
          <p:cNvSpPr/>
          <p:nvPr/>
        </p:nvSpPr>
        <p:spPr>
          <a:xfrm>
            <a:off x="384048" y="3849624"/>
            <a:ext cx="301752" cy="301752"/>
          </a:xfrm>
          <a:prstGeom prst="ellipse">
            <a:avLst/>
          </a:prstGeom>
          <a:solidFill>
            <a:srgbClr val="A80000"/>
          </a:solidFill>
          <a:ln w="12700">
            <a:solidFill>
              <a:srgbClr val="A80000"/>
            </a:solidFill>
            <a:prstDash val="solid"/>
          </a:ln>
        </p:spPr>
      </p:sp>
      <p:sp>
        <p:nvSpPr>
          <p:cNvPr id="18" name="Text 16"/>
          <p:cNvSpPr/>
          <p:nvPr/>
        </p:nvSpPr>
        <p:spPr>
          <a:xfrm>
            <a:off x="384048" y="3849624"/>
            <a:ext cx="301752" cy="301752"/>
          </a:xfrm>
          <a:prstGeom prst="rect">
            <a:avLst/>
          </a:prstGeom>
          <a:noFill/>
          <a:ln/>
        </p:spPr>
        <p:txBody>
          <a:bodyPr wrap="square" rtlCol="0" anchor="ctr"/>
          <a:lstStyle/>
          <a:p>
            <a:pPr algn="ctr" indent="0" marL="0">
              <a:buNone/>
            </a:pPr>
            <a:r>
              <a:rPr lang="en-US" sz="1100" b="1" dirty="0">
                <a:solidFill>
                  <a:srgbClr val="FFFFFF"/>
                </a:solidFill>
              </a:rPr>
              <a:t>C</a:t>
            </a:r>
            <a:endParaRPr lang="en-US" sz="1100" dirty="0"/>
          </a:p>
        </p:txBody>
      </p:sp>
      <p:sp>
        <p:nvSpPr>
          <p:cNvPr id="19" name="Text 17"/>
          <p:cNvSpPr/>
          <p:nvPr/>
        </p:nvSpPr>
        <p:spPr>
          <a:xfrm>
            <a:off x="768096" y="3767328"/>
            <a:ext cx="8010144" cy="493776"/>
          </a:xfrm>
          <a:prstGeom prst="rect">
            <a:avLst/>
          </a:prstGeom>
          <a:noFill/>
          <a:ln/>
        </p:spPr>
        <p:txBody>
          <a:bodyPr wrap="square" rtlCol="0" anchor="ctr"/>
          <a:lstStyle/>
          <a:p>
            <a:pPr indent="0" marL="0">
              <a:buNone/>
            </a:pPr>
            <a:r>
              <a:rPr lang="en-US" sz="1150" dirty="0">
                <a:solidFill>
                  <a:srgbClr val="1B2A3B"/>
                </a:solidFill>
              </a:rPr>
              <a:t>Rotating keys every 30 days reduces the exposure window but does not eliminate the fundamental risk of credentials in code.</a:t>
            </a:r>
            <a:endParaRPr lang="en-US" sz="1150" dirty="0"/>
          </a:p>
        </p:txBody>
      </p:sp>
      <p:sp>
        <p:nvSpPr>
          <p:cNvPr id="20" name="Shape 18"/>
          <p:cNvSpPr/>
          <p:nvPr/>
        </p:nvSpPr>
        <p:spPr>
          <a:xfrm>
            <a:off x="292608" y="4389120"/>
            <a:ext cx="8558784" cy="603504"/>
          </a:xfrm>
          <a:prstGeom prst="rect">
            <a:avLst/>
          </a:prstGeom>
          <a:solidFill>
            <a:srgbClr val="FAEAEA"/>
          </a:solidFill>
          <a:ln w="12700">
            <a:solidFill>
              <a:srgbClr val="F4AAAA"/>
            </a:solidFill>
            <a:prstDash val="solid"/>
          </a:ln>
        </p:spPr>
      </p:sp>
      <p:sp>
        <p:nvSpPr>
          <p:cNvPr id="21" name="Shape 19"/>
          <p:cNvSpPr/>
          <p:nvPr/>
        </p:nvSpPr>
        <p:spPr>
          <a:xfrm>
            <a:off x="384048" y="4526280"/>
            <a:ext cx="301752" cy="301752"/>
          </a:xfrm>
          <a:prstGeom prst="ellipse">
            <a:avLst/>
          </a:prstGeom>
          <a:solidFill>
            <a:srgbClr val="A80000"/>
          </a:solidFill>
          <a:ln w="12700">
            <a:solidFill>
              <a:srgbClr val="A80000"/>
            </a:solidFill>
            <a:prstDash val="solid"/>
          </a:ln>
        </p:spPr>
      </p:sp>
      <p:sp>
        <p:nvSpPr>
          <p:cNvPr id="22" name="Text 20"/>
          <p:cNvSpPr/>
          <p:nvPr/>
        </p:nvSpPr>
        <p:spPr>
          <a:xfrm>
            <a:off x="384048" y="4526280"/>
            <a:ext cx="301752" cy="301752"/>
          </a:xfrm>
          <a:prstGeom prst="rect">
            <a:avLst/>
          </a:prstGeom>
          <a:noFill/>
          <a:ln/>
        </p:spPr>
        <p:txBody>
          <a:bodyPr wrap="square" rtlCol="0" anchor="ctr"/>
          <a:lstStyle/>
          <a:p>
            <a:pPr algn="ctr" indent="0" marL="0">
              <a:buNone/>
            </a:pPr>
            <a:r>
              <a:rPr lang="en-US" sz="1100" b="1" dirty="0">
                <a:solidFill>
                  <a:srgbClr val="FFFFFF"/>
                </a:solidFill>
              </a:rPr>
              <a:t>D</a:t>
            </a:r>
            <a:endParaRPr lang="en-US" sz="1100" dirty="0"/>
          </a:p>
        </p:txBody>
      </p:sp>
      <p:sp>
        <p:nvSpPr>
          <p:cNvPr id="23" name="Text 21"/>
          <p:cNvSpPr/>
          <p:nvPr/>
        </p:nvSpPr>
        <p:spPr>
          <a:xfrm>
            <a:off x="768096" y="4443984"/>
            <a:ext cx="8010144" cy="493776"/>
          </a:xfrm>
          <a:prstGeom prst="rect">
            <a:avLst/>
          </a:prstGeom>
          <a:noFill/>
          <a:ln/>
        </p:spPr>
        <p:txBody>
          <a:bodyPr wrap="square" rtlCol="0" anchor="ctr"/>
          <a:lstStyle/>
          <a:p>
            <a:pPr indent="0" marL="0">
              <a:buNone/>
            </a:pPr>
            <a:r>
              <a:rPr lang="en-US" sz="1150" dirty="0">
                <a:solidFill>
                  <a:srgbClr val="1B2A3B"/>
                </a:solidFill>
              </a:rPr>
              <a:t>A Service Principal with a certificate is better than a password but still requires certificate management and storage — Managed Identities are zero-credential by design.</a:t>
            </a:r>
            <a:endParaRPr lang="en-US" sz="11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41</Slides>
  <Notes>41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41</vt:i4>
      </vt:variant>
    </vt:vector>
  </HeadingPairs>
  <TitlesOfParts>
    <vt:vector size="4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AZ-104 Session 1 - 20 MCQs</dc:title>
  <dc:subject>PptxGenJS Presentation</dc:subject>
  <dc:creator>PptxGenJS</dc:creator>
  <cp:lastModifiedBy>PptxGenJS</cp:lastModifiedBy>
  <cp:revision>1</cp:revision>
  <dcterms:created xsi:type="dcterms:W3CDTF">2026-03-15T05:36:17Z</dcterms:created>
  <dcterms:modified xsi:type="dcterms:W3CDTF">2026-03-15T05:36:17Z</dcterms:modified>
</cp:coreProperties>
</file>